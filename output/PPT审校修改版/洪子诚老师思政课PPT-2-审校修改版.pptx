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70" r:id="rId6"/>
    <p:sldId id="262" r:id="rId7"/>
    <p:sldId id="261" r:id="rId8"/>
    <p:sldId id="263" r:id="rId9"/>
    <p:sldId id="266" r:id="rId10"/>
    <p:sldId id="271" r:id="rId11"/>
    <p:sldId id="273" r:id="rId12"/>
    <p:sldId id="265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4"/>
    <p:restoredTop sz="94599"/>
  </p:normalViewPr>
  <p:slideViewPr>
    <p:cSldViewPr snapToGrid="0" snapToObjects="1">
      <p:cViewPr varScale="1">
        <p:scale>
          <a:sx n="84" d="100"/>
          <a:sy n="84" d="100"/>
        </p:scale>
        <p:origin x="20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0EA7D-44BF-1746-98A5-C8E60A475793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604C09-BA4E-8449-B368-4F7FE6D95A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6666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604C09-BA4E-8449-B368-4F7FE6D95A12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7662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【AI审校修改】</a:t>
            </a:r>
          </a:p>
          <a:p>
            <a:r>
              <a:t>原文：《克雷诺夫寓言》</a:t>
            </a:r>
          </a:p>
          <a:p>
            <a:r>
              <a:t>修改：《克雷洛夫寓言》</a:t>
            </a:r>
          </a:p>
          <a:p>
            <a:r>
              <a:t>原因：俄语姓氏Крылов（Krylov）标准中译为“克雷洛夫”，而非“克雷诺夫”</a:t>
            </a:r>
          </a:p>
          <a:p>
            <a:r>
              <a:t>类型：人名修正</a:t>
            </a:r>
          </a:p>
          <a:p/>
          <a:p>
            <a:r>
              <a:t>---</a:t>
            </a:r>
          </a:p>
          <a:p>
            <a:r>
              <a:t>【AI审校修改】</a:t>
            </a:r>
          </a:p>
          <a:p>
            <a:r>
              <a:t>原文：入选3种的普希金、果戈理和托尔斯泰。</a:t>
            </a:r>
          </a:p>
          <a:p>
            <a:r>
              <a:t>修改：各有3种作品入选的是普希金、果戈理和托尔斯泰。</a:t>
            </a:r>
          </a:p>
          <a:p>
            <a:r>
              <a:t>原因：调整句式使表达更通顺</a:t>
            </a:r>
          </a:p>
          <a:p>
            <a:r>
              <a:t>类型：语言优化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【AI审校修改】</a:t>
            </a:r>
          </a:p>
          <a:p>
            <a:r>
              <a:t>原文：热内尔·菲利普</a:t>
            </a:r>
          </a:p>
          <a:p>
            <a:r>
              <a:t>修改：热拉尔·菲利普</a:t>
            </a:r>
          </a:p>
          <a:p>
            <a:r>
              <a:t>原因：法国演员Gérard Philipe标准中译名为“热拉尔·菲利普”</a:t>
            </a:r>
          </a:p>
          <a:p>
            <a:r>
              <a:t>类型：人名修正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【AI审校修改】</a:t>
            </a:r>
          </a:p>
          <a:p>
            <a:r>
              <a:t>原文：（百般顺从的温柔“）</a:t>
            </a:r>
          </a:p>
          <a:p>
            <a:r>
              <a:t>修改：（“百般顺从的温柔”）</a:t>
            </a:r>
          </a:p>
          <a:p>
            <a:r>
              <a:t>原因：补充缺失的左引号，保持引号配对一致</a:t>
            </a:r>
          </a:p>
          <a:p>
            <a:r>
              <a:t>类型：标点修正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611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031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2235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1933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8735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83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94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775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5584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084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70558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7579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555480" cy="2387600"/>
          </a:xfrm>
        </p:spPr>
        <p:txBody>
          <a:bodyPr/>
          <a:lstStyle/>
          <a:p>
            <a:r>
              <a:rPr lang="zh-CN" altLang="en-US" smtClean="0"/>
              <a:t>中国当代文学中的世界文学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257358"/>
            <a:ext cx="9144000" cy="1655762"/>
          </a:xfrm>
        </p:spPr>
        <p:txBody>
          <a:bodyPr/>
          <a:lstStyle/>
          <a:p>
            <a:r>
              <a:rPr kumimoji="1" lang="zh-CN" altLang="en-US" dirty="0" smtClean="0"/>
              <a:t>洪子诚</a:t>
            </a:r>
            <a:endParaRPr kumimoji="1" lang="en-US" altLang="zh-CN" dirty="0" smtClean="0"/>
          </a:p>
          <a:p>
            <a:r>
              <a:rPr kumimoji="1" lang="zh-CN" altLang="en-US" dirty="0" smtClean="0"/>
              <a:t>北京大学中文系教授</a:t>
            </a:r>
            <a:endParaRPr kumimoji="1" lang="en-US" altLang="zh-CN" dirty="0" smtClean="0"/>
          </a:p>
          <a:p>
            <a:r>
              <a:rPr lang="en-US" altLang="zh-CN" dirty="0"/>
              <a:t>2021</a:t>
            </a:r>
            <a:r>
              <a:rPr lang="zh-CN" altLang="en-US" dirty="0"/>
              <a:t>年</a:t>
            </a:r>
            <a:r>
              <a:rPr lang="en-US" altLang="zh-CN" dirty="0"/>
              <a:t>11</a:t>
            </a:r>
            <a:r>
              <a:rPr lang="zh-CN" altLang="en-US" dirty="0"/>
              <a:t>月</a:t>
            </a:r>
            <a:r>
              <a:rPr lang="en-US" altLang="zh-CN" dirty="0"/>
              <a:t>3</a:t>
            </a:r>
            <a:r>
              <a:rPr lang="zh-CN" altLang="en-US" dirty="0"/>
              <a:t>日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407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1040" y="1033144"/>
            <a:ext cx="10515600" cy="6144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600" dirty="0"/>
              <a:t>《文艺工作者学习政治理论和古典文学的参考书目》。</a:t>
            </a:r>
            <a:r>
              <a:rPr lang="en-US" altLang="zh-CN" sz="2600" dirty="0"/>
              <a:t>1954</a:t>
            </a:r>
            <a:r>
              <a:rPr lang="zh-CN" altLang="zh-CN" sz="2600" dirty="0"/>
              <a:t>年</a:t>
            </a:r>
            <a:r>
              <a:rPr lang="en-US" altLang="zh-CN" sz="2600" dirty="0"/>
              <a:t>7</a:t>
            </a:r>
            <a:r>
              <a:rPr lang="zh-CN" altLang="zh-CN" sz="2600" dirty="0"/>
              <a:t>月</a:t>
            </a:r>
            <a:r>
              <a:rPr lang="en-US" altLang="zh-CN" sz="2600" dirty="0"/>
              <a:t>17</a:t>
            </a:r>
            <a:r>
              <a:rPr lang="zh-CN" altLang="zh-CN" sz="2600" dirty="0"/>
              <a:t>日中国作协主席团第</a:t>
            </a:r>
            <a:r>
              <a:rPr lang="en-US" altLang="zh-CN" sz="2600" dirty="0"/>
              <a:t>7</a:t>
            </a:r>
            <a:r>
              <a:rPr lang="zh-CN" altLang="zh-CN" sz="2600" dirty="0"/>
              <a:t>次会议讨论通过。刊于《文艺学习》</a:t>
            </a:r>
            <a:r>
              <a:rPr lang="en-US" altLang="zh-CN" sz="2600" dirty="0"/>
              <a:t>1954</a:t>
            </a:r>
            <a:r>
              <a:rPr lang="zh-CN" altLang="zh-CN" sz="2600" dirty="0"/>
              <a:t>年第</a:t>
            </a:r>
            <a:r>
              <a:rPr lang="en-US" altLang="zh-CN" sz="2600" dirty="0"/>
              <a:t>5</a:t>
            </a:r>
            <a:r>
              <a:rPr lang="zh-CN" altLang="zh-CN" sz="2600" dirty="0"/>
              <a:t>期。书单分为</a:t>
            </a:r>
            <a:r>
              <a:rPr lang="zh-CN" altLang="zh-CN" sz="2600" dirty="0" smtClean="0"/>
              <a:t>：</a:t>
            </a:r>
            <a:endParaRPr lang="zh-CN" altLang="zh-CN" sz="2600" dirty="0"/>
          </a:p>
          <a:p>
            <a:r>
              <a:rPr lang="zh-CN" altLang="zh-CN" sz="2600" dirty="0" smtClean="0"/>
              <a:t>理论</a:t>
            </a:r>
            <a:r>
              <a:rPr lang="zh-CN" altLang="zh-CN" sz="2600" dirty="0"/>
              <a:t>著作：</a:t>
            </a:r>
            <a:r>
              <a:rPr lang="en-US" altLang="zh-CN" sz="2600" dirty="0"/>
              <a:t>23</a:t>
            </a:r>
            <a:r>
              <a:rPr lang="zh-CN" altLang="zh-CN" sz="2600" dirty="0"/>
              <a:t>种。马、恩著作</a:t>
            </a:r>
            <a:r>
              <a:rPr lang="en-US" altLang="zh-CN" sz="2600" dirty="0"/>
              <a:t>3</a:t>
            </a:r>
            <a:r>
              <a:rPr lang="zh-CN" altLang="zh-CN" sz="2600" dirty="0"/>
              <a:t>种，列宁</a:t>
            </a:r>
            <a:r>
              <a:rPr lang="en-US" altLang="zh-CN" sz="2600" dirty="0"/>
              <a:t>4</a:t>
            </a:r>
            <a:r>
              <a:rPr lang="zh-CN" altLang="zh-CN" sz="2600" dirty="0"/>
              <a:t>种，普列汉诺夫</a:t>
            </a:r>
            <a:r>
              <a:rPr lang="en-US" altLang="zh-CN" sz="2600" dirty="0"/>
              <a:t>1</a:t>
            </a:r>
            <a:r>
              <a:rPr lang="zh-CN" altLang="zh-CN" sz="2600" dirty="0"/>
              <a:t>种，斯大林</a:t>
            </a:r>
            <a:r>
              <a:rPr lang="en-US" altLang="zh-CN" sz="2600" dirty="0"/>
              <a:t>6</a:t>
            </a:r>
            <a:r>
              <a:rPr lang="zh-CN" altLang="zh-CN" sz="2600" dirty="0"/>
              <a:t>种，毛泽东</a:t>
            </a:r>
            <a:r>
              <a:rPr lang="en-US" altLang="zh-CN" sz="2600" dirty="0"/>
              <a:t>5</a:t>
            </a:r>
            <a:r>
              <a:rPr lang="zh-CN" altLang="zh-CN" sz="2600" dirty="0"/>
              <a:t>种。当时苏联领导人日丹诺夫、马林科夫的著作，和《苏联共产党（布）历史简明教程》。</a:t>
            </a:r>
          </a:p>
          <a:p>
            <a:r>
              <a:rPr lang="zh-CN" altLang="zh-CN" sz="2600" dirty="0" smtClean="0"/>
              <a:t>文学</a:t>
            </a:r>
            <a:r>
              <a:rPr lang="zh-CN" altLang="zh-CN" sz="2600" dirty="0"/>
              <a:t>名著：</a:t>
            </a:r>
          </a:p>
          <a:p>
            <a:pPr marL="0" indent="0">
              <a:buNone/>
            </a:pPr>
            <a:r>
              <a:rPr lang="en-US" altLang="zh-CN" sz="2600" dirty="0"/>
              <a:t>     </a:t>
            </a:r>
            <a:r>
              <a:rPr lang="en-US" altLang="zh-CN" sz="2600" dirty="0" smtClean="0"/>
              <a:t>1</a:t>
            </a:r>
            <a:r>
              <a:rPr lang="zh-CN" altLang="zh-CN" sz="2600" dirty="0"/>
              <a:t>，</a:t>
            </a:r>
            <a:r>
              <a:rPr lang="zh-CN" altLang="zh-CN" sz="2600" b="1" dirty="0"/>
              <a:t>中国</a:t>
            </a:r>
            <a:r>
              <a:rPr lang="zh-CN" altLang="zh-CN" sz="2600" dirty="0"/>
              <a:t>。《诗经》、《论语》到《聊斋志异》</a:t>
            </a:r>
            <a:r>
              <a:rPr lang="en-US" altLang="zh-CN" sz="2600" dirty="0"/>
              <a:t>33</a:t>
            </a:r>
            <a:r>
              <a:rPr lang="zh-CN" altLang="zh-CN" sz="2600" dirty="0"/>
              <a:t>种，另有鲁迅</a:t>
            </a:r>
            <a:r>
              <a:rPr lang="en-US" altLang="zh-CN" sz="2600" dirty="0"/>
              <a:t>3</a:t>
            </a:r>
            <a:r>
              <a:rPr lang="zh-CN" altLang="zh-CN" sz="2600" dirty="0"/>
              <a:t>种。</a:t>
            </a:r>
          </a:p>
          <a:p>
            <a:pPr marL="0" indent="0">
              <a:buNone/>
            </a:pPr>
            <a:r>
              <a:rPr lang="en-US" altLang="zh-CN" sz="2600" dirty="0"/>
              <a:t>     2，俄国、苏联。《克雷洛夫寓言》、普希金到契诃夫的《樱桃园》25种。各有3种作品入选的是普希金、果戈理和托尔斯泰。苏联部分高尔基的7种，马雅可夫斯基2种。没有陀思妥耶夫斯基。</a:t>
            </a:r>
            <a:r>
              <a:rPr lang="zh-CN" altLang="zh-CN" sz="2600" dirty="0"/>
              <a:t/>
            </a:r>
            <a:r>
              <a:rPr lang="zh-CN" altLang="zh-CN" sz="2600" b="1" dirty="0"/>
              <a:t/>
            </a:r>
            <a:r>
              <a:rPr lang="zh-CN" altLang="zh-CN" sz="2600" dirty="0"/>
              <a:t/>
            </a:r>
            <a:r>
              <a:rPr lang="en-US" altLang="zh-CN" sz="2600" dirty="0"/>
              <a:t/>
            </a:r>
            <a:r>
              <a:rPr lang="zh-CN" altLang="zh-CN" sz="2600" dirty="0"/>
              <a:t/>
            </a:r>
            <a:r>
              <a:rPr lang="en-US" altLang="zh-CN" sz="2600" dirty="0"/>
              <a:t/>
            </a:r>
            <a:r>
              <a:rPr lang="zh-CN" altLang="zh-CN" sz="2600" dirty="0"/>
              <a:t/>
            </a:r>
            <a:r>
              <a:rPr lang="en-US" altLang="zh-CN" sz="2600" dirty="0"/>
              <a:t/>
            </a:r>
            <a:r>
              <a:rPr lang="zh-CN" altLang="zh-CN" sz="2600" dirty="0"/>
              <a:t/>
            </a:r>
            <a:r>
              <a:rPr lang="en-US" altLang="zh-CN" sz="2600" dirty="0"/>
              <a:t/>
            </a:r>
            <a:r>
              <a:rPr lang="zh-CN" altLang="zh-CN" sz="2600" dirty="0"/>
              <a:t/>
            </a:r>
          </a:p>
          <a:p>
            <a:pPr marL="0" indent="0">
              <a:buNone/>
            </a:pPr>
            <a:r>
              <a:rPr lang="en-US" altLang="zh-CN" sz="2600" dirty="0"/>
              <a:t>     3</a:t>
            </a:r>
            <a:r>
              <a:rPr lang="zh-CN" altLang="zh-CN" sz="2600" dirty="0"/>
              <a:t>，</a:t>
            </a:r>
            <a:r>
              <a:rPr lang="zh-CN" altLang="zh-CN" sz="2600" b="1" dirty="0"/>
              <a:t>其他各国</a:t>
            </a:r>
            <a:r>
              <a:rPr lang="zh-CN" altLang="zh-CN" sz="2600" dirty="0"/>
              <a:t>。荷马《伊利亚特》《奥德赛》到朝鲜《春香传》，</a:t>
            </a:r>
            <a:r>
              <a:rPr lang="en-US" altLang="zh-CN" sz="2600" dirty="0"/>
              <a:t>63</a:t>
            </a:r>
            <a:r>
              <a:rPr lang="zh-CN" altLang="zh-CN" sz="2600" dirty="0"/>
              <a:t>种</a:t>
            </a:r>
            <a:r>
              <a:rPr lang="zh-CN" altLang="zh-CN" sz="2600" dirty="0" smtClean="0"/>
              <a:t>。</a:t>
            </a:r>
            <a:endParaRPr lang="zh-CN" altLang="zh-CN" sz="2600" dirty="0"/>
          </a:p>
        </p:txBody>
      </p:sp>
    </p:spTree>
    <p:extLst>
      <p:ext uri="{BB962C8B-B14F-4D97-AF65-F5344CB8AC3E}">
        <p14:creationId xmlns:p14="http://schemas.microsoft.com/office/powerpoint/2010/main" val="16545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（一）“苏联化”和“去苏联化”；</a:t>
            </a:r>
            <a:endParaRPr lang="zh-CN" altLang="zh-CN" dirty="0"/>
          </a:p>
          <a:p>
            <a:r>
              <a:rPr lang="zh-CN" altLang="zh-CN" b="1" dirty="0"/>
              <a:t>（二）西方古典文学，欧洲 </a:t>
            </a:r>
            <a:r>
              <a:rPr lang="en-US" altLang="zh-CN" b="1" dirty="0"/>
              <a:t>19</a:t>
            </a:r>
            <a:r>
              <a:rPr lang="zh-CN" altLang="zh-CN" b="1" dirty="0"/>
              <a:t>世纪文学；</a:t>
            </a:r>
            <a:endParaRPr lang="zh-CN" altLang="zh-CN" dirty="0"/>
          </a:p>
          <a:p>
            <a:r>
              <a:rPr lang="zh-CN" altLang="zh-CN" b="1" dirty="0"/>
              <a:t>（三）</a:t>
            </a:r>
            <a:r>
              <a:rPr lang="en-US" altLang="zh-CN" b="1" dirty="0"/>
              <a:t>20</a:t>
            </a:r>
            <a:r>
              <a:rPr lang="zh-CN" altLang="zh-CN" b="1" dirty="0"/>
              <a:t>世纪西方现代文学，“现代派</a:t>
            </a:r>
            <a:endParaRPr lang="zh-CN" altLang="zh-CN" dirty="0"/>
          </a:p>
          <a:p>
            <a:r>
              <a:rPr lang="zh-CN" altLang="zh-CN" b="1" dirty="0"/>
              <a:t>（四）“中国经验”：当代文学“世界化”之路</a:t>
            </a:r>
            <a:r>
              <a:rPr lang="zh-CN" altLang="zh-CN" dirty="0"/>
              <a:t>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135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2694305"/>
            <a:ext cx="5181600" cy="4351338"/>
          </a:xfrm>
        </p:spPr>
        <p:txBody>
          <a:bodyPr/>
          <a:lstStyle/>
          <a:p>
            <a:r>
              <a:rPr lang="zh-CN" altLang="zh-CN" dirty="0" smtClean="0"/>
              <a:t>贺桂梅《</a:t>
            </a:r>
            <a:r>
              <a:rPr lang="zh-CN" altLang="zh-CN" dirty="0"/>
              <a:t>书写“中国气派”：当代文学与民族形式建构》，北京大学出版社</a:t>
            </a:r>
            <a:r>
              <a:rPr lang="en-US" altLang="zh-CN" dirty="0"/>
              <a:t>2020</a:t>
            </a:r>
            <a:r>
              <a:rPr lang="zh-CN" altLang="zh-CN" dirty="0"/>
              <a:t>。</a:t>
            </a:r>
            <a:r>
              <a:rPr lang="zh-CN" altLang="zh-CN" dirty="0" smtClean="0">
                <a:effectLst/>
              </a:rPr>
              <a:t> 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54506"/>
            <a:ext cx="3451384" cy="516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10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0040" y="2099945"/>
            <a:ext cx="4023360" cy="4351338"/>
          </a:xfrm>
        </p:spPr>
        <p:txBody>
          <a:bodyPr/>
          <a:lstStyle/>
          <a:p>
            <a:r>
              <a:rPr lang="zh-CN" altLang="zh-CN" dirty="0" smtClean="0"/>
              <a:t>网格本 </a:t>
            </a:r>
            <a:r>
              <a:rPr lang="en-US" altLang="zh-CN" dirty="0" smtClean="0"/>
              <a:t>1958</a:t>
            </a:r>
            <a:r>
              <a:rPr lang="zh-CN" altLang="zh-CN" dirty="0" smtClean="0"/>
              <a:t>年开始出版，“外国古典文学名著丛书”，文学研究所外国文学研究室丛书编辑委员会编，人民文学出版社出版。</a:t>
            </a:r>
            <a:r>
              <a:rPr lang="en-US" altLang="zh-CN" dirty="0" smtClean="0"/>
              <a:t>80</a:t>
            </a:r>
            <a:r>
              <a:rPr lang="zh-CN" altLang="zh-CN" dirty="0" smtClean="0"/>
              <a:t>年代增加上海译文出版社。</a:t>
            </a:r>
            <a:r>
              <a:rPr lang="zh-CN" altLang="zh-CN" dirty="0" smtClean="0">
                <a:effectLst/>
              </a:rPr>
              <a:t> </a:t>
            </a:r>
            <a:endParaRPr kumimoji="1" lang="zh-CN" altLang="en-US" dirty="0" smtClean="0"/>
          </a:p>
          <a:p>
            <a:endParaRPr kumimoji="1" lang="zh-CN" altLang="en-US" dirty="0"/>
          </a:p>
        </p:txBody>
      </p:sp>
      <p:pic>
        <p:nvPicPr>
          <p:cNvPr id="5" name="图片 4" descr="C:\Users\hongz\Documents\63d9f2d3572c11dfa9ec81ef676c75d0f703908f64ee.jf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463041"/>
            <a:ext cx="3094354" cy="4329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C:\Users\hongz\Documents\s33760405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9754" y="1463041"/>
            <a:ext cx="3241040" cy="43297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48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50</a:t>
            </a:r>
            <a:r>
              <a:rPr lang="zh-CN" altLang="zh-CN" dirty="0"/>
              <a:t>年代司汤达《红与黑》</a:t>
            </a:r>
            <a:r>
              <a:rPr lang="zh-CN" altLang="zh-CN" dirty="0" smtClean="0"/>
              <a:t>讨论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80377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zh-CN" dirty="0"/>
              <a:t>中译本，</a:t>
            </a:r>
            <a:r>
              <a:rPr lang="en-US" altLang="zh-CN" dirty="0"/>
              <a:t>1944</a:t>
            </a:r>
            <a:r>
              <a:rPr lang="zh-CN" altLang="zh-CN" dirty="0"/>
              <a:t>年赵瑞蕻节译本，</a:t>
            </a:r>
            <a:r>
              <a:rPr lang="en-US" altLang="zh-CN" dirty="0"/>
              <a:t>1954</a:t>
            </a:r>
            <a:r>
              <a:rPr lang="zh-CN" altLang="zh-CN" dirty="0"/>
              <a:t>年罗玉君全译本。至</a:t>
            </a:r>
            <a:r>
              <a:rPr lang="en-US" altLang="zh-CN" dirty="0"/>
              <a:t>2011</a:t>
            </a:r>
            <a:r>
              <a:rPr lang="zh-CN" altLang="zh-CN" dirty="0"/>
              <a:t>年，中译版本共</a:t>
            </a:r>
            <a:r>
              <a:rPr lang="en-US" altLang="zh-CN" dirty="0"/>
              <a:t>27</a:t>
            </a:r>
            <a:r>
              <a:rPr lang="zh-CN" altLang="zh-CN" dirty="0"/>
              <a:t>种。其中，张冠尧、郝运、许渊冲等的译本较流行。</a:t>
            </a:r>
          </a:p>
          <a:p>
            <a:pPr>
              <a:lnSpc>
                <a:spcPct val="110000"/>
              </a:lnSpc>
            </a:pPr>
            <a:r>
              <a:rPr lang="zh-CN" altLang="zh-CN" dirty="0"/>
              <a:t>司汤达给巴尔扎克信：“死亡会让我们和他们调换角色，在生前，他们可以对我们为所作为，但只要一死，他们就将永远被人忘记”：自信的司汤达想的是另一场赌注：在</a:t>
            </a:r>
            <a:r>
              <a:rPr lang="en-US" altLang="zh-CN" dirty="0"/>
              <a:t>19</a:t>
            </a:r>
            <a:r>
              <a:rPr lang="zh-CN" altLang="zh-CN" dirty="0"/>
              <a:t>世纪“做一个被</a:t>
            </a:r>
            <a:r>
              <a:rPr lang="en-US" altLang="zh-CN" dirty="0"/>
              <a:t>1935</a:t>
            </a:r>
            <a:r>
              <a:rPr lang="zh-CN" altLang="zh-CN" dirty="0"/>
              <a:t>年的人阅读的作家”。</a:t>
            </a:r>
          </a:p>
          <a:p>
            <a:pPr>
              <a:lnSpc>
                <a:spcPct val="110000"/>
              </a:lnSpc>
            </a:pPr>
            <a:r>
              <a:rPr lang="zh-CN" altLang="zh-CN" dirty="0"/>
              <a:t>电影</a:t>
            </a:r>
            <a:r>
              <a:rPr lang="en-US" altLang="zh-CN" dirty="0"/>
              <a:t>1954</a:t>
            </a:r>
            <a:r>
              <a:rPr lang="zh-CN" altLang="zh-CN" dirty="0"/>
              <a:t>年版。意大利出品。于连：热拉尔·菲利普。</a:t>
            </a:r>
          </a:p>
          <a:p>
            <a:pPr>
              <a:lnSpc>
                <a:spcPct val="110000"/>
              </a:lnSpc>
            </a:pPr>
            <a:endParaRPr kumimoji="1" lang="zh-CN" altLang="en-US" dirty="0"/>
          </a:p>
        </p:txBody>
      </p:sp>
      <p:pic>
        <p:nvPicPr>
          <p:cNvPr id="5" name="内容占位符 4" descr="热拉尔·菲利普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650" y="2097564"/>
            <a:ext cx="2825750" cy="36174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9485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茅盾《夜读偶记——关于社会主义现实主义及其他》，原载《文艺报》</a:t>
            </a:r>
            <a:r>
              <a:rPr lang="en-US" altLang="zh-CN" dirty="0"/>
              <a:t>1958</a:t>
            </a:r>
            <a:r>
              <a:rPr lang="zh-CN" altLang="zh-CN" dirty="0"/>
              <a:t>年第</a:t>
            </a:r>
            <a:r>
              <a:rPr lang="en-US" altLang="zh-CN" dirty="0"/>
              <a:t>1</a:t>
            </a:r>
            <a:r>
              <a:rPr lang="zh-CN" altLang="zh-CN" dirty="0"/>
              <a:t>、</a:t>
            </a:r>
            <a:r>
              <a:rPr lang="en-US" altLang="zh-CN" dirty="0"/>
              <a:t>2</a:t>
            </a:r>
            <a:r>
              <a:rPr lang="zh-CN" altLang="zh-CN" dirty="0"/>
              <a:t>、</a:t>
            </a:r>
            <a:r>
              <a:rPr lang="en-US" altLang="zh-CN" dirty="0"/>
              <a:t>8</a:t>
            </a:r>
            <a:r>
              <a:rPr lang="zh-CN" altLang="zh-CN" dirty="0"/>
              <a:t>、</a:t>
            </a:r>
            <a:r>
              <a:rPr lang="en-US" altLang="zh-CN" dirty="0"/>
              <a:t>10</a:t>
            </a:r>
            <a:r>
              <a:rPr lang="zh-CN" altLang="zh-CN" dirty="0"/>
              <a:t>期。第四部分：古典主义和“现代派”。茅盾认为，“现代派”文艺，是资本主义发展到帝国主义阶段，危机深化时，对现实不满而对革命又害怕的小资产阶级知识分子绝望、狂乱的心态的反映。“他们被夹在越来越剧烈的阶级斗争的夹板里，感到自己没有前途，他们像火烧房子里的老鼠，昏头昏脑，盲目乱窜”。现代派在思想观念上是“非理性”，艺术形式是“抽象的形式主义”。</a:t>
            </a:r>
            <a:r>
              <a:rPr lang="zh-CN" altLang="zh-CN" dirty="0" smtClean="0">
                <a:effectLst/>
              </a:rPr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057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文学“苏联化”表现：</a:t>
            </a:r>
            <a:r>
              <a:rPr lang="zh-CN" altLang="zh-CN" dirty="0" smtClean="0">
                <a:effectLst/>
              </a:rPr>
              <a:t>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zh-CN" altLang="zh-CN" dirty="0" smtClean="0"/>
              <a:t>俄国</a:t>
            </a:r>
            <a:r>
              <a:rPr lang="zh-CN" altLang="zh-CN" dirty="0"/>
              <a:t>、苏联文学翻译出版</a:t>
            </a:r>
          </a:p>
          <a:p>
            <a:r>
              <a:rPr lang="zh-CN" altLang="zh-CN" dirty="0" smtClean="0"/>
              <a:t>文学</a:t>
            </a:r>
            <a:r>
              <a:rPr lang="zh-CN" altLang="zh-CN" dirty="0"/>
              <a:t>观念、理论的传播、应用</a:t>
            </a:r>
          </a:p>
          <a:p>
            <a:r>
              <a:rPr lang="zh-CN" altLang="zh-CN" dirty="0" smtClean="0"/>
              <a:t>文学</a:t>
            </a:r>
            <a:r>
              <a:rPr lang="zh-CN" altLang="zh-CN" dirty="0"/>
              <a:t>制度的借鉴</a:t>
            </a:r>
          </a:p>
          <a:p>
            <a:r>
              <a:rPr lang="zh-CN" altLang="zh-CN" dirty="0" smtClean="0"/>
              <a:t>艺术</a:t>
            </a:r>
            <a:r>
              <a:rPr lang="zh-CN" altLang="zh-CN" dirty="0"/>
              <a:t>形式和作家的影响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187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48640" y="1382236"/>
            <a:ext cx="4331336" cy="4351338"/>
          </a:xfrm>
        </p:spPr>
        <p:txBody>
          <a:bodyPr/>
          <a:lstStyle/>
          <a:p>
            <a:r>
              <a:rPr lang="zh-CN" altLang="zh-CN" dirty="0"/>
              <a:t>马雅可夫斯基（</a:t>
            </a:r>
            <a:r>
              <a:rPr lang="en-US" altLang="zh-CN" dirty="0"/>
              <a:t>1893—1930</a:t>
            </a:r>
            <a:r>
              <a:rPr lang="zh-CN" altLang="zh-CN" dirty="0"/>
              <a:t>），生于格鲁吉亚。</a:t>
            </a:r>
            <a:r>
              <a:rPr lang="en-US" altLang="zh-CN" dirty="0"/>
              <a:t>1912</a:t>
            </a:r>
            <a:r>
              <a:rPr lang="zh-CN" altLang="zh-CN" dirty="0"/>
              <a:t>年和布尔柳克等发布《未来主义宣言》，出版俄国未来派诗集《给社会趣味一记耳光》。主要作品有，长诗《穿裤子的云》、《一亿五千万》、《列宁》、《好！》等。戏剧《宗教滑稽剧》、《臭虫》、《澡堂》。 </a:t>
            </a:r>
            <a:endParaRPr kumimoji="1" lang="zh-CN" altLang="en-US" dirty="0"/>
          </a:p>
        </p:txBody>
      </p:sp>
      <p:pic>
        <p:nvPicPr>
          <p:cNvPr id="5" name="图片 4" descr="C:\Users\hongz\Documents\微信图片_20211024163831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742" y="254952"/>
            <a:ext cx="2781300" cy="3562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C:\Users\hongz\Documents\5879484a20a446236a54042c9122720e0df3d7b9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8888" y="254952"/>
            <a:ext cx="2804795" cy="3562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 descr="C:\Users\hongz\Documents\src=http___www.zgnfys.com_uploads_allimg_180720_1-1PH0101J5L6.jpg&amp;refer=http___www.zgnfys.jfif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5459" y="4272279"/>
            <a:ext cx="3308985" cy="2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 descr="C:\Users\hongz\Documents\微信图片_20211024163806.jpg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3398" y="4045585"/>
            <a:ext cx="2280285" cy="2812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345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时代的号角由我们通过语言艺术吹响。过去的东西太狭隘。学院和普希金比象形文字还难以理解。把普希金、陀思妥耶夫斯基、托尔斯泰等从现代的轮船上扔出去。只有</a:t>
            </a:r>
            <a:r>
              <a:rPr lang="zh-CN" altLang="zh-CN" b="1" dirty="0"/>
              <a:t>我们</a:t>
            </a:r>
            <a:r>
              <a:rPr lang="zh-CN" altLang="zh-CN" dirty="0"/>
              <a:t>才是</a:t>
            </a:r>
            <a:r>
              <a:rPr lang="zh-CN" altLang="zh-CN" b="1" dirty="0"/>
              <a:t>我们</a:t>
            </a:r>
            <a:r>
              <a:rPr lang="zh-CN" altLang="zh-CN" dirty="0"/>
              <a:t>时代的面貌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indent="0" algn="r">
              <a:buNone/>
            </a:pPr>
            <a:r>
              <a:rPr lang="zh-CN" altLang="zh-CN" dirty="0" smtClean="0"/>
              <a:t>——</a:t>
            </a:r>
            <a:r>
              <a:rPr lang="zh-CN" altLang="zh-CN" dirty="0"/>
              <a:t>《给社会趣味一记耳光》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191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2960" y="990600"/>
            <a:ext cx="4983480" cy="5867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000" dirty="0"/>
              <a:t>你们的思想</a:t>
            </a:r>
          </a:p>
          <a:p>
            <a:pPr marL="0" indent="0">
              <a:buNone/>
            </a:pPr>
            <a:r>
              <a:rPr lang="zh-CN" altLang="zh-CN" sz="2000" dirty="0" smtClean="0"/>
              <a:t>正</a:t>
            </a:r>
            <a:r>
              <a:rPr lang="zh-CN" altLang="zh-CN" sz="2000" dirty="0"/>
              <a:t>躺在软化的大脑上做着梦，</a:t>
            </a:r>
          </a:p>
          <a:p>
            <a:pPr marL="0" indent="0">
              <a:buNone/>
            </a:pPr>
            <a:r>
              <a:rPr lang="zh-CN" altLang="zh-CN" sz="2000" dirty="0" smtClean="0"/>
              <a:t>好</a:t>
            </a:r>
            <a:r>
              <a:rPr lang="zh-CN" altLang="zh-CN" sz="2000" dirty="0"/>
              <a:t>比油污的长沙发上长满膘的奴仆，</a:t>
            </a:r>
          </a:p>
          <a:p>
            <a:pPr marL="0" indent="0">
              <a:buNone/>
            </a:pPr>
            <a:r>
              <a:rPr lang="zh-CN" altLang="zh-CN" sz="2000" dirty="0" smtClean="0"/>
              <a:t>我</a:t>
            </a:r>
            <a:r>
              <a:rPr lang="zh-CN" altLang="zh-CN" sz="2000" dirty="0"/>
              <a:t>将用血淋淋心脏碎片之碰触来逗弄；</a:t>
            </a:r>
          </a:p>
          <a:p>
            <a:pPr marL="0" indent="0">
              <a:buNone/>
            </a:pPr>
            <a:r>
              <a:rPr lang="zh-CN" altLang="zh-CN" sz="2000" dirty="0"/>
              <a:t>粗鲁又苛刻，要尽情羞辱羞辱。</a:t>
            </a:r>
          </a:p>
          <a:p>
            <a:pPr marL="0" indent="0">
              <a:buNone/>
            </a:pPr>
            <a:r>
              <a:rPr lang="en-US" altLang="zh-CN" sz="2000" dirty="0"/>
              <a:t> </a:t>
            </a:r>
            <a:endParaRPr lang="zh-CN" altLang="zh-CN" sz="2000" dirty="0"/>
          </a:p>
          <a:p>
            <a:pPr marL="0" indent="0">
              <a:buNone/>
            </a:pPr>
            <a:r>
              <a:rPr lang="zh-CN" altLang="zh-CN" sz="2000" dirty="0"/>
              <a:t>我灵魂里没有一根头发是白的，</a:t>
            </a:r>
          </a:p>
          <a:p>
            <a:pPr marL="0" indent="0">
              <a:buNone/>
            </a:pPr>
            <a:r>
              <a:rPr lang="zh-CN" altLang="zh-CN" sz="2000" dirty="0"/>
              <a:t>里面老头儿的温情也乏匮！</a:t>
            </a:r>
          </a:p>
          <a:p>
            <a:pPr marL="0" indent="0">
              <a:buNone/>
            </a:pPr>
            <a:r>
              <a:rPr lang="zh-CN" altLang="zh-CN" sz="2000" dirty="0"/>
              <a:t>喉咙的伟力把世界震败了，（我以喉咙的力量撼动了世界）</a:t>
            </a:r>
          </a:p>
          <a:p>
            <a:pPr marL="0" indent="0">
              <a:buNone/>
            </a:pPr>
            <a:r>
              <a:rPr lang="zh-CN" altLang="zh-CN" sz="2000" dirty="0"/>
              <a:t>我前行——美少年，</a:t>
            </a:r>
          </a:p>
          <a:p>
            <a:pPr marL="0" indent="0">
              <a:buNone/>
            </a:pPr>
            <a:r>
              <a:rPr lang="zh-CN" altLang="zh-CN" sz="2000" dirty="0"/>
              <a:t>二十二岁。</a:t>
            </a:r>
          </a:p>
          <a:p>
            <a:pPr marL="0" indent="0">
              <a:buNone/>
            </a:pPr>
            <a:endParaRPr kumimoji="1" lang="zh-CN" altLang="en-US" sz="200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31280" y="990600"/>
            <a:ext cx="5181600" cy="54406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zh-CN" sz="2000" dirty="0"/>
              <a:t>…………</a:t>
            </a:r>
          </a:p>
          <a:p>
            <a:pPr marL="0" indent="0">
              <a:buNone/>
            </a:pPr>
            <a:r>
              <a:rPr lang="zh-CN" altLang="zh-CN" sz="2000" dirty="0"/>
              <a:t>只要您想——（“只要你们愿意“）</a:t>
            </a:r>
          </a:p>
          <a:p>
            <a:pPr marL="0" indent="0">
              <a:buNone/>
            </a:pPr>
            <a:r>
              <a:rPr lang="zh-CN" altLang="zh-CN" sz="2000" dirty="0"/>
              <a:t>我就发疯，只为一块肉（“我可以变成由于肉欲而发狂的人”）</a:t>
            </a:r>
          </a:p>
          <a:p>
            <a:pPr marL="0" indent="0">
              <a:buNone/>
            </a:pPr>
            <a:r>
              <a:rPr lang="zh-CN" altLang="zh-CN" sz="2000" dirty="0"/>
              <a:t>——同时就像天空，转变调性——</a:t>
            </a:r>
          </a:p>
          <a:p>
            <a:pPr marL="0" indent="0">
              <a:buNone/>
            </a:pPr>
            <a:r>
              <a:rPr lang="zh-CN" altLang="zh-CN" sz="2000" dirty="0"/>
              <a:t>只要您想——</a:t>
            </a:r>
          </a:p>
          <a:p>
            <a:pPr marL="0" indent="0">
              <a:buNone/>
            </a:pPr>
            <a:r>
              <a:rPr lang="zh-CN" altLang="zh-CN" sz="2000" dirty="0"/>
              <a:t>我就无可指摘地温柔，（“百般顺从的温柔”）</a:t>
            </a:r>
          </a:p>
          <a:p>
            <a:pPr marL="0" indent="0">
              <a:buNone/>
            </a:pPr>
            <a:r>
              <a:rPr lang="zh-CN" altLang="zh-CN" sz="2000" dirty="0"/>
              <a:t>不是男人，而是朵——穿裤子的云！</a:t>
            </a:r>
          </a:p>
          <a:p>
            <a:pPr marL="0" indent="0">
              <a:buNone/>
            </a:pPr>
            <a:r>
              <a:rPr lang="en-US" altLang="zh-CN" sz="2000" dirty="0"/>
              <a:t>                        </a:t>
            </a:r>
            <a:endParaRPr lang="en-US" altLang="zh-CN" sz="2000" dirty="0" smtClean="0"/>
          </a:p>
          <a:p>
            <a:pPr marL="0" indent="0">
              <a:buNone/>
            </a:pPr>
            <a:endParaRPr lang="en-US" altLang="zh-CN" sz="2000" dirty="0" smtClean="0"/>
          </a:p>
          <a:p>
            <a:pPr marL="0" indent="0">
              <a:buNone/>
            </a:pPr>
            <a:endParaRPr lang="en-US" altLang="zh-CN" sz="2000" dirty="0"/>
          </a:p>
          <a:p>
            <a:pPr marL="0" indent="0" algn="r">
              <a:buNone/>
            </a:pPr>
            <a:r>
              <a:rPr lang="zh-CN" altLang="zh-CN" sz="2000" dirty="0" smtClean="0"/>
              <a:t>—</a:t>
            </a:r>
            <a:r>
              <a:rPr lang="zh-CN" altLang="zh-CN" sz="2000" dirty="0"/>
              <a:t>—《穿裤子的云·序诗》（</a:t>
            </a:r>
            <a:r>
              <a:rPr lang="en-US" altLang="zh-CN" sz="2000" dirty="0"/>
              <a:t>1914-1915</a:t>
            </a:r>
            <a:r>
              <a:rPr lang="zh-CN" altLang="zh-CN" sz="2000" dirty="0"/>
              <a:t>）</a:t>
            </a:r>
          </a:p>
          <a:p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6165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zh-CN" altLang="zh-CN" dirty="0"/>
              <a:t>什克洛夫斯基：“在马雅可夫斯基的新艺术中</a:t>
            </a:r>
            <a:r>
              <a:rPr lang="en-US" altLang="zh-CN" dirty="0"/>
              <a:t>,</a:t>
            </a:r>
            <a:r>
              <a:rPr lang="zh-CN" altLang="zh-CN" dirty="0"/>
              <a:t>先前丧失了艺术性的大街又获得了自己的语言</a:t>
            </a:r>
            <a:r>
              <a:rPr lang="en-US" altLang="zh-CN" dirty="0"/>
              <a:t>,</a:t>
            </a:r>
            <a:r>
              <a:rPr lang="zh-CN" altLang="zh-CN" dirty="0"/>
              <a:t>自己的形式……诗人并非透过窗户张望大街。他认为自己就是大街的儿子</a:t>
            </a:r>
            <a:r>
              <a:rPr lang="en-US" altLang="zh-CN" dirty="0"/>
              <a:t>,</a:t>
            </a:r>
            <a:r>
              <a:rPr lang="zh-CN" altLang="zh-CN" dirty="0"/>
              <a:t>而我们便根据儿子的容貌获悉了母亲的美丽。人们先前是不会、不敢打量这位母亲的脸庞的。”</a:t>
            </a:r>
          </a:p>
          <a:p>
            <a:pPr>
              <a:lnSpc>
                <a:spcPct val="100000"/>
              </a:lnSpc>
            </a:pPr>
            <a:r>
              <a:rPr lang="zh-CN" altLang="zh-CN" dirty="0"/>
              <a:t>本雅明《作为生产者的作家》（</a:t>
            </a:r>
            <a:r>
              <a:rPr lang="en-US" altLang="zh-CN" dirty="0"/>
              <a:t>1934</a:t>
            </a:r>
            <a:r>
              <a:rPr lang="zh-CN" altLang="zh-CN" dirty="0"/>
              <a:t>）： “作为生产者的”、“行动的”作家，他的“使命不是去报道，而是去斗争。不是扮演观众的角色而是积极投身进去。他通过对自己的活动所作的陈述来决定自己的使命”；而且，艺术家要如工人那样，去探索在现代社会里出现的艺术生产的种种手段，改变传统媒介的</a:t>
            </a:r>
            <a:r>
              <a:rPr lang="en-US" altLang="zh-CN" dirty="0"/>
              <a:t>“</a:t>
            </a:r>
            <a:r>
              <a:rPr lang="zh-CN" altLang="zh-CN" dirty="0"/>
              <a:t>技术</a:t>
            </a:r>
            <a:r>
              <a:rPr lang="en-US" altLang="zh-CN" dirty="0"/>
              <a:t>”</a:t>
            </a:r>
            <a:r>
              <a:rPr lang="zh-CN" altLang="zh-CN" dirty="0"/>
              <a:t>和</a:t>
            </a:r>
            <a:r>
              <a:rPr lang="en-US" altLang="zh-CN" dirty="0"/>
              <a:t>“</a:t>
            </a:r>
            <a:r>
              <a:rPr lang="zh-CN" altLang="zh-CN" dirty="0"/>
              <a:t>装备</a:t>
            </a:r>
            <a:r>
              <a:rPr lang="en-US" altLang="zh-CN" dirty="0"/>
              <a:t>”</a:t>
            </a:r>
            <a:r>
              <a:rPr lang="zh-CN" altLang="zh-CN" dirty="0"/>
              <a:t>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865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2237105"/>
            <a:ext cx="5181600" cy="4351338"/>
          </a:xfrm>
        </p:spPr>
        <p:txBody>
          <a:bodyPr/>
          <a:lstStyle/>
          <a:p>
            <a:r>
              <a:rPr lang="zh-CN" altLang="zh-CN" dirty="0"/>
              <a:t>杨菲尔德《生命是赌注：马雅可夫斯基的革命和爱情》</a:t>
            </a:r>
          </a:p>
          <a:p>
            <a:endParaRPr kumimoji="1" lang="zh-CN" altLang="en-US" dirty="0"/>
          </a:p>
        </p:txBody>
      </p:sp>
      <p:pic>
        <p:nvPicPr>
          <p:cNvPr id="5" name="图片 4" descr="https://img9.doubanio.com/view/subject/l/public/s33624516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039" y="1027906"/>
            <a:ext cx="3566795" cy="49926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944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2339022"/>
            <a:ext cx="5181600" cy="4351338"/>
          </a:xfrm>
        </p:spPr>
        <p:txBody>
          <a:bodyPr/>
          <a:lstStyle/>
          <a:p>
            <a:r>
              <a:rPr lang="zh-CN" altLang="zh-CN" dirty="0"/>
              <a:t>马雅可夫斯基、丽莉·布里克和奥西普·布里克</a:t>
            </a:r>
          </a:p>
          <a:p>
            <a:endParaRPr kumimoji="1" lang="zh-CN" altLang="en-US" dirty="0"/>
          </a:p>
        </p:txBody>
      </p:sp>
      <p:pic>
        <p:nvPicPr>
          <p:cNvPr id="5" name="内容占位符 4" descr="C:\Users\hongz\Documents\微信图片_20211024163750.jpg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3648" y="1094104"/>
            <a:ext cx="3658672" cy="47580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451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635" y="2757171"/>
            <a:ext cx="5181600" cy="4351338"/>
          </a:xfrm>
        </p:spPr>
        <p:txBody>
          <a:bodyPr/>
          <a:lstStyle/>
          <a:p>
            <a:r>
              <a:rPr lang="zh-CN" altLang="zh-CN" dirty="0"/>
              <a:t>莫斯科马雅可夫斯基博物馆</a:t>
            </a:r>
          </a:p>
          <a:p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图片 4" descr="C:\Users\hongz\Documents\6a63f6246b600c332bbb76021a4c510fd8f9a13e.jf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1525" y="1690688"/>
            <a:ext cx="5274310" cy="3838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4431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1066</Words>
  <Application>Microsoft Macintosh PowerPoint</Application>
  <PresentationFormat>宽屏</PresentationFormat>
  <Paragraphs>58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DengXian</vt:lpstr>
      <vt:lpstr>DengXian Light</vt:lpstr>
      <vt:lpstr>Arial</vt:lpstr>
      <vt:lpstr>Office 主题</vt:lpstr>
      <vt:lpstr>中国当代文学中的世界文学</vt:lpstr>
      <vt:lpstr>PowerPoint 演示文稿</vt:lpstr>
      <vt:lpstr>PowerPoint 演示文稿</vt:lpstr>
      <vt:lpstr>PowerPoint 演示文稿</vt:lpstr>
      <vt:lpstr>PowerPoint 演示文稿</vt:lpstr>
      <vt:lpstr>50年代司汤达《红与黑》讨论</vt:lpstr>
      <vt:lpstr>PowerPoint 演示文稿</vt:lpstr>
      <vt:lpstr>文学“苏联化”表现：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中国当代文学中的世界文学</dc:title>
  <dc:creator>mrlibin600@163.com</dc:creator>
  <cp:lastModifiedBy>mrlibin600@163.com</cp:lastModifiedBy>
  <cp:revision>17</cp:revision>
  <dcterms:created xsi:type="dcterms:W3CDTF">2021-10-25T01:04:28Z</dcterms:created>
  <dcterms:modified xsi:type="dcterms:W3CDTF">2021-11-03T04:29:12Z</dcterms:modified>
</cp:coreProperties>
</file>