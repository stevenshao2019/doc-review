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3" r:id="rId4"/>
    <p:sldId id="265" r:id="rId5"/>
    <p:sldId id="300" r:id="rId6"/>
    <p:sldId id="268" r:id="rId7"/>
    <p:sldId id="270" r:id="rId8"/>
    <p:sldId id="271" r:id="rId9"/>
    <p:sldId id="273" r:id="rId10"/>
    <p:sldId id="274" r:id="rId11"/>
    <p:sldId id="324" r:id="rId12"/>
    <p:sldId id="325" r:id="rId13"/>
    <p:sldId id="326" r:id="rId14"/>
    <p:sldId id="327" r:id="rId15"/>
    <p:sldId id="328" r:id="rId16"/>
    <p:sldId id="329" r:id="rId17"/>
    <p:sldId id="321" r:id="rId18"/>
    <p:sldId id="296" r:id="rId19"/>
    <p:sldId id="301" r:id="rId20"/>
    <p:sldId id="306" r:id="rId21"/>
    <p:sldId id="302" r:id="rId22"/>
    <p:sldId id="303" r:id="rId23"/>
    <p:sldId id="275" r:id="rId24"/>
    <p:sldId id="312" r:id="rId25"/>
    <p:sldId id="330" r:id="rId26"/>
    <p:sldId id="331" r:id="rId27"/>
    <p:sldId id="313" r:id="rId28"/>
    <p:sldId id="309" r:id="rId29"/>
    <p:sldId id="304" r:id="rId30"/>
    <p:sldId id="314" r:id="rId31"/>
    <p:sldId id="315" r:id="rId32"/>
    <p:sldId id="307" r:id="rId33"/>
    <p:sldId id="316" r:id="rId34"/>
    <p:sldId id="317" r:id="rId35"/>
    <p:sldId id="318" r:id="rId36"/>
    <p:sldId id="319" r:id="rId37"/>
    <p:sldId id="297" r:id="rId38"/>
    <p:sldId id="322" r:id="rId39"/>
    <p:sldId id="298" r:id="rId40"/>
    <p:sldId id="323" r:id="rId41"/>
    <p:sldId id="260"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76" d="100"/>
          <a:sy n="76" d="100"/>
        </p:scale>
        <p:origin x="13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【AI审校修改】</a:t>
            </a:r>
          </a:p>
          <a:p>
            <a:r>
              <a:t>原文：1958 年（昭和 33 年）年</a:t>
            </a:r>
          </a:p>
          <a:p>
            <a:r>
              <a:t>修改：1958 年（昭和 33 年）</a:t>
            </a:r>
          </a:p>
          <a:p>
            <a:r>
              <a:t>原因：删除括号内外重复的“年”字</a:t>
            </a:r>
          </a:p>
          <a:p>
            <a:r>
              <a:t>类型：错别字修正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【AI审校修改】</a:t>
            </a:r>
          </a:p>
          <a:p>
            <a:r>
              <a:t>原文：Riksmaol</a:t>
            </a:r>
          </a:p>
          <a:p>
            <a:r>
              <a:t>修改：Riksmål</a:t>
            </a:r>
          </a:p>
          <a:p>
            <a:r>
              <a:t>原因：挪威语专有名词拼写修正，Riksmaol→Riksmål</a:t>
            </a:r>
          </a:p>
          <a:p>
            <a:r>
              <a:t>类型：专有名词修正</a:t>
            </a:r>
          </a:p>
          <a:p/>
          <a:p>
            <a:r>
              <a:t>---</a:t>
            </a:r>
          </a:p>
          <a:p>
            <a:r>
              <a:t>【AI审校修改】</a:t>
            </a:r>
          </a:p>
          <a:p>
            <a:r>
              <a:t>原文：Bokmaol</a:t>
            </a:r>
          </a:p>
          <a:p>
            <a:r>
              <a:t>修改：Bokmål</a:t>
            </a:r>
          </a:p>
          <a:p>
            <a:r>
              <a:t>原因：挪威语专有名词拼写修正，Bokmaol→Bokmål</a:t>
            </a:r>
          </a:p>
          <a:p>
            <a:r>
              <a:t>类型：专有名词修正</a:t>
            </a:r>
          </a:p>
          <a:p/>
          <a:p>
            <a:r>
              <a:t>---</a:t>
            </a:r>
          </a:p>
          <a:p>
            <a:r>
              <a:t>【AI审校修改】</a:t>
            </a:r>
          </a:p>
          <a:p>
            <a:r>
              <a:t>原文：Landsmal</a:t>
            </a:r>
          </a:p>
          <a:p>
            <a:r>
              <a:t>修改：Landsmål</a:t>
            </a:r>
          </a:p>
          <a:p>
            <a:r>
              <a:t>原因：挪威语专有名词拼写修正，Landsmal→Landsmål</a:t>
            </a:r>
          </a:p>
          <a:p>
            <a:r>
              <a:t>类型：专有名词修正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【AI审校修改】</a:t>
            </a:r>
          </a:p>
          <a:p>
            <a:r>
              <a:t>原文：是其实是</a:t>
            </a:r>
          </a:p>
          <a:p>
            <a:r>
              <a:t>修改：其实是</a:t>
            </a:r>
          </a:p>
          <a:p>
            <a:r>
              <a:t>原因：删除多余的“是”字，“是其实是”句式杂糅</a:t>
            </a:r>
          </a:p>
          <a:p>
            <a:r>
              <a:t>类型：病句修正</a:t>
            </a:r>
          </a:p>
          <a:p/>
          <a:p>
            <a:r>
              <a:t>---</a:t>
            </a:r>
          </a:p>
          <a:p>
            <a:r>
              <a:t>【AI审校修改】</a:t>
            </a:r>
          </a:p>
          <a:p>
            <a:r>
              <a:t>原文：方言对普通的影响</a:t>
            </a:r>
          </a:p>
          <a:p>
            <a:r>
              <a:t>修改：方言对普通话的影响</a:t>
            </a:r>
          </a:p>
          <a:p>
            <a:r>
              <a:t>原因：补充漏字“话”，应为“普通话”</a:t>
            </a:r>
          </a:p>
          <a:p>
            <a:r>
              <a:t>类型：错别字修正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【AI审校修改】</a:t>
            </a:r>
          </a:p>
          <a:p>
            <a:r>
              <a:t>原文：寿昌旧</a:t>
            </a:r>
          </a:p>
          <a:p>
            <a:r>
              <a:t>修改：寿昌旧县</a:t>
            </a:r>
          </a:p>
          <a:p>
            <a:r>
              <a:t>原因：地名表达补充完整</a:t>
            </a:r>
          </a:p>
          <a:p>
            <a:r>
              <a:t>类型：语言优化</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2473180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44949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340015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2246410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491799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3697270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243914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721238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237501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635760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0270226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4181807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99403"/>
            <a:ext cx="7772400" cy="2387600"/>
          </a:xfrm>
        </p:spPr>
        <p:txBody>
          <a:bodyPr>
            <a:normAutofit fontScale="90000"/>
          </a:bodyPr>
          <a:lstStyle/>
          <a:p>
            <a:br>
              <a:rPr lang="en-US" altLang="zh-CN" sz="5600" b="1"/>
            </a:br>
            <a:r>
              <a:rPr lang="zh-CN" altLang="en-US" sz="3300" b="1">
                <a:solidFill>
                  <a:srgbClr val="0000FF"/>
                </a:solidFill>
                <a:latin typeface="楷体" panose="02010609060101010101" pitchFamily="49" charset="-122"/>
                <a:ea typeface="楷体" panose="02010609060101010101" pitchFamily="49" charset="-122"/>
              </a:rPr>
              <a:t>“认识中国的方法”系列讲座课程</a:t>
            </a:r>
            <a:br>
              <a:rPr lang="en-US" altLang="zh-CN" sz="3300" b="1">
                <a:solidFill>
                  <a:srgbClr val="0000FF"/>
                </a:solidFill>
                <a:latin typeface="楷体" panose="02010609060101010101" pitchFamily="49" charset="-122"/>
                <a:ea typeface="楷体" panose="02010609060101010101" pitchFamily="49" charset="-122"/>
              </a:rPr>
            </a:br>
            <a:r>
              <a:rPr lang="en-US" altLang="zh-CN" sz="3300"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2021-2022</a:t>
            </a:r>
            <a:r>
              <a:rPr lang="en-US" altLang="zh-CN" sz="3300" b="1">
                <a:solidFill>
                  <a:srgbClr val="0000FF"/>
                </a:solidFill>
                <a:latin typeface="楷体" panose="02010609060101010101" pitchFamily="49" charset="-122"/>
                <a:ea typeface="楷体" panose="02010609060101010101" pitchFamily="49" charset="-122"/>
              </a:rPr>
              <a:t> </a:t>
            </a:r>
            <a:r>
              <a:rPr lang="zh-CN" altLang="en-US" sz="3300" b="1">
                <a:solidFill>
                  <a:srgbClr val="0000FF"/>
                </a:solidFill>
                <a:latin typeface="楷体" panose="02010609060101010101" pitchFamily="49" charset="-122"/>
                <a:ea typeface="楷体" panose="02010609060101010101" pitchFamily="49" charset="-122"/>
              </a:rPr>
              <a:t>学年第九讲</a:t>
            </a:r>
            <a:br>
              <a:rPr lang="en-US" altLang="zh-CN" sz="3300" b="1">
                <a:solidFill>
                  <a:srgbClr val="0000FF"/>
                </a:solidFill>
                <a:latin typeface="楷体" panose="02010609060101010101" pitchFamily="49" charset="-122"/>
                <a:ea typeface="楷体" panose="02010609060101010101" pitchFamily="49" charset="-122"/>
              </a:rPr>
            </a:br>
            <a:br>
              <a:rPr lang="en-US" altLang="zh-CN" sz="5600" b="1">
                <a:solidFill>
                  <a:srgbClr val="0000FF"/>
                </a:solidFill>
              </a:rPr>
            </a:br>
            <a:r>
              <a:rPr lang="zh-CN" altLang="en-US" sz="5600" b="1">
                <a:solidFill>
                  <a:srgbClr val="0000FF"/>
                </a:solidFill>
                <a:latin typeface="方正书宋简体" panose="03000509000000000000" pitchFamily="65" charset="-122"/>
                <a:ea typeface="方正书宋简体" panose="03000509000000000000" pitchFamily="65" charset="-122"/>
              </a:rPr>
              <a:t>汉语方言及其调查研究</a:t>
            </a:r>
          </a:p>
        </p:txBody>
      </p:sp>
      <p:sp>
        <p:nvSpPr>
          <p:cNvPr id="3" name="副标题 2"/>
          <p:cNvSpPr>
            <a:spLocks noGrp="1"/>
          </p:cNvSpPr>
          <p:nvPr>
            <p:ph type="subTitle" idx="1"/>
          </p:nvPr>
        </p:nvSpPr>
        <p:spPr/>
        <p:txBody>
          <a:bodyPr>
            <a:noAutofit/>
          </a:bodyPr>
          <a:lstStyle/>
          <a:p>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项梦冰</a:t>
            </a:r>
            <a:endPar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北京大学中文系</a:t>
            </a:r>
            <a:endPar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a:p>
            <a:endParaRPr lang="en-US" altLang="zh-CN" sz="320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a:p>
            <a:r>
              <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2021 </a:t>
            </a:r>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年 </a:t>
            </a:r>
            <a:r>
              <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11 </a:t>
            </a:r>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月 </a:t>
            </a:r>
            <a:r>
              <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24 </a:t>
            </a:r>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日 </a:t>
            </a:r>
            <a:r>
              <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18:40-20:30</a:t>
            </a:r>
          </a:p>
          <a:p>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二教一〇五</a:t>
            </a:r>
          </a:p>
        </p:txBody>
      </p:sp>
    </p:spTree>
    <p:extLst>
      <p:ext uri="{BB962C8B-B14F-4D97-AF65-F5344CB8AC3E}">
        <p14:creationId xmlns:p14="http://schemas.microsoft.com/office/powerpoint/2010/main" val="471851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5927" y="398264"/>
            <a:ext cx="8399443" cy="4401205"/>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一、什么是方言？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二、汉语有多少方言？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三、汉语是一个语族还是一个语言？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四、普通话和方言的关系</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五、汉语方言的调查及其研究</a:t>
            </a:r>
          </a:p>
        </p:txBody>
      </p:sp>
    </p:spTree>
    <p:extLst>
      <p:ext uri="{BB962C8B-B14F-4D97-AF65-F5344CB8AC3E}">
        <p14:creationId xmlns:p14="http://schemas.microsoft.com/office/powerpoint/2010/main" val="1352969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2976399F-7D52-D6B3-0903-53F1FFD6F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741729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C31F15F-4BD9-7A78-D6C8-E76AB35711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115531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93729" y="4163620"/>
            <a:ext cx="89502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600">
                <a:solidFill>
                  <a:srgbClr val="0000FF"/>
                </a:solidFill>
                <a:latin typeface="Times New Roman" panose="02020603050405020304" pitchFamily="18" charset="0"/>
              </a:rPr>
              <a:t>       </a:t>
            </a:r>
            <a:endParaRPr lang="zh-CN" altLang="en-US" sz="3600" dirty="0">
              <a:solidFill>
                <a:srgbClr val="0000FF"/>
              </a:solidFill>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AA20ECEC-6EAE-1A98-4E23-28337EB97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14579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92990" y="527137"/>
            <a:ext cx="8927024" cy="3931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450" dirty="0">
                <a:solidFill>
                  <a:srgbClr val="0000FF"/>
                </a:solidFill>
                <a:latin typeface="Times New Roman" panose="02020603050405020304" pitchFamily="18" charset="0"/>
              </a:rPr>
              <a:t>        </a:t>
            </a:r>
            <a:r>
              <a:rPr lang="zh-CN" altLang="en-US" sz="3450" dirty="0">
                <a:solidFill>
                  <a:srgbClr val="0000FF"/>
                </a:solidFill>
                <a:latin typeface="Times New Roman" panose="02020603050405020304" pitchFamily="18" charset="0"/>
                <a:ea typeface="华文中宋" panose="02010600040101010101" pitchFamily="2" charset="-122"/>
              </a:rPr>
              <a:t>回到前边所举的三句话：</a:t>
            </a:r>
          </a:p>
          <a:p>
            <a:r>
              <a:rPr lang="zh-CN" altLang="en-US" sz="3450" dirty="0">
                <a:solidFill>
                  <a:srgbClr val="0000FF"/>
                </a:solidFill>
                <a:latin typeface="Times New Roman" panose="02020603050405020304" pitchFamily="18" charset="0"/>
                <a:ea typeface="华文中宋" panose="02010600040101010101" pitchFamily="2" charset="-122"/>
              </a:rPr>
              <a:t>                普通话：你去不去？</a:t>
            </a:r>
          </a:p>
          <a:p>
            <a:r>
              <a:rPr lang="zh-CN" altLang="en-US" sz="3450" dirty="0">
                <a:solidFill>
                  <a:srgbClr val="0000FF"/>
                </a:solidFill>
                <a:latin typeface="Times New Roman" panose="02020603050405020304" pitchFamily="18" charset="0"/>
              </a:rPr>
              <a:t>                                </a:t>
            </a:r>
            <a:r>
              <a:rPr lang="en-US" altLang="zh-CN" sz="3450" dirty="0">
                <a:solidFill>
                  <a:srgbClr val="0000FF"/>
                </a:solidFill>
                <a:latin typeface="方正国际音标" panose="03000502000000000000" pitchFamily="66" charset="-122"/>
                <a:ea typeface="方正国际音标" panose="03000502000000000000" pitchFamily="66" charset="-122"/>
                <a:cs typeface="方正国际音标" panose="03000502000000000000" pitchFamily="66" charset="-122"/>
              </a:rPr>
              <a:t>[   ?]</a:t>
            </a:r>
          </a:p>
          <a:p>
            <a:r>
              <a:rPr lang="zh-CN" altLang="en-US" sz="3450" dirty="0">
                <a:solidFill>
                  <a:srgbClr val="0000FF"/>
                </a:solidFill>
                <a:latin typeface="Times New Roman" panose="02020603050405020304" pitchFamily="18" charset="0"/>
                <a:ea typeface="华文中宋" panose="02010600040101010101" pitchFamily="2" charset="-122"/>
              </a:rPr>
              <a:t>                苏州话：倷啊去？</a:t>
            </a:r>
            <a:r>
              <a:rPr lang="en-US" altLang="zh-CN" sz="3450" dirty="0">
                <a:solidFill>
                  <a:srgbClr val="0000FF"/>
                </a:solidFill>
                <a:latin typeface="方正国际音标" panose="03000502000000000000" pitchFamily="66" charset="-122"/>
                <a:ea typeface="方正国际音标" panose="03000502000000000000" pitchFamily="66" charset="-122"/>
                <a:cs typeface="方正国际音标" panose="03000502000000000000" pitchFamily="66" charset="-122"/>
              </a:rPr>
              <a:t>[  ?]</a:t>
            </a:r>
          </a:p>
          <a:p>
            <a:r>
              <a:rPr lang="zh-CN" altLang="en-US" sz="3450" dirty="0">
                <a:solidFill>
                  <a:srgbClr val="0000FF"/>
                </a:solidFill>
                <a:latin typeface="Times New Roman" panose="02020603050405020304" pitchFamily="18" charset="0"/>
                <a:ea typeface="华文中宋" panose="02010600040101010101" pitchFamily="2" charset="-122"/>
              </a:rPr>
              <a:t>                连城</a:t>
            </a:r>
            <a:r>
              <a:rPr lang="en-US" altLang="zh-CN" sz="3450" dirty="0">
                <a:solidFill>
                  <a:srgbClr val="0000FF"/>
                </a:solidFill>
                <a:latin typeface="Times New Roman" panose="02020603050405020304" pitchFamily="18" charset="0"/>
                <a:ea typeface="华文中宋" panose="02010600040101010101" pitchFamily="2" charset="-122"/>
              </a:rPr>
              <a:t>(</a:t>
            </a:r>
            <a:r>
              <a:rPr lang="zh-CN" altLang="en-US" sz="3450" dirty="0">
                <a:solidFill>
                  <a:srgbClr val="0000FF"/>
                </a:solidFill>
                <a:latin typeface="Times New Roman" panose="02020603050405020304" pitchFamily="18" charset="0"/>
                <a:ea typeface="华文中宋" panose="02010600040101010101" pitchFamily="2" charset="-122"/>
              </a:rPr>
              <a:t>新泉</a:t>
            </a:r>
            <a:r>
              <a:rPr lang="en-US" altLang="zh-CN" sz="3450" dirty="0">
                <a:solidFill>
                  <a:srgbClr val="0000FF"/>
                </a:solidFill>
                <a:latin typeface="Times New Roman" panose="02020603050405020304" pitchFamily="18" charset="0"/>
                <a:ea typeface="华文中宋" panose="02010600040101010101" pitchFamily="2" charset="-122"/>
              </a:rPr>
              <a:t>)</a:t>
            </a:r>
            <a:r>
              <a:rPr lang="zh-CN" altLang="en-US" sz="3450" dirty="0">
                <a:solidFill>
                  <a:srgbClr val="0000FF"/>
                </a:solidFill>
                <a:latin typeface="Times New Roman" panose="02020603050405020304" pitchFamily="18" charset="0"/>
                <a:ea typeface="华文中宋" panose="02010600040101010101" pitchFamily="2" charset="-122"/>
              </a:rPr>
              <a:t>话：尔去</a:t>
            </a:r>
            <a:r>
              <a:rPr lang="en-US" altLang="zh-CN" sz="3450" baseline="30000" dirty="0">
                <a:solidFill>
                  <a:srgbClr val="0000FF"/>
                </a:solidFill>
                <a:latin typeface="Times New Roman" panose="02020603050405020304" pitchFamily="18" charset="0"/>
                <a:ea typeface="华文中宋" panose="02010600040101010101" pitchFamily="2" charset="-122"/>
              </a:rPr>
              <a:t>35</a:t>
            </a:r>
            <a:r>
              <a:rPr lang="zh-CN" altLang="en-US" sz="3450" dirty="0">
                <a:solidFill>
                  <a:srgbClr val="0000FF"/>
                </a:solidFill>
                <a:latin typeface="Times New Roman" panose="02020603050405020304" pitchFamily="18" charset="0"/>
                <a:ea typeface="华文中宋" panose="02010600040101010101" pitchFamily="2" charset="-122"/>
              </a:rPr>
              <a:t>去？</a:t>
            </a:r>
          </a:p>
          <a:p>
            <a:r>
              <a:rPr lang="zh-CN" altLang="en-US" sz="3450" dirty="0">
                <a:solidFill>
                  <a:srgbClr val="0000FF"/>
                </a:solidFill>
                <a:latin typeface="Times New Roman" panose="02020603050405020304" pitchFamily="18" charset="0"/>
              </a:rPr>
              <a:t>                                </a:t>
            </a:r>
            <a:r>
              <a:rPr lang="en-US" altLang="zh-CN" sz="3450" dirty="0">
                <a:solidFill>
                  <a:srgbClr val="0000FF"/>
                </a:solidFill>
                <a:latin typeface="Times New Roman" panose="02020603050405020304" pitchFamily="18" charset="0"/>
              </a:rPr>
              <a:t>[</a:t>
            </a:r>
            <a:r>
              <a:rPr lang="en-US" altLang="zh-CN" sz="3450" dirty="0">
                <a:solidFill>
                  <a:srgbClr val="0000FF"/>
                </a:solidFill>
                <a:latin typeface="Times New Roman" panose="02020603050405020304" pitchFamily="18" charset="0"/>
                <a:ea typeface="方正国际音标" panose="03000502000000000000" pitchFamily="66" charset="-122"/>
                <a:cs typeface="方正国际音标" panose="03000502000000000000" pitchFamily="66" charset="-122"/>
              </a:rPr>
              <a:t> </a:t>
            </a:r>
            <a:r>
              <a:rPr lang="en-US" altLang="zh-CN" sz="3450" dirty="0">
                <a:solidFill>
                  <a:srgbClr val="0000FF"/>
                </a:solidFill>
                <a:latin typeface="方正国际音标" panose="03000502000000000000" pitchFamily="66" charset="-122"/>
                <a:ea typeface="方正国际音标" panose="03000502000000000000" pitchFamily="66" charset="-122"/>
                <a:cs typeface="方正国际音标" panose="03000502000000000000" pitchFamily="66" charset="-122"/>
              </a:rPr>
              <a:t></a:t>
            </a:r>
            <a:r>
              <a:rPr lang="en-US" altLang="zh-CN" sz="3450" dirty="0">
                <a:solidFill>
                  <a:srgbClr val="0000FF"/>
                </a:solidFill>
                <a:latin typeface="Times New Roman" panose="02020603050405020304" pitchFamily="18" charset="0"/>
                <a:ea typeface="方正国际音标" panose="03000502000000000000" pitchFamily="66" charset="-122"/>
                <a:cs typeface="方正国际音标" panose="03000502000000000000" pitchFamily="66" charset="-122"/>
              </a:rPr>
              <a:t> </a:t>
            </a:r>
            <a:r>
              <a:rPr lang="en-US" altLang="zh-CN" sz="3450" dirty="0">
                <a:solidFill>
                  <a:srgbClr val="0000FF"/>
                </a:solidFill>
                <a:latin typeface="方正国际音标" panose="03000502000000000000" pitchFamily="66" charset="-122"/>
                <a:ea typeface="方正国际音标" panose="03000502000000000000" pitchFamily="66" charset="-122"/>
                <a:cs typeface="方正国际音标" panose="03000502000000000000" pitchFamily="66" charset="-122"/>
              </a:rPr>
              <a:t>?</a:t>
            </a:r>
            <a:r>
              <a:rPr lang="en-US" altLang="zh-CN" sz="3450" dirty="0">
                <a:solidFill>
                  <a:srgbClr val="0000FF"/>
                </a:solidFill>
                <a:latin typeface="Times New Roman" panose="02020603050405020304" pitchFamily="18" charset="0"/>
              </a:rPr>
              <a:t>]</a:t>
            </a:r>
          </a:p>
          <a:p>
            <a:endParaRPr lang="en-US" altLang="zh-CN" sz="800" dirty="0">
              <a:solidFill>
                <a:srgbClr val="0000FF"/>
              </a:solidFill>
              <a:latin typeface="Times New Roman" panose="02020603050405020304" pitchFamily="18" charset="0"/>
              <a:ea typeface="华文中宋" panose="02010600040101010101" pitchFamily="2" charset="-122"/>
            </a:endParaRPr>
          </a:p>
          <a:p>
            <a:r>
              <a:rPr lang="zh-CN" altLang="en-US" sz="3450" dirty="0">
                <a:solidFill>
                  <a:srgbClr val="00B050"/>
                </a:solidFill>
                <a:latin typeface="Times New Roman" panose="02020603050405020304" pitchFamily="18" charset="0"/>
                <a:ea typeface="华文中宋" panose="02010600040101010101" pitchFamily="2" charset="-122"/>
              </a:rPr>
              <a:t>      这是口音的问题还是方言的问题？</a:t>
            </a:r>
            <a:endParaRPr lang="en-US" altLang="zh-CN" sz="3450" dirty="0">
              <a:solidFill>
                <a:srgbClr val="00B050"/>
              </a:solidFill>
              <a:latin typeface="Times New Roman" panose="02020603050405020304" pitchFamily="18" charset="0"/>
            </a:endParaRPr>
          </a:p>
        </p:txBody>
      </p:sp>
      <p:pic>
        <p:nvPicPr>
          <p:cNvPr id="3" name="图片 2">
            <a:extLst>
              <a:ext uri="{FF2B5EF4-FFF2-40B4-BE49-F238E27FC236}">
                <a16:creationId xmlns:a16="http://schemas.microsoft.com/office/drawing/2014/main" id="{CC40ECD5-80DE-3A77-8C32-0A3DB7D06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029675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270220" y="921189"/>
            <a:ext cx="8737976"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600">
                <a:solidFill>
                  <a:srgbClr val="0000FF"/>
                </a:solidFill>
                <a:latin typeface="Times New Roman" panose="02020603050405020304" pitchFamily="18" charset="0"/>
              </a:rPr>
              <a:t>        </a:t>
            </a:r>
            <a:r>
              <a:rPr lang="en-US" altLang="zh-CN" sz="3600">
                <a:solidFill>
                  <a:srgbClr val="0000FF"/>
                </a:solidFill>
                <a:latin typeface="华文中宋" panose="02010600040101010101" pitchFamily="2" charset="-122"/>
                <a:ea typeface="华文中宋" panose="02010600040101010101" pitchFamily="2" charset="-122"/>
              </a:rPr>
              <a:t>② </a:t>
            </a:r>
            <a:r>
              <a:rPr lang="zh-CN" altLang="en-US" sz="3600">
                <a:solidFill>
                  <a:srgbClr val="0000FF"/>
                </a:solidFill>
                <a:latin typeface="华文中宋" panose="02010600040101010101" pitchFamily="2" charset="-122"/>
                <a:ea typeface="华文中宋" panose="02010600040101010101" pitchFamily="2" charset="-122"/>
              </a:rPr>
              <a:t>人们很早就注意到语言内部因地而异的现象。例如</a:t>
            </a:r>
            <a:r>
              <a:rPr lang="en-US" altLang="zh-CN" sz="3600">
                <a:solidFill>
                  <a:srgbClr val="0000FF"/>
                </a:solidFill>
                <a:latin typeface="华文中宋" panose="02010600040101010101" pitchFamily="2" charset="-122"/>
                <a:ea typeface="华文中宋" panose="02010600040101010101" pitchFamily="2" charset="-122"/>
              </a:rPr>
              <a:t>《</a:t>
            </a:r>
            <a:r>
              <a:rPr lang="zh-CN" altLang="en-US" sz="3600">
                <a:solidFill>
                  <a:srgbClr val="0000FF"/>
                </a:solidFill>
                <a:latin typeface="华文中宋" panose="02010600040101010101" pitchFamily="2" charset="-122"/>
                <a:ea typeface="华文中宋" panose="02010600040101010101" pitchFamily="2" charset="-122"/>
              </a:rPr>
              <a:t>旧约</a:t>
            </a:r>
            <a:r>
              <a:rPr lang="en-US" altLang="zh-CN" sz="2400">
                <a:solidFill>
                  <a:srgbClr val="0000FF"/>
                </a:solidFill>
                <a:latin typeface="华文中宋" panose="02010600040101010101" pitchFamily="2" charset="-122"/>
                <a:ea typeface="华文中宋" panose="02010600040101010101" pitchFamily="2" charset="-122"/>
              </a:rPr>
              <a:t>》(The Old Testament)</a:t>
            </a:r>
            <a:r>
              <a:rPr lang="zh-CN" altLang="en-US" sz="3600">
                <a:solidFill>
                  <a:srgbClr val="0000FF"/>
                </a:solidFill>
                <a:latin typeface="华文中宋" panose="02010600040101010101" pitchFamily="2" charset="-122"/>
                <a:ea typeface="华文中宋" panose="02010600040101010101" pitchFamily="2" charset="-122"/>
              </a:rPr>
              <a:t>里就记载了一个最为古老的方言观察的例子。故事发生在士师时期</a:t>
            </a:r>
            <a:r>
              <a:rPr lang="en-US" altLang="zh-CN" sz="2400">
                <a:solidFill>
                  <a:srgbClr val="0000FF"/>
                </a:solidFill>
                <a:latin typeface="华文中宋" panose="02010600040101010101" pitchFamily="2" charset="-122"/>
                <a:ea typeface="华文中宋" panose="02010600040101010101" pitchFamily="2" charset="-122"/>
              </a:rPr>
              <a:t>(Age of Judges</a:t>
            </a:r>
            <a:r>
              <a:rPr lang="zh-CN" altLang="en-US" sz="2400">
                <a:solidFill>
                  <a:srgbClr val="0000FF"/>
                </a:solidFill>
                <a:latin typeface="华文中宋" panose="02010600040101010101" pitchFamily="2" charset="-122"/>
                <a:ea typeface="华文中宋" panose="02010600040101010101" pitchFamily="2" charset="-122"/>
              </a:rPr>
              <a:t>，公元前 </a:t>
            </a:r>
            <a:r>
              <a:rPr lang="en-US" altLang="zh-CN" sz="2400">
                <a:solidFill>
                  <a:srgbClr val="0000FF"/>
                </a:solidFill>
                <a:latin typeface="华文中宋" panose="02010600040101010101" pitchFamily="2" charset="-122"/>
                <a:ea typeface="华文中宋" panose="02010600040101010101" pitchFamily="2" charset="-122"/>
              </a:rPr>
              <a:t>13 </a:t>
            </a:r>
            <a:r>
              <a:rPr lang="zh-CN" altLang="en-US" sz="2400">
                <a:solidFill>
                  <a:srgbClr val="0000FF"/>
                </a:solidFill>
                <a:latin typeface="华文中宋" panose="02010600040101010101" pitchFamily="2" charset="-122"/>
                <a:ea typeface="华文中宋" panose="02010600040101010101" pitchFamily="2" charset="-122"/>
              </a:rPr>
              <a:t>世纪～公元前</a:t>
            </a:r>
            <a:r>
              <a:rPr lang="en-US" altLang="zh-CN" sz="2400">
                <a:solidFill>
                  <a:srgbClr val="0000FF"/>
                </a:solidFill>
                <a:latin typeface="华文中宋" panose="02010600040101010101" pitchFamily="2" charset="-122"/>
                <a:ea typeface="华文中宋" panose="02010600040101010101" pitchFamily="2" charset="-122"/>
              </a:rPr>
              <a:t>10</a:t>
            </a:r>
            <a:r>
              <a:rPr lang="zh-CN" altLang="en-US" sz="2400">
                <a:solidFill>
                  <a:srgbClr val="0000FF"/>
                </a:solidFill>
                <a:latin typeface="华文中宋" panose="02010600040101010101" pitchFamily="2" charset="-122"/>
                <a:ea typeface="华文中宋" panose="02010600040101010101" pitchFamily="2" charset="-122"/>
              </a:rPr>
              <a:t>世纪。以色列人所处的部落联盟时代。所谓“士师”就是以色列人的领袖、是上天选定的、被上天赐予智慧的一些人，实际上就是军事民主时代的王或军事首领</a:t>
            </a:r>
            <a:r>
              <a:rPr lang="en-US" altLang="zh-CN" sz="2400">
                <a:solidFill>
                  <a:srgbClr val="0000FF"/>
                </a:solidFill>
                <a:latin typeface="华文中宋" panose="02010600040101010101" pitchFamily="2" charset="-122"/>
                <a:ea typeface="华文中宋" panose="02010600040101010101" pitchFamily="2" charset="-122"/>
              </a:rPr>
              <a:t>)</a:t>
            </a:r>
            <a:r>
              <a:rPr lang="zh-CN" altLang="en-US" sz="3600">
                <a:solidFill>
                  <a:srgbClr val="0000FF"/>
                </a:solidFill>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1322263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165235" y="254560"/>
            <a:ext cx="8911929" cy="3208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50">
                <a:solidFill>
                  <a:srgbClr val="0000FF"/>
                </a:solidFill>
                <a:latin typeface="华文中宋" panose="02010600040101010101" pitchFamily="2" charset="-122"/>
                <a:ea typeface="华文中宋" panose="02010600040101010101" pitchFamily="2" charset="-122"/>
              </a:rPr>
              <a:t>      </a:t>
            </a:r>
            <a:r>
              <a:rPr lang="zh-CN" altLang="en-US" sz="2850">
                <a:solidFill>
                  <a:srgbClr val="0000FF"/>
                </a:solidFill>
                <a:latin typeface="华文中宋" panose="02010600040101010101" pitchFamily="2" charset="-122"/>
                <a:ea typeface="华文中宋" panose="02010600040101010101" pitchFamily="2" charset="-122"/>
              </a:rPr>
              <a:t>士</a:t>
            </a:r>
            <a:r>
              <a:rPr lang="zh-CN" altLang="en-US" sz="2850" dirty="0">
                <a:solidFill>
                  <a:srgbClr val="0000FF"/>
                </a:solidFill>
                <a:latin typeface="华文中宋" panose="02010600040101010101" pitchFamily="2" charset="-122"/>
                <a:ea typeface="华文中宋" panose="02010600040101010101" pitchFamily="2" charset="-122"/>
              </a:rPr>
              <a:t>师耶弗他</a:t>
            </a:r>
            <a:r>
              <a:rPr lang="en-US" altLang="zh-CN" sz="2850" dirty="0">
                <a:solidFill>
                  <a:srgbClr val="0000FF"/>
                </a:solidFill>
                <a:latin typeface="华文中宋" panose="02010600040101010101" pitchFamily="2" charset="-122"/>
                <a:ea typeface="华文中宋" panose="02010600040101010101" pitchFamily="2" charset="-122"/>
              </a:rPr>
              <a:t>(Jephthah)</a:t>
            </a:r>
            <a:r>
              <a:rPr lang="zh-CN" altLang="en-US" sz="2850" dirty="0">
                <a:solidFill>
                  <a:srgbClr val="0000FF"/>
                </a:solidFill>
                <a:latin typeface="华文中宋" panose="02010600040101010101" pitchFamily="2" charset="-122"/>
                <a:ea typeface="华文中宋" panose="02010600040101010101" pitchFamily="2" charset="-122"/>
              </a:rPr>
              <a:t>率基列</a:t>
            </a:r>
            <a:r>
              <a:rPr lang="en-US" altLang="zh-CN" sz="2850" dirty="0">
                <a:solidFill>
                  <a:srgbClr val="0000FF"/>
                </a:solidFill>
                <a:latin typeface="华文中宋" panose="02010600040101010101" pitchFamily="2" charset="-122"/>
                <a:ea typeface="华文中宋" panose="02010600040101010101" pitchFamily="2" charset="-122"/>
              </a:rPr>
              <a:t>(Gilead)</a:t>
            </a:r>
            <a:r>
              <a:rPr lang="zh-CN" altLang="en-US" sz="2850" dirty="0">
                <a:solidFill>
                  <a:srgbClr val="0000FF"/>
                </a:solidFill>
                <a:latin typeface="华文中宋" panose="02010600040101010101" pitchFamily="2" charset="-122"/>
                <a:ea typeface="华文中宋" panose="02010600040101010101" pitchFamily="2" charset="-122"/>
              </a:rPr>
              <a:t>人与以法莲</a:t>
            </a:r>
            <a:r>
              <a:rPr lang="en-US" altLang="zh-CN" sz="2850" dirty="0">
                <a:solidFill>
                  <a:srgbClr val="0000FF"/>
                </a:solidFill>
                <a:latin typeface="华文中宋" panose="02010600040101010101" pitchFamily="2" charset="-122"/>
                <a:ea typeface="华文中宋" panose="02010600040101010101" pitchFamily="2" charset="-122"/>
              </a:rPr>
              <a:t>(</a:t>
            </a:r>
            <a:r>
              <a:rPr lang="en-US" altLang="zh-CN" sz="2850">
                <a:solidFill>
                  <a:srgbClr val="0000FF"/>
                </a:solidFill>
                <a:latin typeface="华文中宋" panose="02010600040101010101" pitchFamily="2" charset="-122"/>
                <a:ea typeface="华文中宋" panose="02010600040101010101" pitchFamily="2" charset="-122"/>
              </a:rPr>
              <a:t>Ephraim)</a:t>
            </a:r>
            <a:r>
              <a:rPr lang="zh-CN" altLang="en-US" sz="2850">
                <a:solidFill>
                  <a:srgbClr val="0000FF"/>
                </a:solidFill>
                <a:latin typeface="华文中宋" panose="02010600040101010101" pitchFamily="2" charset="-122"/>
                <a:ea typeface="华文中宋" panose="02010600040101010101" pitchFamily="2" charset="-122"/>
              </a:rPr>
              <a:t>人</a:t>
            </a:r>
            <a:r>
              <a:rPr lang="zh-CN" altLang="en-US" sz="2850" dirty="0">
                <a:solidFill>
                  <a:srgbClr val="0000FF"/>
                </a:solidFill>
                <a:latin typeface="华文中宋" panose="02010600040101010101" pitchFamily="2" charset="-122"/>
                <a:ea typeface="华文中宋" panose="02010600040101010101" pitchFamily="2" charset="-122"/>
              </a:rPr>
              <a:t>争战，基列人把守约旦河的渡口，不容以法莲人过去。每当抓住企图过河逃跑的以法莲人时就问他是不是以法</a:t>
            </a:r>
            <a:r>
              <a:rPr lang="zh-CN" altLang="en-US" sz="2850">
                <a:solidFill>
                  <a:srgbClr val="0000FF"/>
                </a:solidFill>
                <a:latin typeface="华文中宋" panose="02010600040101010101" pitchFamily="2" charset="-122"/>
                <a:ea typeface="华文中宋" panose="02010600040101010101" pitchFamily="2" charset="-122"/>
              </a:rPr>
              <a:t>莲人，如果回答不是，就</a:t>
            </a:r>
            <a:r>
              <a:rPr lang="zh-CN" altLang="en-US" sz="2850" dirty="0">
                <a:solidFill>
                  <a:srgbClr val="0000FF"/>
                </a:solidFill>
                <a:latin typeface="华文中宋" panose="02010600040101010101" pitchFamily="2" charset="-122"/>
                <a:ea typeface="华文中宋" panose="02010600040101010101" pitchFamily="2" charset="-122"/>
              </a:rPr>
              <a:t>让他们说“示播列”</a:t>
            </a:r>
            <a:r>
              <a:rPr lang="en-US" altLang="zh-CN" sz="2850">
                <a:solidFill>
                  <a:srgbClr val="0000FF"/>
                </a:solidFill>
                <a:latin typeface="华文中宋" panose="02010600040101010101" pitchFamily="2" charset="-122"/>
                <a:ea typeface="华文中宋" panose="02010600040101010101" pitchFamily="2" charset="-122"/>
              </a:rPr>
              <a:t>(Shibboleth</a:t>
            </a:r>
            <a:r>
              <a:rPr lang="zh-CN" altLang="en-US" sz="2850">
                <a:solidFill>
                  <a:srgbClr val="0000FF"/>
                </a:solidFill>
                <a:latin typeface="华文中宋" panose="02010600040101010101" pitchFamily="2" charset="-122"/>
                <a:ea typeface="华文中宋" panose="02010600040101010101" pitchFamily="2" charset="-122"/>
              </a:rPr>
              <a:t>，意</a:t>
            </a:r>
            <a:r>
              <a:rPr lang="zh-CN" altLang="en-US" sz="2850" dirty="0">
                <a:solidFill>
                  <a:srgbClr val="0000FF"/>
                </a:solidFill>
                <a:latin typeface="华文中宋" panose="02010600040101010101" pitchFamily="2" charset="-122"/>
                <a:ea typeface="华文中宋" panose="02010600040101010101" pitchFamily="2" charset="-122"/>
              </a:rPr>
              <a:t>为玉米穗儿</a:t>
            </a:r>
            <a:r>
              <a:rPr lang="en-US" altLang="zh-CN" sz="2850" dirty="0">
                <a:solidFill>
                  <a:srgbClr val="0000FF"/>
                </a:solidFill>
                <a:latin typeface="华文中宋" panose="02010600040101010101" pitchFamily="2" charset="-122"/>
                <a:ea typeface="华文中宋" panose="02010600040101010101" pitchFamily="2" charset="-122"/>
              </a:rPr>
              <a:t>)</a:t>
            </a:r>
            <a:r>
              <a:rPr lang="zh-CN" altLang="en-US" sz="2850" dirty="0">
                <a:solidFill>
                  <a:srgbClr val="0000FF"/>
                </a:solidFill>
                <a:latin typeface="华文中宋" panose="02010600040101010101" pitchFamily="2" charset="-122"/>
                <a:ea typeface="华文中宋" panose="02010600040101010101" pitchFamily="2" charset="-122"/>
              </a:rPr>
              <a:t>。“以法莲人因为咬不</a:t>
            </a:r>
            <a:r>
              <a:rPr lang="zh-CN" altLang="en-US" sz="2850">
                <a:solidFill>
                  <a:srgbClr val="0000FF"/>
                </a:solidFill>
                <a:latin typeface="华文中宋" panose="02010600040101010101" pitchFamily="2" charset="-122"/>
                <a:ea typeface="华文中宋" panose="02010600040101010101" pitchFamily="2" charset="-122"/>
              </a:rPr>
              <a:t>真字音</a:t>
            </a:r>
            <a:r>
              <a:rPr lang="en-US" altLang="zh-CN" sz="2850" b="1">
                <a:solidFill>
                  <a:srgbClr val="0000FF"/>
                </a:solidFill>
                <a:latin typeface="华文中宋" panose="02010600040101010101" pitchFamily="2" charset="-122"/>
                <a:ea typeface="华文中宋" panose="02010600040101010101" pitchFamily="2" charset="-122"/>
              </a:rPr>
              <a:t>,</a:t>
            </a:r>
            <a:r>
              <a:rPr lang="en-US" altLang="zh-CN" sz="3150">
                <a:solidFill>
                  <a:srgbClr val="0000FF"/>
                </a:solidFill>
                <a:latin typeface="华文中宋" panose="02010600040101010101" pitchFamily="2" charset="-122"/>
                <a:ea typeface="华文中宋" panose="02010600040101010101" pitchFamily="2" charset="-122"/>
              </a:rPr>
              <a:t> </a:t>
            </a:r>
            <a:r>
              <a:rPr lang="zh-CN" altLang="en-US" sz="2850">
                <a:solidFill>
                  <a:srgbClr val="0000FF"/>
                </a:solidFill>
                <a:latin typeface="华文中宋" panose="02010600040101010101" pitchFamily="2" charset="-122"/>
                <a:ea typeface="华文中宋" panose="02010600040101010101" pitchFamily="2" charset="-122"/>
              </a:rPr>
              <a:t>便说‘西播列’</a:t>
            </a:r>
            <a:r>
              <a:rPr lang="en-US" altLang="zh-CN" sz="2850">
                <a:solidFill>
                  <a:srgbClr val="0000FF"/>
                </a:solidFill>
                <a:latin typeface="华文中宋" panose="02010600040101010101" pitchFamily="2" charset="-122"/>
                <a:ea typeface="华文中宋" panose="02010600040101010101" pitchFamily="2" charset="-122"/>
              </a:rPr>
              <a:t>(</a:t>
            </a:r>
            <a:r>
              <a:rPr lang="en-US" altLang="zh-CN" sz="2850" dirty="0" err="1">
                <a:solidFill>
                  <a:srgbClr val="0000FF"/>
                </a:solidFill>
                <a:latin typeface="华文中宋" panose="02010600040101010101" pitchFamily="2" charset="-122"/>
                <a:ea typeface="华文中宋" panose="02010600040101010101" pitchFamily="2" charset="-122"/>
              </a:rPr>
              <a:t>Sibboleth</a:t>
            </a:r>
            <a:r>
              <a:rPr lang="en-US" altLang="zh-CN" sz="2850" dirty="0">
                <a:solidFill>
                  <a:srgbClr val="0000FF"/>
                </a:solidFill>
                <a:latin typeface="华文中宋" panose="02010600040101010101" pitchFamily="2" charset="-122"/>
                <a:ea typeface="华文中宋" panose="02010600040101010101" pitchFamily="2" charset="-122"/>
              </a:rPr>
              <a:t>)</a:t>
            </a:r>
            <a:r>
              <a:rPr lang="zh-CN" altLang="en-US" sz="2850" dirty="0">
                <a:solidFill>
                  <a:srgbClr val="0000FF"/>
                </a:solidFill>
                <a:latin typeface="华文中宋" panose="02010600040101010101" pitchFamily="2" charset="-122"/>
                <a:ea typeface="华文中宋" panose="02010600040101010101" pitchFamily="2" charset="-122"/>
              </a:rPr>
              <a:t>。基列人就将他拿住，杀在约旦河的渡口。”（士师记一二，</a:t>
            </a:r>
            <a:r>
              <a:rPr lang="en-US" altLang="zh-CN" sz="2850">
                <a:solidFill>
                  <a:srgbClr val="0000FF"/>
                </a:solidFill>
                <a:latin typeface="华文中宋" panose="02010600040101010101" pitchFamily="2" charset="-122"/>
                <a:ea typeface="华文中宋" panose="02010600040101010101" pitchFamily="2" charset="-122"/>
              </a:rPr>
              <a:t>6</a:t>
            </a:r>
            <a:r>
              <a:rPr lang="zh-CN" altLang="en-US" sz="2850">
                <a:solidFill>
                  <a:srgbClr val="0000FF"/>
                </a:solidFill>
                <a:latin typeface="华文中宋" panose="02010600040101010101" pitchFamily="2" charset="-122"/>
                <a:ea typeface="华文中宋" panose="02010600040101010101" pitchFamily="2" charset="-122"/>
              </a:rPr>
              <a:t>）</a:t>
            </a:r>
            <a:endParaRPr lang="zh-CN" altLang="en-US" sz="2850" dirty="0">
              <a:solidFill>
                <a:srgbClr val="0000FF"/>
              </a:solidFill>
              <a:latin typeface="华文中宋" panose="02010600040101010101" pitchFamily="2" charset="-122"/>
              <a:ea typeface="华文中宋" panose="02010600040101010101" pitchFamily="2" charset="-122"/>
            </a:endParaRPr>
          </a:p>
        </p:txBody>
      </p:sp>
      <p:sp>
        <p:nvSpPr>
          <p:cNvPr id="3" name="Text Box 2"/>
          <p:cNvSpPr txBox="1">
            <a:spLocks noChangeArrowheads="1"/>
          </p:cNvSpPr>
          <p:nvPr/>
        </p:nvSpPr>
        <p:spPr bwMode="auto">
          <a:xfrm>
            <a:off x="130945" y="3686837"/>
            <a:ext cx="887274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800">
                <a:solidFill>
                  <a:srgbClr val="00B050"/>
                </a:solidFill>
                <a:latin typeface="Times New Roman" panose="02020603050405020304" pitchFamily="18" charset="0"/>
              </a:rPr>
              <a:t>       </a:t>
            </a:r>
            <a:r>
              <a:rPr lang="en-US" altLang="zh-CN" sz="3800">
                <a:solidFill>
                  <a:srgbClr val="00B050"/>
                </a:solidFill>
                <a:latin typeface="华文中宋" panose="02010600040101010101" pitchFamily="2" charset="-122"/>
                <a:ea typeface="华文中宋" panose="02010600040101010101" pitchFamily="2" charset="-122"/>
              </a:rPr>
              <a:t>“</a:t>
            </a:r>
            <a:r>
              <a:rPr lang="zh-CN" altLang="en-US" sz="3800">
                <a:solidFill>
                  <a:srgbClr val="00B050"/>
                </a:solidFill>
                <a:latin typeface="华文中宋" panose="02010600040101010101" pitchFamily="2" charset="-122"/>
                <a:ea typeface="华文中宋" panose="02010600040101010101" pitchFamily="2" charset="-122"/>
              </a:rPr>
              <a:t>示播列”</a:t>
            </a:r>
            <a:r>
              <a:rPr lang="en-US" altLang="zh-CN" sz="3800">
                <a:solidFill>
                  <a:srgbClr val="00B050"/>
                </a:solidFill>
                <a:latin typeface="华文中宋" panose="02010600040101010101" pitchFamily="2" charset="-122"/>
                <a:ea typeface="华文中宋" panose="02010600040101010101" pitchFamily="2" charset="-122"/>
              </a:rPr>
              <a:t>(</a:t>
            </a:r>
            <a:r>
              <a:rPr lang="en-US" altLang="zh-CN" sz="3800" dirty="0">
                <a:solidFill>
                  <a:srgbClr val="00B050"/>
                </a:solidFill>
                <a:latin typeface="华文中宋" panose="02010600040101010101" pitchFamily="2" charset="-122"/>
                <a:ea typeface="华文中宋" panose="02010600040101010101" pitchFamily="2" charset="-122"/>
              </a:rPr>
              <a:t>Shibboleth) </a:t>
            </a:r>
            <a:r>
              <a:rPr lang="zh-CN" altLang="en-US" sz="3800" dirty="0">
                <a:solidFill>
                  <a:srgbClr val="00B050"/>
                </a:solidFill>
                <a:latin typeface="华文中宋" panose="02010600040101010101" pitchFamily="2" charset="-122"/>
                <a:ea typeface="华文中宋" panose="02010600040101010101" pitchFamily="2" charset="-122"/>
              </a:rPr>
              <a:t>一词已经进入英语和很多其他语言，表示“口令”、“测试词”之意，或是更为一般的“特色”之意。</a:t>
            </a:r>
          </a:p>
        </p:txBody>
      </p:sp>
    </p:spTree>
    <p:extLst>
      <p:ext uri="{BB962C8B-B14F-4D97-AF65-F5344CB8AC3E}">
        <p14:creationId xmlns:p14="http://schemas.microsoft.com/office/powerpoint/2010/main" val="3978268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52019" y="369333"/>
            <a:ext cx="9037701" cy="6051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a:solidFill>
                  <a:srgbClr val="0000FF"/>
                </a:solidFill>
                <a:latin typeface="华文中宋" panose="02010600040101010101" pitchFamily="2" charset="-122"/>
                <a:ea typeface="华文中宋" panose="02010600040101010101" pitchFamily="2" charset="-122"/>
              </a:rPr>
              <a:t>      说到方言足以致命，还可以举一个现代的例子。日本老鼠一般叫“ネズミ”。但是长野县的饭田地区、九州部分地区以及东北地区各地的方言把老鼠叫做“お嫁さん”、“嫁女”（新娘、媳妇儿）之类的，冲绳叫做“ヤンカナ”（我家的情人）。1958 年（昭和 33 年）曾因老鼠的讳称“お嫁さん”发生过一场悲剧：一位女子从四国渡过濑户内海嫁到冈山县山里，婚后八月的某一天独自在家，镇上管事儿的老太太上门分发灭鼠用的砒霜糕团儿，说“请把这个给府上的新娘（吃）”（これをお宅のおよめさんにどうぞ），这位新媳妇儿误以为“およめさん”（即“お嫁さん”）是指自己，结果吃下糕团儿中毒身亡，酿成了一起“方言杀人事件”。</a:t>
            </a:r>
            <a:r>
              <a:rPr lang="zh-CN" altLang="en-US" sz="2800">
                <a:solidFill>
                  <a:srgbClr val="0000FF"/>
                </a:solidFill>
                <a:latin typeface="华文中宋" panose="02010600040101010101" pitchFamily="2" charset="-122"/>
                <a:ea typeface="华文中宋" panose="02010600040101010101" pitchFamily="2" charset="-122"/>
              </a:rPr>
              <a:t/>
            </a:r>
            <a:r>
              <a:rPr lang="zh-CN" altLang="zh-CN" sz="2800">
                <a:solidFill>
                  <a:srgbClr val="0000FF"/>
                </a:solidFill>
                <a:latin typeface="华文中宋" panose="02010600040101010101" pitchFamily="2" charset="-122"/>
                <a:ea typeface="华文中宋" panose="02010600040101010101" pitchFamily="2" charset="-122"/>
              </a:rPr>
              <a:t/>
            </a:r>
            <a:r>
              <a:rPr lang="en-US" altLang="zh-CN" sz="2800">
                <a:solidFill>
                  <a:srgbClr val="0000FF"/>
                </a:solidFill>
                <a:latin typeface="华文中宋" panose="02010600040101010101" pitchFamily="2" charset="-122"/>
                <a:ea typeface="华文中宋" panose="02010600040101010101" pitchFamily="2" charset="-122"/>
              </a:rPr>
              <a:t/>
            </a:r>
            <a:r>
              <a:rPr lang="zh-CN" altLang="zh-CN" sz="2800">
                <a:solidFill>
                  <a:srgbClr val="0000FF"/>
                </a:solidFill>
                <a:latin typeface="华文中宋" panose="02010600040101010101" pitchFamily="2" charset="-122"/>
                <a:ea typeface="华文中宋" panose="02010600040101010101" pitchFamily="2" charset="-122"/>
              </a:rPr>
              <a:t/>
            </a:r>
            <a:r>
              <a:rPr lang="en-US" altLang="zh-CN" sz="2800">
                <a:solidFill>
                  <a:srgbClr val="0000FF"/>
                </a:solidFill>
                <a:latin typeface="华文中宋" panose="02010600040101010101" pitchFamily="2" charset="-122"/>
                <a:ea typeface="华文中宋" panose="02010600040101010101" pitchFamily="2" charset="-122"/>
              </a:rPr>
              <a:t/>
            </a:r>
            <a:r>
              <a:rPr lang="zh-CN" altLang="zh-CN" sz="2800">
                <a:solidFill>
                  <a:srgbClr val="0000FF"/>
                </a:solidFill>
                <a:latin typeface="华文中宋" panose="02010600040101010101" pitchFamily="2" charset="-122"/>
                <a:ea typeface="华文中宋" panose="02010600040101010101" pitchFamily="2" charset="-122"/>
              </a:rPr>
              <a:t/>
            </a:r>
          </a:p>
          <a:p>
            <a:endParaRPr lang="zh-CN" altLang="en-US" sz="2325" dirty="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857906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4529379" y="1081023"/>
            <a:ext cx="461462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625" dirty="0">
                <a:solidFill>
                  <a:srgbClr val="0000FF"/>
                </a:solidFill>
              </a:rPr>
              <a:t>       </a:t>
            </a:r>
            <a:r>
              <a:rPr lang="zh-CN" altLang="en-US" sz="2625" dirty="0">
                <a:solidFill>
                  <a:srgbClr val="0000FF"/>
                </a:solidFill>
                <a:latin typeface="华文中宋" panose="02010600040101010101" pitchFamily="2" charset="-122"/>
                <a:ea typeface="华文中宋" panose="02010600040101010101" pitchFamily="2" charset="-122"/>
              </a:rPr>
              <a:t>中国西汉末年扬雄撰写的</a:t>
            </a:r>
            <a:r>
              <a:rPr lang="en-US" altLang="zh-CN" sz="2625" dirty="0">
                <a:solidFill>
                  <a:srgbClr val="0000FF"/>
                </a:solidFill>
                <a:latin typeface="华文中宋" panose="02010600040101010101" pitchFamily="2" charset="-122"/>
                <a:ea typeface="华文中宋" panose="02010600040101010101" pitchFamily="2" charset="-122"/>
              </a:rPr>
              <a:t>《</a:t>
            </a:r>
            <a:r>
              <a:rPr lang="zh-CN" altLang="en-US" sz="2625">
                <a:solidFill>
                  <a:srgbClr val="0000FF"/>
                </a:solidFill>
                <a:latin typeface="华文中宋" panose="02010600040101010101" pitchFamily="2" charset="-122"/>
                <a:ea typeface="华文中宋" panose="02010600040101010101" pitchFamily="2" charset="-122"/>
              </a:rPr>
              <a:t>方言</a:t>
            </a:r>
            <a:r>
              <a:rPr lang="en-US" altLang="zh-CN" sz="2625">
                <a:solidFill>
                  <a:srgbClr val="0000FF"/>
                </a:solidFill>
                <a:latin typeface="华文中宋" panose="02010600040101010101" pitchFamily="2" charset="-122"/>
                <a:ea typeface="华文中宋" panose="02010600040101010101" pitchFamily="2" charset="-122"/>
              </a:rPr>
              <a:t>》</a:t>
            </a:r>
            <a:r>
              <a:rPr lang="zh-CN" altLang="en-US" sz="2625">
                <a:solidFill>
                  <a:srgbClr val="0000FF"/>
                </a:solidFill>
                <a:latin typeface="华文中宋" panose="02010600040101010101" pitchFamily="2" charset="-122"/>
                <a:ea typeface="华文中宋" panose="02010600040101010101" pitchFamily="2" charset="-122"/>
              </a:rPr>
              <a:t>（全称</a:t>
            </a:r>
            <a:r>
              <a:rPr lang="en-US" altLang="zh-CN" sz="2625" dirty="0">
                <a:solidFill>
                  <a:srgbClr val="0000FF"/>
                </a:solidFill>
                <a:latin typeface="华文中宋" panose="02010600040101010101" pitchFamily="2" charset="-122"/>
                <a:ea typeface="华文中宋" panose="02010600040101010101" pitchFamily="2" charset="-122"/>
              </a:rPr>
              <a:t>《</a:t>
            </a:r>
            <a:r>
              <a:rPr lang="zh-CN" altLang="en-US" sz="2625" dirty="0">
                <a:solidFill>
                  <a:srgbClr val="0000FF"/>
                </a:solidFill>
                <a:latin typeface="华文中宋" panose="02010600040101010101" pitchFamily="2" charset="-122"/>
                <a:ea typeface="华文中宋" panose="02010600040101010101" pitchFamily="2" charset="-122"/>
              </a:rPr>
              <a:t>輶轩使者绝代语释别国</a:t>
            </a:r>
            <a:r>
              <a:rPr lang="zh-CN" altLang="en-US" sz="2625">
                <a:solidFill>
                  <a:srgbClr val="0000FF"/>
                </a:solidFill>
                <a:latin typeface="华文中宋" panose="02010600040101010101" pitchFamily="2" charset="-122"/>
                <a:ea typeface="华文中宋" panose="02010600040101010101" pitchFamily="2" charset="-122"/>
              </a:rPr>
              <a:t>方言</a:t>
            </a:r>
            <a:r>
              <a:rPr lang="en-US" altLang="zh-CN" sz="2625">
                <a:solidFill>
                  <a:srgbClr val="0000FF"/>
                </a:solidFill>
                <a:latin typeface="华文中宋" panose="02010600040101010101" pitchFamily="2" charset="-122"/>
                <a:ea typeface="华文中宋" panose="02010600040101010101" pitchFamily="2" charset="-122"/>
              </a:rPr>
              <a:t>》</a:t>
            </a:r>
            <a:r>
              <a:rPr lang="zh-CN" altLang="en-US" sz="2625">
                <a:solidFill>
                  <a:srgbClr val="0000FF"/>
                </a:solidFill>
                <a:latin typeface="华文中宋" panose="02010600040101010101" pitchFamily="2" charset="-122"/>
                <a:ea typeface="华文中宋" panose="02010600040101010101" pitchFamily="2" charset="-122"/>
              </a:rPr>
              <a:t>）是</a:t>
            </a:r>
            <a:r>
              <a:rPr lang="zh-CN" altLang="en-US" sz="2625" dirty="0">
                <a:solidFill>
                  <a:srgbClr val="0000FF"/>
                </a:solidFill>
                <a:latin typeface="华文中宋" panose="02010600040101010101" pitchFamily="2" charset="-122"/>
                <a:ea typeface="华文中宋" panose="02010600040101010101" pitchFamily="2" charset="-122"/>
              </a:rPr>
              <a:t>一部比较方言词汇专著，所记录的主要是汉语方言，但也搀杂了一些民族语言在内。它的体例是先列举方言词，然后释之以通语，再分别说明通行情况。</a:t>
            </a:r>
          </a:p>
        </p:txBody>
      </p:sp>
      <p:pic>
        <p:nvPicPr>
          <p:cNvPr id="2" name="图片 1"/>
          <p:cNvPicPr>
            <a:picLocks noChangeAspect="1"/>
          </p:cNvPicPr>
          <p:nvPr/>
        </p:nvPicPr>
        <p:blipFill>
          <a:blip r:embed="rId2"/>
          <a:stretch>
            <a:fillRect/>
          </a:stretch>
        </p:blipFill>
        <p:spPr>
          <a:xfrm>
            <a:off x="58118" y="906667"/>
            <a:ext cx="4382146" cy="3835301"/>
          </a:xfrm>
          <a:prstGeom prst="rect">
            <a:avLst/>
          </a:prstGeom>
        </p:spPr>
      </p:pic>
    </p:spTree>
    <p:extLst>
      <p:ext uri="{BB962C8B-B14F-4D97-AF65-F5344CB8AC3E}">
        <p14:creationId xmlns:p14="http://schemas.microsoft.com/office/powerpoint/2010/main" val="2196032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3067" y="194310"/>
            <a:ext cx="8628043" cy="6986528"/>
          </a:xfrm>
          <a:prstGeom prst="rect">
            <a:avLst/>
          </a:prstGeom>
        </p:spPr>
        <p:txBody>
          <a:bodyPr wrap="square">
            <a:spAutoFit/>
          </a:bodyPr>
          <a:lstStyle/>
          <a:p>
            <a:pPr>
              <a:spcBef>
                <a:spcPct val="50000"/>
              </a:spcBef>
            </a:pPr>
            <a:r>
              <a:rPr lang="zh-CN" altLang="en-US" sz="3200">
                <a:solidFill>
                  <a:srgbClr val="0000FF"/>
                </a:solidFill>
                <a:latin typeface="华文中宋" panose="02010600040101010101" pitchFamily="2" charset="-122"/>
                <a:ea typeface="华文中宋" panose="02010600040101010101" pitchFamily="2" charset="-122"/>
              </a:rPr>
              <a:t>下面举一个文献中有记载的例子。</a:t>
            </a:r>
            <a:endParaRPr lang="en-US" altLang="zh-CN" sz="3200">
              <a:solidFill>
                <a:srgbClr val="0000FF"/>
              </a:solidFill>
              <a:latin typeface="华文中宋" panose="02010600040101010101" pitchFamily="2" charset="-122"/>
              <a:ea typeface="华文中宋" panose="02010600040101010101" pitchFamily="2" charset="-122"/>
            </a:endParaRPr>
          </a:p>
          <a:p>
            <a:r>
              <a:rPr lang="en-US" altLang="zh-CN" sz="3200">
                <a:solidFill>
                  <a:srgbClr val="00B050"/>
                </a:solidFill>
                <a:latin typeface="仿宋" panose="02010609060101010101" pitchFamily="49" charset="-122"/>
                <a:ea typeface="仿宋" panose="02010609060101010101" pitchFamily="49" charset="-122"/>
              </a:rPr>
              <a:t>    《</a:t>
            </a:r>
            <a:r>
              <a:rPr lang="zh-CN" altLang="en-US" sz="3200">
                <a:solidFill>
                  <a:srgbClr val="00B050"/>
                </a:solidFill>
                <a:latin typeface="仿宋" panose="02010609060101010101" pitchFamily="49" charset="-122"/>
                <a:ea typeface="仿宋" panose="02010609060101010101" pitchFamily="49" charset="-122"/>
              </a:rPr>
              <a:t>尔雅</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卷中释天第八（小字为郭璞注）：螮</a:t>
            </a:r>
            <a:r>
              <a:rPr lang="zh-CN" altLang="en-US" sz="2000">
                <a:solidFill>
                  <a:srgbClr val="00B050"/>
                </a:solidFill>
                <a:latin typeface="仿宋" panose="02010609060101010101" pitchFamily="49" charset="-122"/>
                <a:ea typeface="仿宋" panose="02010609060101010101" pitchFamily="49" charset="-122"/>
              </a:rPr>
              <a:t>音帝</a:t>
            </a:r>
            <a:r>
              <a:rPr lang="zh-CN" altLang="en-US" sz="3200">
                <a:solidFill>
                  <a:srgbClr val="00B050"/>
                </a:solidFill>
                <a:latin typeface="仿宋" panose="02010609060101010101" pitchFamily="49" charset="-122"/>
                <a:ea typeface="仿宋" panose="02010609060101010101" pitchFamily="49" charset="-122"/>
              </a:rPr>
              <a:t>蝀谓之雩。螮蝀</a:t>
            </a:r>
            <a:r>
              <a:rPr lang="zh-CN" altLang="en-US" sz="2000">
                <a:solidFill>
                  <a:srgbClr val="00B050"/>
                </a:solidFill>
                <a:latin typeface="仿宋" panose="02010609060101010101" pitchFamily="49" charset="-122"/>
                <a:ea typeface="仿宋" panose="02010609060101010101" pitchFamily="49" charset="-122"/>
              </a:rPr>
              <a:t>音董</a:t>
            </a:r>
            <a:r>
              <a:rPr lang="zh-CN" altLang="en-US" sz="3200">
                <a:solidFill>
                  <a:srgbClr val="00B050"/>
                </a:solidFill>
                <a:latin typeface="仿宋" panose="02010609060101010101" pitchFamily="49" charset="-122"/>
                <a:ea typeface="仿宋" panose="02010609060101010101" pitchFamily="49" charset="-122"/>
              </a:rPr>
              <a:t>，虹也</a:t>
            </a:r>
            <a:r>
              <a:rPr lang="zh-CN" altLang="en-US" sz="2000">
                <a:solidFill>
                  <a:srgbClr val="00B050"/>
                </a:solidFill>
                <a:latin typeface="仿宋" panose="02010609060101010101" pitchFamily="49" charset="-122"/>
                <a:ea typeface="仿宋" panose="02010609060101010101" pitchFamily="49" charset="-122"/>
              </a:rPr>
              <a:t>俗名为美人。</a:t>
            </a:r>
            <a:r>
              <a:rPr lang="zh-CN" altLang="en-US" sz="2000">
                <a:solidFill>
                  <a:srgbClr val="FF0000"/>
                </a:solidFill>
                <a:latin typeface="仿宋" panose="02010609060101010101" pitchFamily="49" charset="-122"/>
                <a:ea typeface="仿宋" panose="02010609060101010101" pitchFamily="49" charset="-122"/>
              </a:rPr>
              <a:t>虹江东呼雩，音芋</a:t>
            </a:r>
            <a:r>
              <a:rPr lang="zh-CN" altLang="en-US" sz="3200">
                <a:solidFill>
                  <a:srgbClr val="FF000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蜺为挈</a:t>
            </a:r>
            <a:r>
              <a:rPr lang="zh-CN" altLang="en-US" sz="2000">
                <a:solidFill>
                  <a:srgbClr val="00B050"/>
                </a:solidFill>
                <a:latin typeface="仿宋" panose="02010609060101010101" pitchFamily="49" charset="-122"/>
                <a:ea typeface="仿宋" panose="02010609060101010101" pitchFamily="49" charset="-122"/>
              </a:rPr>
              <a:t>音怯</a:t>
            </a:r>
            <a:r>
              <a:rPr lang="zh-CN" altLang="en-US" sz="3200">
                <a:solidFill>
                  <a:srgbClr val="00B050"/>
                </a:solidFill>
                <a:latin typeface="仿宋" panose="02010609060101010101" pitchFamily="49" charset="-122"/>
                <a:ea typeface="仿宋" panose="02010609060101010101" pitchFamily="49" charset="-122"/>
              </a:rPr>
              <a:t>贰</a:t>
            </a:r>
            <a:r>
              <a:rPr lang="zh-CN" altLang="en-US" sz="2000">
                <a:solidFill>
                  <a:srgbClr val="00B050"/>
                </a:solidFill>
                <a:latin typeface="仿宋" panose="02010609060101010101" pitchFamily="49" charset="-122"/>
                <a:ea typeface="仿宋" panose="02010609060101010101" pitchFamily="49" charset="-122"/>
              </a:rPr>
              <a:t>蜺，雌虹也，见</a:t>
            </a:r>
            <a:r>
              <a:rPr lang="en-US" altLang="zh-CN" sz="2000">
                <a:solidFill>
                  <a:srgbClr val="00B050"/>
                </a:solidFill>
                <a:latin typeface="仿宋" panose="02010609060101010101" pitchFamily="49" charset="-122"/>
                <a:ea typeface="仿宋" panose="02010609060101010101" pitchFamily="49" charset="-122"/>
              </a:rPr>
              <a:t>《</a:t>
            </a:r>
            <a:r>
              <a:rPr lang="zh-CN" altLang="en-US" sz="2000">
                <a:solidFill>
                  <a:srgbClr val="00B050"/>
                </a:solidFill>
                <a:latin typeface="仿宋" panose="02010609060101010101" pitchFamily="49" charset="-122"/>
                <a:ea typeface="仿宋" panose="02010609060101010101" pitchFamily="49" charset="-122"/>
              </a:rPr>
              <a:t>离骚</a:t>
            </a:r>
            <a:r>
              <a:rPr lang="en-US" altLang="zh-CN" sz="2000">
                <a:solidFill>
                  <a:srgbClr val="00B050"/>
                </a:solidFill>
                <a:latin typeface="仿宋" panose="02010609060101010101" pitchFamily="49" charset="-122"/>
                <a:ea typeface="仿宋" panose="02010609060101010101" pitchFamily="49" charset="-122"/>
              </a:rPr>
              <a:t>》</a:t>
            </a:r>
            <a:r>
              <a:rPr lang="zh-CN" altLang="en-US" sz="2000">
                <a:solidFill>
                  <a:srgbClr val="00B050"/>
                </a:solidFill>
                <a:latin typeface="仿宋" panose="02010609060101010101" pitchFamily="49" charset="-122"/>
                <a:ea typeface="仿宋" panose="02010609060101010101" pitchFamily="49" charset="-122"/>
              </a:rPr>
              <a:t>。挈贰，其别名，见</a:t>
            </a:r>
            <a:r>
              <a:rPr lang="en-US" altLang="zh-CN" sz="2000">
                <a:solidFill>
                  <a:srgbClr val="00B050"/>
                </a:solidFill>
                <a:latin typeface="仿宋" panose="02010609060101010101" pitchFamily="49" charset="-122"/>
                <a:ea typeface="仿宋" panose="02010609060101010101" pitchFamily="49" charset="-122"/>
              </a:rPr>
              <a:t>《</a:t>
            </a:r>
            <a:r>
              <a:rPr lang="zh-CN" altLang="en-US" sz="2000">
                <a:solidFill>
                  <a:srgbClr val="00B050"/>
                </a:solidFill>
                <a:latin typeface="仿宋" panose="02010609060101010101" pitchFamily="49" charset="-122"/>
                <a:ea typeface="仿宋" panose="02010609060101010101" pitchFamily="49" charset="-122"/>
              </a:rPr>
              <a:t>尸子</a:t>
            </a:r>
            <a:r>
              <a:rPr lang="en-US" altLang="zh-CN" sz="20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a:t>
            </a:r>
          </a:p>
          <a:p>
            <a:r>
              <a:rPr lang="zh-CN" altLang="en-US" sz="3200">
                <a:solidFill>
                  <a:srgbClr val="00B050"/>
                </a:solidFill>
                <a:latin typeface="仿宋" panose="02010609060101010101" pitchFamily="49" charset="-122"/>
                <a:ea typeface="仿宋" panose="02010609060101010101" pitchFamily="49" charset="-122"/>
              </a:rPr>
              <a:t>    玄应</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一切经音义</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卷第二十五：虹电</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说文</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：螮蝀，虹也。</a:t>
            </a:r>
            <a:r>
              <a:rPr lang="zh-CN" altLang="en-US" sz="3200">
                <a:solidFill>
                  <a:srgbClr val="FF0000"/>
                </a:solidFill>
                <a:latin typeface="仿宋" panose="02010609060101010101" pitchFamily="49" charset="-122"/>
                <a:ea typeface="仿宋" panose="02010609060101010101" pitchFamily="49" charset="-122"/>
              </a:rPr>
              <a:t>江东呼为雩。</a:t>
            </a:r>
            <a:r>
              <a:rPr lang="en-US" altLang="zh-CN" sz="3200">
                <a:solidFill>
                  <a:srgbClr val="00B050"/>
                </a:solidFill>
                <a:latin typeface="仿宋" panose="02010609060101010101" pitchFamily="49" charset="-122"/>
                <a:ea typeface="仿宋" panose="02010609060101010101" pitchFamily="49" charset="-122"/>
              </a:rPr>
              <a:t>……</a:t>
            </a:r>
          </a:p>
          <a:p>
            <a:r>
              <a:rPr lang="en-US" altLang="zh-CN" sz="3200">
                <a:solidFill>
                  <a:srgbClr val="00B050"/>
                </a:solidFill>
                <a:latin typeface="仿宋" panose="02010609060101010101" pitchFamily="49" charset="-122"/>
                <a:ea typeface="仿宋" panose="02010609060101010101" pitchFamily="49" charset="-122"/>
              </a:rPr>
              <a:t>    《</a:t>
            </a:r>
            <a:r>
              <a:rPr lang="zh-CN" altLang="en-US" sz="3200">
                <a:solidFill>
                  <a:srgbClr val="00B050"/>
                </a:solidFill>
                <a:latin typeface="仿宋" panose="02010609060101010101" pitchFamily="49" charset="-122"/>
                <a:ea typeface="仿宋" panose="02010609060101010101" pitchFamily="49" charset="-122"/>
              </a:rPr>
              <a:t>集韵</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去声遇韵王遇切：“雩</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求雨祭。</a:t>
            </a:r>
            <a:r>
              <a:rPr lang="zh-CN" altLang="en-US" sz="3200">
                <a:solidFill>
                  <a:srgbClr val="FF0000"/>
                </a:solidFill>
                <a:latin typeface="仿宋" panose="02010609060101010101" pitchFamily="49" charset="-122"/>
                <a:ea typeface="仿宋" panose="02010609060101010101" pitchFamily="49" charset="-122"/>
              </a:rPr>
              <a:t>一曰吴人谓虹曰雲</a:t>
            </a:r>
            <a:r>
              <a:rPr lang="zh-CN" altLang="en-US" sz="3200">
                <a:solidFill>
                  <a:srgbClr val="00B050"/>
                </a:solidFill>
                <a:latin typeface="仿宋" panose="02010609060101010101" pitchFamily="49" charset="-122"/>
                <a:ea typeface="仿宋" panose="02010609060101010101" pitchFamily="49" charset="-122"/>
              </a:rPr>
              <a:t>”（“雲”应为“雩”之误，日本宫内厅书陵部所藏金州军刻本正作“雩”。     </a:t>
            </a:r>
          </a:p>
          <a:p>
            <a:r>
              <a:rPr lang="zh-CN" altLang="en-US" sz="3200">
                <a:solidFill>
                  <a:srgbClr val="00B050"/>
                </a:solidFill>
                <a:latin typeface="仿宋" panose="02010609060101010101" pitchFamily="49" charset="-122"/>
                <a:ea typeface="仿宋" panose="02010609060101010101" pitchFamily="49" charset="-122"/>
              </a:rPr>
              <a:t>    </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类篇</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雨部：“雩，</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又王遇切。</a:t>
            </a:r>
            <a:r>
              <a:rPr lang="zh-CN" altLang="en-US" sz="3200">
                <a:solidFill>
                  <a:srgbClr val="FF0000"/>
                </a:solidFill>
                <a:latin typeface="仿宋" panose="02010609060101010101" pitchFamily="49" charset="-122"/>
                <a:ea typeface="仿宋" panose="02010609060101010101" pitchFamily="49" charset="-122"/>
              </a:rPr>
              <a:t>一曰吴人谓虹曰雩</a:t>
            </a:r>
            <a:r>
              <a:rPr lang="zh-CN" altLang="en-US" sz="3200">
                <a:solidFill>
                  <a:srgbClr val="00B050"/>
                </a:solidFill>
                <a:latin typeface="仿宋" panose="02010609060101010101" pitchFamily="49" charset="-122"/>
                <a:ea typeface="仿宋" panose="02010609060101010101" pitchFamily="49" charset="-122"/>
              </a:rPr>
              <a:t>。”）</a:t>
            </a:r>
          </a:p>
          <a:p>
            <a:endParaRPr lang="en-US" altLang="zh-CN" sz="3200">
              <a:solidFill>
                <a:srgbClr val="00B050"/>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365709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0"/>
            <a:ext cx="8280400" cy="6810375"/>
          </a:xfrm>
          <a:prstGeom prst="rect">
            <a:avLst/>
          </a:prstGeom>
          <a:noFill/>
          <a:ln w="6350">
            <a:solidFill>
              <a:srgbClr val="0000FF"/>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37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76250"/>
            <a:ext cx="6950075" cy="57816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3429000"/>
            <a:ext cx="158750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786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102870"/>
            <a:ext cx="9052560" cy="2585323"/>
          </a:xfrm>
          <a:prstGeom prst="rect">
            <a:avLst/>
          </a:prstGeom>
          <a:noFill/>
        </p:spPr>
        <p:txBody>
          <a:bodyPr wrap="square" rtlCol="0">
            <a:spAutoFit/>
          </a:bodyPr>
          <a:lstStyle/>
          <a:p>
            <a:r>
              <a:rPr lang="zh-CN" altLang="en-US" sz="3600">
                <a:solidFill>
                  <a:srgbClr val="0000FF"/>
                </a:solidFill>
                <a:latin typeface="华文中宋" panose="02010600040101010101" pitchFamily="2" charset="-122"/>
                <a:ea typeface="华文中宋" panose="02010600040101010101" pitchFamily="2" charset="-122"/>
              </a:rPr>
              <a:t>       从图可见，“鲎”</a:t>
            </a:r>
            <a:r>
              <a:rPr lang="en-US" altLang="zh-CN" sz="3600">
                <a:solidFill>
                  <a:srgbClr val="0000FF"/>
                </a:solidFill>
                <a:latin typeface="华文中宋" panose="02010600040101010101" pitchFamily="2" charset="-122"/>
                <a:ea typeface="华文中宋" panose="02010600040101010101" pitchFamily="2" charset="-122"/>
              </a:rPr>
              <a:t>(</a:t>
            </a:r>
            <a:r>
              <a:rPr lang="zh-CN" altLang="en-US" sz="3600">
                <a:solidFill>
                  <a:srgbClr val="0000FF"/>
                </a:solidFill>
                <a:latin typeface="华文中宋" panose="02010600040101010101" pitchFamily="2" charset="-122"/>
                <a:ea typeface="华文中宋" panose="02010600040101010101" pitchFamily="2" charset="-122"/>
              </a:rPr>
              <a:t>虹</a:t>
            </a:r>
            <a:r>
              <a:rPr lang="en-US" altLang="zh-CN" sz="3600">
                <a:solidFill>
                  <a:srgbClr val="0000FF"/>
                </a:solidFill>
                <a:latin typeface="华文中宋" panose="02010600040101010101" pitchFamily="2" charset="-122"/>
                <a:ea typeface="华文中宋" panose="02010600040101010101" pitchFamily="2" charset="-122"/>
              </a:rPr>
              <a:t>)</a:t>
            </a:r>
            <a:r>
              <a:rPr lang="zh-CN" altLang="en-US" sz="3600">
                <a:solidFill>
                  <a:srgbClr val="0000FF"/>
                </a:solidFill>
                <a:latin typeface="华文中宋" panose="02010600040101010101" pitchFamily="2" charset="-122"/>
                <a:ea typeface="华文中宋" panose="02010600040101010101" pitchFamily="2" charset="-122"/>
              </a:rPr>
              <a:t>主要分布在浙江、上海和苏南，构成连续分布，说“鲎”和不说“鲎”的方言之间可以画出一条相当规整的同言线来。</a:t>
            </a:r>
          </a:p>
          <a:p>
            <a:endParaRPr lang="zh-CN" altLang="en-US"/>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4590" y="2433315"/>
            <a:ext cx="5189220" cy="44062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9515" y="4478654"/>
            <a:ext cx="1062061" cy="2402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692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0020" y="205740"/>
            <a:ext cx="8869680" cy="6001643"/>
          </a:xfrm>
          <a:prstGeom prst="rect">
            <a:avLst/>
          </a:prstGeom>
          <a:noFill/>
        </p:spPr>
        <p:txBody>
          <a:bodyPr wrap="square" rtlCol="0">
            <a:spAutoFit/>
          </a:bodyPr>
          <a:lstStyle/>
          <a:p>
            <a:r>
              <a:rPr lang="zh-CN" altLang="en-US" sz="3200">
                <a:solidFill>
                  <a:srgbClr val="0000FF"/>
                </a:solidFill>
                <a:latin typeface="华文中宋" panose="02010600040101010101" pitchFamily="2" charset="-122"/>
                <a:ea typeface="华文中宋" panose="02010600040101010101" pitchFamily="2" charset="-122"/>
              </a:rPr>
              <a:t>       吴语说“鲎”的方言是主体</a:t>
            </a:r>
            <a:r>
              <a:rPr lang="en-US" altLang="zh-CN" sz="3200">
                <a:solidFill>
                  <a:srgbClr val="0000FF"/>
                </a:solidFill>
                <a:latin typeface="华文中宋" panose="02010600040101010101" pitchFamily="2" charset="-122"/>
                <a:ea typeface="华文中宋" panose="02010600040101010101" pitchFamily="2" charset="-122"/>
              </a:rPr>
              <a:t>, 121 </a:t>
            </a:r>
            <a:r>
              <a:rPr lang="zh-CN" altLang="en-US" sz="3200">
                <a:solidFill>
                  <a:srgbClr val="0000FF"/>
                </a:solidFill>
                <a:latin typeface="华文中宋" panose="02010600040101010101" pitchFamily="2" charset="-122"/>
                <a:ea typeface="华文中宋" panose="02010600040101010101" pitchFamily="2" charset="-122"/>
              </a:rPr>
              <a:t>个方言点中有 </a:t>
            </a:r>
            <a:r>
              <a:rPr lang="en-US" altLang="zh-CN" sz="3200">
                <a:solidFill>
                  <a:srgbClr val="0000FF"/>
                </a:solidFill>
                <a:latin typeface="华文中宋" panose="02010600040101010101" pitchFamily="2" charset="-122"/>
                <a:ea typeface="华文中宋" panose="02010600040101010101" pitchFamily="2" charset="-122"/>
              </a:rPr>
              <a:t>96 </a:t>
            </a:r>
            <a:r>
              <a:rPr lang="zh-CN" altLang="en-US" sz="3200">
                <a:solidFill>
                  <a:srgbClr val="0000FF"/>
                </a:solidFill>
                <a:latin typeface="华文中宋" panose="02010600040101010101" pitchFamily="2" charset="-122"/>
                <a:ea typeface="华文中宋" panose="02010600040101010101" pitchFamily="2" charset="-122"/>
              </a:rPr>
              <a:t>个点说“鲎”，约占 </a:t>
            </a:r>
            <a:r>
              <a:rPr lang="en-US" altLang="zh-CN" sz="3200">
                <a:solidFill>
                  <a:srgbClr val="0000FF"/>
                </a:solidFill>
                <a:latin typeface="华文中宋" panose="02010600040101010101" pitchFamily="2" charset="-122"/>
                <a:ea typeface="华文中宋" panose="02010600040101010101" pitchFamily="2" charset="-122"/>
              </a:rPr>
              <a:t>79%, </a:t>
            </a:r>
            <a:r>
              <a:rPr lang="zh-CN" altLang="en-US" sz="3200">
                <a:solidFill>
                  <a:srgbClr val="0000FF"/>
                </a:solidFill>
                <a:latin typeface="华文中宋" panose="02010600040101010101" pitchFamily="2" charset="-122"/>
                <a:ea typeface="华文中宋" panose="02010600040101010101" pitchFamily="2" charset="-122"/>
              </a:rPr>
              <a:t>只有西部和南部的部分方言不说“鲎”。而其他方言说“鲎”的很少，</a:t>
            </a:r>
            <a:r>
              <a:rPr lang="en-US" altLang="zh-CN" sz="3200">
                <a:solidFill>
                  <a:srgbClr val="0000FF"/>
                </a:solidFill>
                <a:latin typeface="华文中宋" panose="02010600040101010101" pitchFamily="2" charset="-122"/>
                <a:ea typeface="华文中宋" panose="02010600040101010101" pitchFamily="2" charset="-122"/>
              </a:rPr>
              <a:t>809  </a:t>
            </a:r>
            <a:r>
              <a:rPr lang="zh-CN" altLang="en-US" sz="3200">
                <a:solidFill>
                  <a:srgbClr val="0000FF"/>
                </a:solidFill>
                <a:latin typeface="华文中宋" panose="02010600040101010101" pitchFamily="2" charset="-122"/>
                <a:ea typeface="华文中宋" panose="02010600040101010101" pitchFamily="2" charset="-122"/>
              </a:rPr>
              <a:t>个方言点中只有 </a:t>
            </a:r>
            <a:r>
              <a:rPr lang="en-US" altLang="zh-CN" sz="3200">
                <a:solidFill>
                  <a:srgbClr val="0000FF"/>
                </a:solidFill>
                <a:latin typeface="华文中宋" panose="02010600040101010101" pitchFamily="2" charset="-122"/>
                <a:ea typeface="华文中宋" panose="02010600040101010101" pitchFamily="2" charset="-122"/>
              </a:rPr>
              <a:t>7  </a:t>
            </a:r>
            <a:r>
              <a:rPr lang="zh-CN" altLang="en-US" sz="3200">
                <a:solidFill>
                  <a:srgbClr val="0000FF"/>
                </a:solidFill>
                <a:latin typeface="华文中宋" panose="02010600040101010101" pitchFamily="2" charset="-122"/>
                <a:ea typeface="华文中宋" panose="02010600040101010101" pitchFamily="2" charset="-122"/>
              </a:rPr>
              <a:t>个点说“鲎”，还不到  </a:t>
            </a:r>
            <a:r>
              <a:rPr lang="en-US" altLang="zh-CN" sz="3200">
                <a:solidFill>
                  <a:srgbClr val="0000FF"/>
                </a:solidFill>
                <a:latin typeface="华文中宋" panose="02010600040101010101" pitchFamily="2" charset="-122"/>
                <a:ea typeface="华文中宋" panose="02010600040101010101" pitchFamily="2" charset="-122"/>
              </a:rPr>
              <a:t>1%</a:t>
            </a:r>
            <a:r>
              <a:rPr lang="zh-CN" altLang="en-US" sz="3200">
                <a:solidFill>
                  <a:srgbClr val="0000FF"/>
                </a:solidFill>
                <a:latin typeface="华文中宋" panose="02010600040101010101" pitchFamily="2" charset="-122"/>
                <a:ea typeface="华文中宋" panose="02010600040101010101" pitchFamily="2" charset="-122"/>
              </a:rPr>
              <a:t>。浙西说“鲎”的三个非吴语（建德市三都镇塘下山村、寿昌旧县，今建德市寿昌镇城北、淳安千岛湖）属于徽语，如果把徽语看作是吴语的一种变体，它们就不是例外。</a:t>
            </a:r>
          </a:p>
          <a:p>
            <a:r>
              <a:rPr lang="zh-CN" altLang="en-US" sz="3200">
                <a:solidFill>
                  <a:srgbClr val="0000FF"/>
                </a:solidFill>
                <a:latin typeface="华文中宋" panose="02010600040101010101" pitchFamily="2" charset="-122"/>
                <a:ea typeface="华文中宋" panose="02010600040101010101" pitchFamily="2" charset="-122"/>
              </a:rPr>
              <a:t>      苏南说“鲎”的四个非吴语</a:t>
            </a:r>
            <a:r>
              <a:rPr lang="en-US" altLang="zh-CN" sz="3200">
                <a:solidFill>
                  <a:srgbClr val="0000FF"/>
                </a:solidFill>
                <a:latin typeface="华文中宋" panose="02010600040101010101" pitchFamily="2" charset="-122"/>
                <a:ea typeface="华文中宋" panose="02010600040101010101" pitchFamily="2" charset="-122"/>
              </a:rPr>
              <a:t>(</a:t>
            </a:r>
            <a:r>
              <a:rPr lang="zh-CN" altLang="en-US" sz="3200">
                <a:solidFill>
                  <a:srgbClr val="0000FF"/>
                </a:solidFill>
                <a:latin typeface="华文中宋" panose="02010600040101010101" pitchFamily="2" charset="-122"/>
                <a:ea typeface="华文中宋" panose="02010600040101010101" pitchFamily="2" charset="-122"/>
              </a:rPr>
              <a:t>如东县掘港镇陈高村、南通市崇川区、靖江市八圩镇江峰村、扬中市西来桥镇福星村</a:t>
            </a:r>
            <a:r>
              <a:rPr lang="en-US" altLang="zh-CN" sz="3200">
                <a:solidFill>
                  <a:srgbClr val="0000FF"/>
                </a:solidFill>
                <a:latin typeface="华文中宋" panose="02010600040101010101" pitchFamily="2" charset="-122"/>
                <a:ea typeface="华文中宋" panose="02010600040101010101" pitchFamily="2" charset="-122"/>
              </a:rPr>
              <a:t>)</a:t>
            </a:r>
            <a:r>
              <a:rPr lang="zh-CN" altLang="en-US" sz="3200">
                <a:solidFill>
                  <a:srgbClr val="0000FF"/>
                </a:solidFill>
                <a:latin typeface="华文中宋" panose="02010600040101010101" pitchFamily="2" charset="-122"/>
                <a:ea typeface="华文中宋" panose="02010600040101010101" pitchFamily="2" charset="-122"/>
              </a:rPr>
              <a:t>都是江淮官话</a:t>
            </a:r>
            <a:r>
              <a:rPr lang="en-US" altLang="zh-CN" sz="3200">
                <a:solidFill>
                  <a:srgbClr val="0000FF"/>
                </a:solidFill>
                <a:latin typeface="华文中宋" panose="02010600040101010101" pitchFamily="2" charset="-122"/>
                <a:ea typeface="华文中宋" panose="02010600040101010101" pitchFamily="2" charset="-122"/>
              </a:rPr>
              <a:t>, </a:t>
            </a:r>
            <a:r>
              <a:rPr lang="zh-CN" altLang="en-US" sz="3200">
                <a:solidFill>
                  <a:srgbClr val="0000FF"/>
                </a:solidFill>
                <a:latin typeface="华文中宋" panose="02010600040101010101" pitchFamily="2" charset="-122"/>
                <a:ea typeface="华文中宋" panose="02010600040101010101" pitchFamily="2" charset="-122"/>
              </a:rPr>
              <a:t>紧挨吴语的北界</a:t>
            </a:r>
            <a:r>
              <a:rPr lang="en-US" altLang="zh-CN" sz="3200">
                <a:solidFill>
                  <a:srgbClr val="0000FF"/>
                </a:solidFill>
                <a:latin typeface="华文中宋" panose="02010600040101010101" pitchFamily="2" charset="-122"/>
                <a:ea typeface="华文中宋" panose="02010600040101010101" pitchFamily="2" charset="-122"/>
              </a:rPr>
              <a:t>, “</a:t>
            </a:r>
            <a:r>
              <a:rPr lang="zh-CN" altLang="en-US" sz="3200">
                <a:solidFill>
                  <a:srgbClr val="0000FF"/>
                </a:solidFill>
                <a:latin typeface="华文中宋" panose="02010600040101010101" pitchFamily="2" charset="-122"/>
                <a:ea typeface="华文中宋" panose="02010600040101010101" pitchFamily="2" charset="-122"/>
              </a:rPr>
              <a:t>鲎”显然跟吴语脱不了干系。</a:t>
            </a:r>
            <a:endParaRPr lang="zh-CN" altLang="en-US"/>
          </a:p>
        </p:txBody>
      </p:sp>
    </p:spTree>
    <p:extLst>
      <p:ext uri="{BB962C8B-B14F-4D97-AF65-F5344CB8AC3E}">
        <p14:creationId xmlns:p14="http://schemas.microsoft.com/office/powerpoint/2010/main" val="3903263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0020" y="788670"/>
            <a:ext cx="8869680" cy="4216539"/>
          </a:xfrm>
          <a:prstGeom prst="rect">
            <a:avLst/>
          </a:prstGeom>
          <a:noFill/>
        </p:spPr>
        <p:txBody>
          <a:bodyPr wrap="square" rtlCol="0">
            <a:spAutoFit/>
          </a:bodyPr>
          <a:lstStyle/>
          <a:p>
            <a:r>
              <a:rPr lang="zh-CN" altLang="en-US" sz="4400">
                <a:solidFill>
                  <a:srgbClr val="00B050"/>
                </a:solidFill>
                <a:latin typeface="华文中宋" panose="02010600040101010101" pitchFamily="2" charset="-122"/>
                <a:ea typeface="华文中宋" panose="02010600040101010101" pitchFamily="2" charset="-122"/>
              </a:rPr>
              <a:t>       根据方言地图所呈现的“鲎” </a:t>
            </a:r>
            <a:r>
              <a:rPr lang="en-US" altLang="zh-CN" sz="4400">
                <a:solidFill>
                  <a:srgbClr val="00B050"/>
                </a:solidFill>
                <a:latin typeface="华文中宋" panose="02010600040101010101" pitchFamily="2" charset="-122"/>
                <a:ea typeface="华文中宋" panose="02010600040101010101" pitchFamily="2" charset="-122"/>
              </a:rPr>
              <a:t>(</a:t>
            </a:r>
            <a:r>
              <a:rPr lang="zh-CN" altLang="en-US" sz="4400">
                <a:solidFill>
                  <a:srgbClr val="00B050"/>
                </a:solidFill>
                <a:latin typeface="华文中宋" panose="02010600040101010101" pitchFamily="2" charset="-122"/>
                <a:ea typeface="华文中宋" panose="02010600040101010101" pitchFamily="2" charset="-122"/>
              </a:rPr>
              <a:t>虹</a:t>
            </a:r>
            <a:r>
              <a:rPr lang="en-US" altLang="zh-CN" sz="4400">
                <a:solidFill>
                  <a:srgbClr val="00B050"/>
                </a:solidFill>
                <a:latin typeface="华文中宋" panose="02010600040101010101" pitchFamily="2" charset="-122"/>
                <a:ea typeface="华文中宋" panose="02010600040101010101" pitchFamily="2" charset="-122"/>
              </a:rPr>
              <a:t>)</a:t>
            </a:r>
            <a:r>
              <a:rPr lang="zh-CN" altLang="en-US" sz="4400">
                <a:solidFill>
                  <a:srgbClr val="00B050"/>
                </a:solidFill>
                <a:latin typeface="华文中宋" panose="02010600040101010101" pitchFamily="2" charset="-122"/>
                <a:ea typeface="华文中宋" panose="02010600040101010101" pitchFamily="2" charset="-122"/>
              </a:rPr>
              <a:t>的地理分布态势，把“鲎”</a:t>
            </a:r>
            <a:r>
              <a:rPr lang="en-US" altLang="zh-CN" sz="4400">
                <a:solidFill>
                  <a:srgbClr val="00B050"/>
                </a:solidFill>
                <a:latin typeface="华文中宋" panose="02010600040101010101" pitchFamily="2" charset="-122"/>
                <a:ea typeface="华文中宋" panose="02010600040101010101" pitchFamily="2" charset="-122"/>
              </a:rPr>
              <a:t>(</a:t>
            </a:r>
            <a:r>
              <a:rPr lang="zh-CN" altLang="en-US" sz="4400">
                <a:solidFill>
                  <a:srgbClr val="00B050"/>
                </a:solidFill>
                <a:latin typeface="华文中宋" panose="02010600040101010101" pitchFamily="2" charset="-122"/>
                <a:ea typeface="华文中宋" panose="02010600040101010101" pitchFamily="2" charset="-122"/>
              </a:rPr>
              <a:t>虹</a:t>
            </a:r>
            <a:r>
              <a:rPr lang="en-US" altLang="zh-CN" sz="4400">
                <a:solidFill>
                  <a:srgbClr val="00B050"/>
                </a:solidFill>
                <a:latin typeface="华文中宋" panose="02010600040101010101" pitchFamily="2" charset="-122"/>
                <a:ea typeface="华文中宋" panose="02010600040101010101" pitchFamily="2" charset="-122"/>
              </a:rPr>
              <a:t>) </a:t>
            </a:r>
            <a:r>
              <a:rPr lang="zh-CN" altLang="en-US" sz="4400">
                <a:solidFill>
                  <a:srgbClr val="00B050"/>
                </a:solidFill>
                <a:latin typeface="华文中宋" panose="02010600040101010101" pitchFamily="2" charset="-122"/>
                <a:ea typeface="华文中宋" panose="02010600040101010101" pitchFamily="2" charset="-122"/>
              </a:rPr>
              <a:t>视为吴语的特征词之一大概是合适的。现代方言的情况完全印证了文献的记载。 </a:t>
            </a:r>
          </a:p>
          <a:p>
            <a:endParaRPr lang="zh-CN" altLang="en-US" sz="4800">
              <a:solidFill>
                <a:srgbClr val="00B050"/>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225513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0480" y="0"/>
            <a:ext cx="8973520" cy="6324808"/>
          </a:xfrm>
          <a:prstGeom prst="rect">
            <a:avLst/>
          </a:prstGeom>
          <a:noFill/>
        </p:spPr>
        <p:txBody>
          <a:bodyPr wrap="square" rtlCol="0">
            <a:spAutoFit/>
          </a:bodyPr>
          <a:lstStyle/>
          <a:p>
            <a:r>
              <a:rPr lang="en-US" altLang="zh-CN" sz="3300">
                <a:solidFill>
                  <a:srgbClr val="0000FF"/>
                </a:solidFill>
                <a:latin typeface="华文中宋" panose="02010600040101010101" pitchFamily="2" charset="-122"/>
                <a:ea typeface="华文中宋" panose="02010600040101010101" pitchFamily="2" charset="-122"/>
              </a:rPr>
              <a:t>      </a:t>
            </a:r>
            <a:r>
              <a:rPr lang="zh-CN" altLang="en-US" sz="3300">
                <a:solidFill>
                  <a:srgbClr val="0000FF"/>
                </a:solidFill>
                <a:latin typeface="华文中宋" panose="02010600040101010101" pitchFamily="2" charset="-122"/>
                <a:ea typeface="华文中宋" panose="02010600040101010101" pitchFamily="2" charset="-122"/>
              </a:rPr>
              <a:t>③</a:t>
            </a:r>
            <a:r>
              <a:rPr lang="zh-CN" altLang="zh-CN" sz="3100">
                <a:solidFill>
                  <a:srgbClr val="0000FF"/>
                </a:solidFill>
                <a:latin typeface="华文中宋" panose="02010600040101010101" pitchFamily="2" charset="-122"/>
                <a:ea typeface="华文中宋" panose="02010600040101010101" pitchFamily="2" charset="-122"/>
              </a:rPr>
              <a:t>从语言学的角度看，每一种地方方言都是自足的系统，都可以很好地为该地域的人们服务，实现其交际工具和思维工具的作用，因此它们的地位是平等的，不存在一种方言比另一种方言更高级或更完善的问题。</a:t>
            </a:r>
            <a:endParaRPr lang="en-US" altLang="zh-CN" sz="3100">
              <a:solidFill>
                <a:srgbClr val="0000FF"/>
              </a:solidFill>
              <a:latin typeface="华文中宋" panose="02010600040101010101" pitchFamily="2" charset="-122"/>
              <a:ea typeface="华文中宋" panose="02010600040101010101" pitchFamily="2" charset="-122"/>
            </a:endParaRPr>
          </a:p>
          <a:p>
            <a:r>
              <a:rPr lang="en-US" altLang="zh-CN" sz="3100">
                <a:solidFill>
                  <a:srgbClr val="0000FF"/>
                </a:solidFill>
                <a:latin typeface="华文中宋" panose="02010600040101010101" pitchFamily="2" charset="-122"/>
                <a:ea typeface="华文中宋" panose="02010600040101010101" pitchFamily="2" charset="-122"/>
              </a:rPr>
              <a:t>       </a:t>
            </a:r>
            <a:r>
              <a:rPr lang="zh-CN" altLang="zh-CN" sz="3100">
                <a:solidFill>
                  <a:srgbClr val="0000FF"/>
                </a:solidFill>
                <a:latin typeface="华文中宋" panose="02010600040101010101" pitchFamily="2" charset="-122"/>
                <a:ea typeface="华文中宋" panose="02010600040101010101" pitchFamily="2" charset="-122"/>
              </a:rPr>
              <a:t>不过在实际生活中</a:t>
            </a:r>
            <a:r>
              <a:rPr lang="zh-CN" altLang="en-US" sz="3100">
                <a:solidFill>
                  <a:srgbClr val="0000FF"/>
                </a:solidFill>
                <a:latin typeface="华文中宋" panose="02010600040101010101" pitchFamily="2" charset="-122"/>
                <a:ea typeface="华文中宋" panose="02010600040101010101" pitchFamily="2" charset="-122"/>
              </a:rPr>
              <a:t>，</a:t>
            </a:r>
            <a:r>
              <a:rPr lang="zh-CN" altLang="zh-CN" sz="3100">
                <a:solidFill>
                  <a:srgbClr val="0000FF"/>
                </a:solidFill>
                <a:latin typeface="华文中宋" panose="02010600040101010101" pitchFamily="2" charset="-122"/>
                <a:ea typeface="华文中宋" panose="02010600040101010101" pitchFamily="2" charset="-122"/>
              </a:rPr>
              <a:t>人们对不同的方言往往又会持有不同的态度</a:t>
            </a:r>
            <a:r>
              <a:rPr lang="zh-CN" altLang="en-US" sz="3100">
                <a:solidFill>
                  <a:srgbClr val="0000FF"/>
                </a:solidFill>
                <a:latin typeface="华文中宋" panose="02010600040101010101" pitchFamily="2" charset="-122"/>
                <a:ea typeface="华文中宋" panose="02010600040101010101" pitchFamily="2" charset="-122"/>
              </a:rPr>
              <a:t>，</a:t>
            </a:r>
            <a:r>
              <a:rPr lang="zh-CN" altLang="zh-CN" sz="3100">
                <a:solidFill>
                  <a:srgbClr val="0000FF"/>
                </a:solidFill>
                <a:latin typeface="华文中宋" panose="02010600040101010101" pitchFamily="2" charset="-122"/>
                <a:ea typeface="华文中宋" panose="02010600040101010101" pitchFamily="2" charset="-122"/>
              </a:rPr>
              <a:t>比如对别人所说的方言存在喜好或厌恶感，对自己的方言存在自豪或自卑感。这是语言劣势原则（</a:t>
            </a:r>
            <a:r>
              <a:rPr lang="en-US" altLang="zh-CN" sz="3100">
                <a:solidFill>
                  <a:srgbClr val="0000FF"/>
                </a:solidFill>
                <a:latin typeface="华文中宋" panose="02010600040101010101" pitchFamily="2" charset="-122"/>
                <a:ea typeface="华文中宋" panose="02010600040101010101" pitchFamily="2" charset="-122"/>
              </a:rPr>
              <a:t>linguistic inferiority principle</a:t>
            </a:r>
            <a:r>
              <a:rPr lang="zh-CN" altLang="zh-CN" sz="3100">
                <a:solidFill>
                  <a:srgbClr val="0000FF"/>
                </a:solidFill>
                <a:latin typeface="华文中宋" panose="02010600040101010101" pitchFamily="2" charset="-122"/>
                <a:ea typeface="华文中宋" panose="02010600040101010101" pitchFamily="2" charset="-122"/>
              </a:rPr>
              <a:t>）所导致的效应。即政治、经济、文化上处于劣势地位的社团所使用的方言往往也会被视为鄙俗难听的语言。反之，政治、经济、文化上处于优势地位的社团所使用的方言则往往会被视为优美动听的语言。</a:t>
            </a:r>
            <a:endParaRPr lang="zh-CN" altLang="en-US" sz="31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345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3067" y="0"/>
            <a:ext cx="8628043" cy="6124754"/>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二、汉语有多少方言？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200">
                <a:solidFill>
                  <a:srgbClr val="0000FF"/>
                </a:solidFill>
                <a:latin typeface="华文中宋" panose="02010600040101010101" pitchFamily="2" charset="-122"/>
                <a:ea typeface="华文中宋" panose="02010600040101010101" pitchFamily="2" charset="-122"/>
              </a:rPr>
              <a:t>      </a:t>
            </a:r>
            <a:r>
              <a:rPr lang="zh-CN" altLang="zh-CN" sz="3200">
                <a:solidFill>
                  <a:srgbClr val="0000FF"/>
                </a:solidFill>
                <a:latin typeface="华文中宋" panose="02010600040101010101" pitchFamily="2" charset="-122"/>
                <a:ea typeface="华文中宋" panose="02010600040101010101" pitchFamily="2" charset="-122"/>
              </a:rPr>
              <a:t>汉语是世界上使用人口最多的语言之一，其方言的分歧程度也是首屈一指的。</a:t>
            </a:r>
            <a:r>
              <a:rPr lang="zh-CN" altLang="en-US" sz="3200">
                <a:solidFill>
                  <a:srgbClr val="0000FF"/>
                </a:solidFill>
                <a:latin typeface="华文中宋" panose="02010600040101010101" pitchFamily="2" charset="-122"/>
                <a:ea typeface="华文中宋" panose="02010600040101010101" pitchFamily="2" charset="-122"/>
              </a:rPr>
              <a:t>也就是说，汉语有很多很多方言，可是到底有多少呢？</a:t>
            </a:r>
            <a:endParaRPr lang="en-US" altLang="zh-CN" sz="32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200">
                <a:solidFill>
                  <a:srgbClr val="0000FF"/>
                </a:solidFill>
                <a:latin typeface="华文中宋" panose="02010600040101010101" pitchFamily="2" charset="-122"/>
                <a:ea typeface="华文中宋" panose="02010600040101010101" pitchFamily="2" charset="-122"/>
              </a:rPr>
              <a:t>      </a:t>
            </a:r>
            <a:r>
              <a:rPr lang="zh-CN" altLang="en-US" sz="3200">
                <a:solidFill>
                  <a:srgbClr val="0000FF"/>
                </a:solidFill>
                <a:latin typeface="华文中宋" panose="02010600040101010101" pitchFamily="2" charset="-122"/>
                <a:ea typeface="华文中宋" panose="02010600040101010101" pitchFamily="2" charset="-122"/>
              </a:rPr>
              <a:t>如果不加概括，汉语有多少方言实际上是说不清的。一方面跟汉语分布区域广阔，还有大量的方言没有被调查过有关。另一方面也跟怎么样就算是一种方言的理解有关。如果只是口音有些不同就算不同的方言，那么汉语的方言就可谓成千上万，多得数不清，一个县都有可能存在几十种方言。</a:t>
            </a:r>
            <a:endParaRPr lang="en-US" altLang="zh-CN" sz="32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09076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4507" y="205740"/>
            <a:ext cx="8628043" cy="2554545"/>
          </a:xfrm>
          <a:prstGeom prst="rect">
            <a:avLst/>
          </a:prstGeom>
        </p:spPr>
        <p:txBody>
          <a:bodyPr wrap="square">
            <a:spAutoFit/>
          </a:bodyPr>
          <a:lstStyle/>
          <a:p>
            <a:pPr>
              <a:spcBef>
                <a:spcPct val="50000"/>
              </a:spcBef>
            </a:pPr>
            <a:r>
              <a:rPr lang="zh-CN" altLang="en-US" sz="3200">
                <a:solidFill>
                  <a:srgbClr val="0000FF"/>
                </a:solidFill>
                <a:latin typeface="华文中宋" panose="02010600040101010101" pitchFamily="2" charset="-122"/>
                <a:ea typeface="华文中宋" panose="02010600040101010101" pitchFamily="2" charset="-122"/>
              </a:rPr>
              <a:t>      如果加以概括，侧重宏观的大类，</a:t>
            </a:r>
            <a:r>
              <a:rPr lang="zh-CN" altLang="zh-CN" sz="3200">
                <a:solidFill>
                  <a:srgbClr val="0000FF"/>
                </a:solidFill>
                <a:latin typeface="华文中宋" panose="02010600040101010101" pitchFamily="2" charset="-122"/>
                <a:ea typeface="华文中宋" panose="02010600040101010101" pitchFamily="2" charset="-122"/>
              </a:rPr>
              <a:t>经过近</a:t>
            </a:r>
            <a:r>
              <a:rPr lang="zh-CN" altLang="en-US" sz="3200">
                <a:solidFill>
                  <a:srgbClr val="0000FF"/>
                </a:solidFill>
                <a:latin typeface="华文中宋" panose="02010600040101010101" pitchFamily="2" charset="-122"/>
                <a:ea typeface="华文中宋" panose="02010600040101010101" pitchFamily="2" charset="-122"/>
              </a:rPr>
              <a:t>百</a:t>
            </a:r>
            <a:r>
              <a:rPr lang="zh-CN" altLang="zh-CN" sz="3200">
                <a:solidFill>
                  <a:srgbClr val="0000FF"/>
                </a:solidFill>
                <a:latin typeface="华文中宋" panose="02010600040101010101" pitchFamily="2" charset="-122"/>
                <a:ea typeface="华文中宋" panose="02010600040101010101" pitchFamily="2" charset="-122"/>
              </a:rPr>
              <a:t>年的调查研究，现代汉语汉语方言的基本面貌已经大体清楚。自</a:t>
            </a:r>
            <a:r>
              <a:rPr lang="en-US" altLang="zh-CN" sz="3200">
                <a:solidFill>
                  <a:srgbClr val="0000FF"/>
                </a:solidFill>
                <a:latin typeface="华文中宋" panose="02010600040101010101" pitchFamily="2" charset="-122"/>
                <a:ea typeface="华文中宋" panose="02010600040101010101" pitchFamily="2" charset="-122"/>
              </a:rPr>
              <a:t> 1956</a:t>
            </a:r>
            <a:r>
              <a:rPr lang="en-US" altLang="zh-CN" sz="1600">
                <a:solidFill>
                  <a:srgbClr val="0000FF"/>
                </a:solidFill>
                <a:latin typeface="华文中宋" panose="02010600040101010101" pitchFamily="2" charset="-122"/>
                <a:ea typeface="华文中宋" panose="02010600040101010101" pitchFamily="2" charset="-122"/>
              </a:rPr>
              <a:t> </a:t>
            </a:r>
            <a:r>
              <a:rPr lang="zh-CN" altLang="en-US" sz="3200">
                <a:solidFill>
                  <a:srgbClr val="0000FF"/>
                </a:solidFill>
                <a:latin typeface="华文中宋" panose="02010600040101010101" pitchFamily="2" charset="-122"/>
                <a:ea typeface="华文中宋" panose="02010600040101010101" pitchFamily="2" charset="-122"/>
              </a:rPr>
              <a:t>～</a:t>
            </a:r>
            <a:r>
              <a:rPr lang="zh-CN" altLang="en-US" sz="1600">
                <a:solidFill>
                  <a:srgbClr val="0000FF"/>
                </a:solidFill>
                <a:latin typeface="华文中宋" panose="02010600040101010101" pitchFamily="2" charset="-122"/>
                <a:ea typeface="华文中宋" panose="02010600040101010101" pitchFamily="2" charset="-122"/>
              </a:rPr>
              <a:t> </a:t>
            </a:r>
            <a:r>
              <a:rPr lang="en-US" altLang="zh-CN" sz="3200">
                <a:solidFill>
                  <a:srgbClr val="0000FF"/>
                </a:solidFill>
                <a:latin typeface="华文中宋" panose="02010600040101010101" pitchFamily="2" charset="-122"/>
                <a:ea typeface="华文中宋" panose="02010600040101010101" pitchFamily="2" charset="-122"/>
              </a:rPr>
              <a:t>1958 </a:t>
            </a:r>
            <a:r>
              <a:rPr lang="zh-CN" altLang="zh-CN" sz="3200">
                <a:solidFill>
                  <a:srgbClr val="0000FF"/>
                </a:solidFill>
                <a:latin typeface="华文中宋" panose="02010600040101010101" pitchFamily="2" charset="-122"/>
                <a:ea typeface="华文中宋" panose="02010600040101010101" pitchFamily="2" charset="-122"/>
              </a:rPr>
              <a:t>年的全国汉语方言普查之后，学术界通常把汉语方言分成以下七区：</a:t>
            </a:r>
            <a:endParaRPr lang="en-US" altLang="zh-CN" sz="3200">
              <a:solidFill>
                <a:srgbClr val="0000FF"/>
              </a:solidFill>
              <a:latin typeface="华文中宋" panose="02010600040101010101" pitchFamily="2" charset="-122"/>
              <a:ea typeface="华文中宋" panose="02010600040101010101"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814528366"/>
              </p:ext>
            </p:extLst>
          </p:nvPr>
        </p:nvGraphicFramePr>
        <p:xfrm>
          <a:off x="891540" y="2851725"/>
          <a:ext cx="8081010" cy="3560504"/>
        </p:xfrm>
        <a:graphic>
          <a:graphicData uri="http://schemas.openxmlformats.org/drawingml/2006/table">
            <a:tbl>
              <a:tblPr firstRow="1" firstCol="1" lastRow="1" lastCol="1" bandRow="1" bandCol="1"/>
              <a:tblGrid>
                <a:gridCol w="4040505">
                  <a:extLst>
                    <a:ext uri="{9D8B030D-6E8A-4147-A177-3AD203B41FA5}">
                      <a16:colId xmlns:a16="http://schemas.microsoft.com/office/drawing/2014/main" val="4087066042"/>
                    </a:ext>
                  </a:extLst>
                </a:gridCol>
                <a:gridCol w="4040505">
                  <a:extLst>
                    <a:ext uri="{9D8B030D-6E8A-4147-A177-3AD203B41FA5}">
                      <a16:colId xmlns:a16="http://schemas.microsoft.com/office/drawing/2014/main" val="3578688369"/>
                    </a:ext>
                  </a:extLst>
                </a:gridCol>
              </a:tblGrid>
              <a:tr h="890126">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1. </a:t>
                      </a:r>
                      <a:r>
                        <a:rPr lang="zh-CN" sz="2400" kern="100">
                          <a:solidFill>
                            <a:srgbClr val="00B050"/>
                          </a:solidFill>
                          <a:effectLst/>
                          <a:latin typeface="华文中宋" panose="02010600040101010101" pitchFamily="2" charset="-122"/>
                          <a:ea typeface="华文中宋" panose="02010600040101010101" pitchFamily="2" charset="-122"/>
                        </a:rPr>
                        <a:t>官话方言（北方方言）区</a:t>
                      </a:r>
                    </a:p>
                  </a:txBody>
                  <a:tcPr marL="68580" marR="68580" marT="0" marB="0">
                    <a:lnL>
                      <a:noFill/>
                    </a:lnL>
                    <a:lnR>
                      <a:noFill/>
                    </a:lnR>
                    <a:lnT>
                      <a:noFill/>
                    </a:lnT>
                    <a:lnB>
                      <a:noFill/>
                    </a:lnB>
                  </a:tcPr>
                </a:tc>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5. </a:t>
                      </a:r>
                      <a:r>
                        <a:rPr lang="zh-CN" sz="2400" kern="100">
                          <a:solidFill>
                            <a:srgbClr val="00B050"/>
                          </a:solidFill>
                          <a:effectLst/>
                          <a:latin typeface="华文中宋" panose="02010600040101010101" pitchFamily="2" charset="-122"/>
                          <a:ea typeface="华文中宋" panose="02010600040101010101" pitchFamily="2" charset="-122"/>
                        </a:rPr>
                        <a:t>粤方言（粤语）区</a:t>
                      </a:r>
                    </a:p>
                  </a:txBody>
                  <a:tcPr marL="68580" marR="68580" marT="0" marB="0">
                    <a:lnL>
                      <a:noFill/>
                    </a:lnL>
                    <a:lnR>
                      <a:noFill/>
                    </a:lnR>
                    <a:lnT>
                      <a:noFill/>
                    </a:lnT>
                    <a:lnB>
                      <a:noFill/>
                    </a:lnB>
                  </a:tcPr>
                </a:tc>
                <a:extLst>
                  <a:ext uri="{0D108BD9-81ED-4DB2-BD59-A6C34878D82A}">
                    <a16:rowId xmlns:a16="http://schemas.microsoft.com/office/drawing/2014/main" val="2415729907"/>
                  </a:ext>
                </a:extLst>
              </a:tr>
              <a:tr h="890126">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2. </a:t>
                      </a:r>
                      <a:r>
                        <a:rPr lang="zh-CN" sz="2400" kern="100">
                          <a:solidFill>
                            <a:srgbClr val="00B050"/>
                          </a:solidFill>
                          <a:effectLst/>
                          <a:latin typeface="华文中宋" panose="02010600040101010101" pitchFamily="2" charset="-122"/>
                          <a:ea typeface="华文中宋" panose="02010600040101010101" pitchFamily="2" charset="-122"/>
                        </a:rPr>
                        <a:t>湘方言（湘语）区</a:t>
                      </a:r>
                    </a:p>
                  </a:txBody>
                  <a:tcPr marL="68580" marR="68580" marT="0" marB="0">
                    <a:lnL>
                      <a:noFill/>
                    </a:lnL>
                    <a:lnR>
                      <a:noFill/>
                    </a:lnR>
                    <a:lnT>
                      <a:noFill/>
                    </a:lnT>
                    <a:lnB>
                      <a:noFill/>
                    </a:lnB>
                  </a:tcPr>
                </a:tc>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6. </a:t>
                      </a:r>
                      <a:r>
                        <a:rPr lang="zh-CN" sz="2400" kern="100">
                          <a:solidFill>
                            <a:srgbClr val="00B050"/>
                          </a:solidFill>
                          <a:effectLst/>
                          <a:latin typeface="华文中宋" panose="02010600040101010101" pitchFamily="2" charset="-122"/>
                          <a:ea typeface="华文中宋" panose="02010600040101010101" pitchFamily="2" charset="-122"/>
                        </a:rPr>
                        <a:t>客家方言（客家话）区</a:t>
                      </a:r>
                    </a:p>
                  </a:txBody>
                  <a:tcPr marL="68580" marR="68580" marT="0" marB="0">
                    <a:lnL>
                      <a:noFill/>
                    </a:lnL>
                    <a:lnR>
                      <a:noFill/>
                    </a:lnR>
                    <a:lnT>
                      <a:noFill/>
                    </a:lnT>
                    <a:lnB>
                      <a:noFill/>
                    </a:lnB>
                  </a:tcPr>
                </a:tc>
                <a:extLst>
                  <a:ext uri="{0D108BD9-81ED-4DB2-BD59-A6C34878D82A}">
                    <a16:rowId xmlns:a16="http://schemas.microsoft.com/office/drawing/2014/main" val="2787984250"/>
                  </a:ext>
                </a:extLst>
              </a:tr>
              <a:tr h="890126">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3. </a:t>
                      </a:r>
                      <a:r>
                        <a:rPr lang="zh-CN" sz="2400" kern="100">
                          <a:solidFill>
                            <a:srgbClr val="00B050"/>
                          </a:solidFill>
                          <a:effectLst/>
                          <a:latin typeface="华文中宋" panose="02010600040101010101" pitchFamily="2" charset="-122"/>
                          <a:ea typeface="华文中宋" panose="02010600040101010101" pitchFamily="2" charset="-122"/>
                        </a:rPr>
                        <a:t>赣方言（赣语）区</a:t>
                      </a:r>
                    </a:p>
                  </a:txBody>
                  <a:tcPr marL="68580" marR="68580" marT="0" marB="0">
                    <a:lnL>
                      <a:noFill/>
                    </a:lnL>
                    <a:lnR>
                      <a:noFill/>
                    </a:lnR>
                    <a:lnT>
                      <a:noFill/>
                    </a:lnT>
                    <a:lnB>
                      <a:noFill/>
                    </a:lnB>
                  </a:tcPr>
                </a:tc>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7. </a:t>
                      </a:r>
                      <a:r>
                        <a:rPr lang="zh-CN" sz="2400" kern="100">
                          <a:solidFill>
                            <a:srgbClr val="00B050"/>
                          </a:solidFill>
                          <a:effectLst/>
                          <a:latin typeface="华文中宋" panose="02010600040101010101" pitchFamily="2" charset="-122"/>
                          <a:ea typeface="华文中宋" panose="02010600040101010101" pitchFamily="2" charset="-122"/>
                        </a:rPr>
                        <a:t>闽方言（闽语）区</a:t>
                      </a:r>
                    </a:p>
                  </a:txBody>
                  <a:tcPr marL="68580" marR="68580" marT="0" marB="0">
                    <a:lnL>
                      <a:noFill/>
                    </a:lnL>
                    <a:lnR>
                      <a:noFill/>
                    </a:lnR>
                    <a:lnT>
                      <a:noFill/>
                    </a:lnT>
                    <a:lnB>
                      <a:noFill/>
                    </a:lnB>
                  </a:tcPr>
                </a:tc>
                <a:extLst>
                  <a:ext uri="{0D108BD9-81ED-4DB2-BD59-A6C34878D82A}">
                    <a16:rowId xmlns:a16="http://schemas.microsoft.com/office/drawing/2014/main" val="3390925569"/>
                  </a:ext>
                </a:extLst>
              </a:tr>
              <a:tr h="890126">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4. </a:t>
                      </a:r>
                      <a:r>
                        <a:rPr lang="zh-CN" sz="2400" kern="100">
                          <a:solidFill>
                            <a:srgbClr val="00B050"/>
                          </a:solidFill>
                          <a:effectLst/>
                          <a:latin typeface="华文中宋" panose="02010600040101010101" pitchFamily="2" charset="-122"/>
                          <a:ea typeface="华文中宋" panose="02010600040101010101" pitchFamily="2" charset="-122"/>
                        </a:rPr>
                        <a:t>吴方言（吴语）区</a:t>
                      </a:r>
                    </a:p>
                  </a:txBody>
                  <a:tcPr marL="68580" marR="68580" marT="0" marB="0">
                    <a:lnL>
                      <a:noFill/>
                    </a:lnL>
                    <a:lnR>
                      <a:noFill/>
                    </a:lnR>
                    <a:lnT>
                      <a:noFill/>
                    </a:lnT>
                    <a:lnB>
                      <a:noFill/>
                    </a:lnB>
                  </a:tcPr>
                </a:tc>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 </a:t>
                      </a:r>
                      <a:endParaRPr lang="zh-CN" sz="2400" kern="100">
                        <a:solidFill>
                          <a:srgbClr val="00B050"/>
                        </a:solidFill>
                        <a:effectLst/>
                        <a:latin typeface="华文中宋" panose="02010600040101010101" pitchFamily="2" charset="-122"/>
                        <a:ea typeface="华文中宋" panose="02010600040101010101" pitchFamily="2" charset="-122"/>
                      </a:endParaRPr>
                    </a:p>
                  </a:txBody>
                  <a:tcPr marL="68580" marR="68580" marT="0" marB="0">
                    <a:lnL>
                      <a:noFill/>
                    </a:lnL>
                    <a:lnR>
                      <a:noFill/>
                    </a:lnR>
                    <a:lnT>
                      <a:noFill/>
                    </a:lnT>
                    <a:lnB>
                      <a:noFill/>
                    </a:lnB>
                  </a:tcPr>
                </a:tc>
                <a:extLst>
                  <a:ext uri="{0D108BD9-81ED-4DB2-BD59-A6C34878D82A}">
                    <a16:rowId xmlns:a16="http://schemas.microsoft.com/office/drawing/2014/main" val="1273107517"/>
                  </a:ext>
                </a:extLst>
              </a:tr>
            </a:tbl>
          </a:graphicData>
        </a:graphic>
      </p:graphicFrame>
    </p:spTree>
    <p:extLst>
      <p:ext uri="{BB962C8B-B14F-4D97-AF65-F5344CB8AC3E}">
        <p14:creationId xmlns:p14="http://schemas.microsoft.com/office/powerpoint/2010/main" val="366106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0"/>
            <a:ext cx="8785225" cy="6865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020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051554" y="0"/>
            <a:ext cx="6927448" cy="6858000"/>
          </a:xfrm>
          <a:prstGeom prst="rect">
            <a:avLst/>
          </a:prstGeom>
        </p:spPr>
      </p:pic>
    </p:spTree>
    <p:extLst>
      <p:ext uri="{BB962C8B-B14F-4D97-AF65-F5344CB8AC3E}">
        <p14:creationId xmlns:p14="http://schemas.microsoft.com/office/powerpoint/2010/main" val="1677959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76873" y="1800860"/>
            <a:ext cx="8424862"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4500">
                <a:latin typeface="华文中宋" panose="02010600040101010101" pitchFamily="2" charset="-122"/>
                <a:ea typeface="华文中宋" panose="02010600040101010101" pitchFamily="2" charset="-122"/>
              </a:rPr>
              <a:t>      </a:t>
            </a:r>
            <a:r>
              <a:rPr lang="zh-CN" altLang="en-US" sz="4500">
                <a:solidFill>
                  <a:srgbClr val="00B050"/>
                </a:solidFill>
                <a:latin typeface="华文中宋" panose="02010600040101010101" pitchFamily="2" charset="-122"/>
                <a:ea typeface="华文中宋" panose="02010600040101010101" pitchFamily="2" charset="-122"/>
              </a:rPr>
              <a:t>汉语该划分为多少方言，学者们的意见并不完全一致，初学者先掌握七分方案就可以了</a:t>
            </a:r>
            <a:r>
              <a:rPr lang="zh-CN" altLang="en-US" sz="6200">
                <a:solidFill>
                  <a:srgbClr val="00B050"/>
                </a:solidFill>
              </a:rPr>
              <a:t>。</a:t>
            </a:r>
          </a:p>
        </p:txBody>
      </p:sp>
    </p:spTree>
    <p:extLst>
      <p:ext uri="{BB962C8B-B14F-4D97-AF65-F5344CB8AC3E}">
        <p14:creationId xmlns:p14="http://schemas.microsoft.com/office/powerpoint/2010/main" val="533888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927" y="398264"/>
            <a:ext cx="8399443" cy="4747453"/>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三、汉语是一个语族还是一个语言？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3500">
                <a:solidFill>
                  <a:srgbClr val="0000FF"/>
                </a:solidFill>
                <a:latin typeface="华文中宋" panose="02010600040101010101" pitchFamily="2" charset="-122"/>
                <a:ea typeface="华文中宋" panose="02010600040101010101" pitchFamily="2" charset="-122"/>
              </a:rPr>
              <a:t>      有些汉语</a:t>
            </a:r>
            <a:r>
              <a:rPr lang="zh-CN" altLang="zh-CN" sz="3500">
                <a:solidFill>
                  <a:srgbClr val="0000FF"/>
                </a:solidFill>
                <a:latin typeface="华文中宋" panose="02010600040101010101" pitchFamily="2" charset="-122"/>
                <a:ea typeface="华文中宋" panose="02010600040101010101" pitchFamily="2" charset="-122"/>
              </a:rPr>
              <a:t>方言</a:t>
            </a:r>
            <a:r>
              <a:rPr lang="zh-CN" altLang="en-US" sz="3500">
                <a:solidFill>
                  <a:srgbClr val="0000FF"/>
                </a:solidFill>
                <a:latin typeface="华文中宋" panose="02010600040101010101" pitchFamily="2" charset="-122"/>
                <a:ea typeface="华文中宋" panose="02010600040101010101" pitchFamily="2" charset="-122"/>
              </a:rPr>
              <a:t>相互之间</a:t>
            </a:r>
            <a:r>
              <a:rPr lang="zh-CN" altLang="zh-CN" sz="3500">
                <a:solidFill>
                  <a:srgbClr val="0000FF"/>
                </a:solidFill>
                <a:latin typeface="华文中宋" panose="02010600040101010101" pitchFamily="2" charset="-122"/>
                <a:ea typeface="华文中宋" panose="02010600040101010101" pitchFamily="2" charset="-122"/>
              </a:rPr>
              <a:t>差别不大，通话没有问题，如北京话和长春话；</a:t>
            </a:r>
            <a:r>
              <a:rPr lang="zh-CN" altLang="en-US" sz="3500">
                <a:solidFill>
                  <a:srgbClr val="0000FF"/>
                </a:solidFill>
                <a:latin typeface="华文中宋" panose="02010600040101010101" pitchFamily="2" charset="-122"/>
                <a:ea typeface="华文中宋" panose="02010600040101010101" pitchFamily="2" charset="-122"/>
              </a:rPr>
              <a:t>而</a:t>
            </a:r>
            <a:r>
              <a:rPr lang="zh-CN" altLang="zh-CN" sz="3500">
                <a:solidFill>
                  <a:srgbClr val="0000FF"/>
                </a:solidFill>
                <a:latin typeface="华文中宋" panose="02010600040101010101" pitchFamily="2" charset="-122"/>
                <a:ea typeface="华文中宋" panose="02010600040101010101" pitchFamily="2" charset="-122"/>
              </a:rPr>
              <a:t>有</a:t>
            </a:r>
            <a:r>
              <a:rPr lang="zh-CN" altLang="en-US" sz="3500">
                <a:solidFill>
                  <a:srgbClr val="0000FF"/>
                </a:solidFill>
                <a:latin typeface="华文中宋" panose="02010600040101010101" pitchFamily="2" charset="-122"/>
                <a:ea typeface="华文中宋" panose="02010600040101010101" pitchFamily="2" charset="-122"/>
              </a:rPr>
              <a:t>些汉语</a:t>
            </a:r>
            <a:r>
              <a:rPr lang="zh-CN" altLang="zh-CN" sz="3500">
                <a:solidFill>
                  <a:srgbClr val="0000FF"/>
                </a:solidFill>
                <a:latin typeface="华文中宋" panose="02010600040101010101" pitchFamily="2" charset="-122"/>
                <a:ea typeface="华文中宋" panose="02010600040101010101" pitchFamily="2" charset="-122"/>
              </a:rPr>
              <a:t>方言</a:t>
            </a:r>
            <a:r>
              <a:rPr lang="zh-CN" altLang="en-US" sz="3500">
                <a:solidFill>
                  <a:srgbClr val="0000FF"/>
                </a:solidFill>
                <a:latin typeface="华文中宋" panose="02010600040101010101" pitchFamily="2" charset="-122"/>
                <a:ea typeface="华文中宋" panose="02010600040101010101" pitchFamily="2" charset="-122"/>
              </a:rPr>
              <a:t>则不同，相互之间</a:t>
            </a:r>
            <a:r>
              <a:rPr lang="zh-CN" altLang="zh-CN" sz="3500">
                <a:solidFill>
                  <a:srgbClr val="0000FF"/>
                </a:solidFill>
                <a:latin typeface="华文中宋" panose="02010600040101010101" pitchFamily="2" charset="-122"/>
                <a:ea typeface="华文中宋" panose="02010600040101010101" pitchFamily="2" charset="-122"/>
              </a:rPr>
              <a:t>差别</a:t>
            </a:r>
            <a:r>
              <a:rPr lang="zh-CN" altLang="en-US" sz="3500">
                <a:solidFill>
                  <a:srgbClr val="0000FF"/>
                </a:solidFill>
                <a:latin typeface="华文中宋" panose="02010600040101010101" pitchFamily="2" charset="-122"/>
                <a:ea typeface="华文中宋" panose="02010600040101010101" pitchFamily="2" charset="-122"/>
              </a:rPr>
              <a:t>很</a:t>
            </a:r>
            <a:r>
              <a:rPr lang="zh-CN" altLang="zh-CN" sz="3500">
                <a:solidFill>
                  <a:srgbClr val="0000FF"/>
                </a:solidFill>
                <a:latin typeface="华文中宋" panose="02010600040101010101" pitchFamily="2" charset="-122"/>
                <a:ea typeface="华文中宋" panose="02010600040101010101" pitchFamily="2" charset="-122"/>
              </a:rPr>
              <a:t>大，互相之间完全没有办法交谈，如温州话和广州话。</a:t>
            </a:r>
            <a:r>
              <a:rPr lang="zh-CN" altLang="en-US" sz="3500">
                <a:solidFill>
                  <a:srgbClr val="0000FF"/>
                </a:solidFill>
                <a:latin typeface="华文中宋" panose="02010600040101010101" pitchFamily="2" charset="-122"/>
                <a:ea typeface="华文中宋" panose="02010600040101010101" pitchFamily="2" charset="-122"/>
              </a:rPr>
              <a:t>为了让大家有一个深刻的印象，下面用福建省西部相距约 </a:t>
            </a:r>
            <a:r>
              <a:rPr lang="en-US" altLang="zh-CN" sz="3500">
                <a:solidFill>
                  <a:srgbClr val="0000FF"/>
                </a:solidFill>
                <a:latin typeface="华文中宋" panose="02010600040101010101" pitchFamily="2" charset="-122"/>
                <a:ea typeface="华文中宋" panose="02010600040101010101" pitchFamily="2" charset="-122"/>
              </a:rPr>
              <a:t>70 </a:t>
            </a:r>
            <a:r>
              <a:rPr lang="zh-CN" altLang="en-US" sz="3500">
                <a:solidFill>
                  <a:srgbClr val="0000FF"/>
                </a:solidFill>
                <a:latin typeface="华文中宋" panose="02010600040101010101" pitchFamily="2" charset="-122"/>
                <a:ea typeface="华文中宋" panose="02010600040101010101" pitchFamily="2" charset="-122"/>
              </a:rPr>
              <a:t>公里的两种方言做例子，看看方言之间差别的具体情况。</a:t>
            </a:r>
            <a:endParaRPr lang="en-US" altLang="zh-CN" sz="35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972532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7" y="605790"/>
            <a:ext cx="4431556" cy="3990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605790"/>
            <a:ext cx="4644000" cy="3990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2"/>
          <p:cNvSpPr txBox="1">
            <a:spLocks noChangeArrowheads="1"/>
          </p:cNvSpPr>
          <p:nvPr/>
        </p:nvSpPr>
        <p:spPr bwMode="auto">
          <a:xfrm>
            <a:off x="286892" y="4789170"/>
            <a:ext cx="8812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a:solidFill>
                  <a:srgbClr val="0000FF"/>
                </a:solidFill>
                <a:latin typeface="华文中宋" panose="02010600040101010101" pitchFamily="2" charset="-122"/>
                <a:ea typeface="华文中宋" panose="02010600040101010101" pitchFamily="2" charset="-122"/>
              </a:rPr>
              <a:t>福建省连城县新泉镇和清流县长校镇江坊村的地理位置</a:t>
            </a:r>
          </a:p>
        </p:txBody>
      </p:sp>
    </p:spTree>
    <p:extLst>
      <p:ext uri="{BB962C8B-B14F-4D97-AF65-F5344CB8AC3E}">
        <p14:creationId xmlns:p14="http://schemas.microsoft.com/office/powerpoint/2010/main" val="1271463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41A8B7-8771-48FA-AD60-238A3CFE8F31}"/>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9140EC81-EEF8-4C03-AFD3-348B0D21BD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4900" y="749300"/>
            <a:ext cx="6819900" cy="5427663"/>
          </a:xfrm>
        </p:spPr>
      </p:pic>
    </p:spTree>
    <p:extLst>
      <p:ext uri="{BB962C8B-B14F-4D97-AF65-F5344CB8AC3E}">
        <p14:creationId xmlns:p14="http://schemas.microsoft.com/office/powerpoint/2010/main" val="330341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18AD4D-6B48-4492-B011-CF44F51360C4}"/>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A1BE41B7-576E-4556-BB09-59B986BC73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4300" y="711200"/>
            <a:ext cx="6870700" cy="5465763"/>
          </a:xfrm>
        </p:spPr>
      </p:pic>
    </p:spTree>
    <p:extLst>
      <p:ext uri="{BB962C8B-B14F-4D97-AF65-F5344CB8AC3E}">
        <p14:creationId xmlns:p14="http://schemas.microsoft.com/office/powerpoint/2010/main" val="3085099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5740" y="811530"/>
            <a:ext cx="8721090" cy="5232202"/>
          </a:xfrm>
          <a:prstGeom prst="rect">
            <a:avLst/>
          </a:prstGeom>
          <a:noFill/>
        </p:spPr>
        <p:txBody>
          <a:bodyPr wrap="square" rtlCol="0">
            <a:spAutoFit/>
          </a:bodyPr>
          <a:lstStyle/>
          <a:p>
            <a:pPr algn="ctr"/>
            <a:r>
              <a:rPr lang="zh-CN" altLang="en-US" sz="4800" b="1">
                <a:latin typeface="方正书宋简体" panose="03000509000000000000" pitchFamily="65" charset="-122"/>
                <a:ea typeface="方正书宋简体" panose="03000509000000000000" pitchFamily="65" charset="-122"/>
              </a:rPr>
              <a:t>桃花溪</a:t>
            </a:r>
            <a:endParaRPr lang="en-US" altLang="zh-CN" sz="4800" b="1">
              <a:latin typeface="方正书宋简体" panose="03000509000000000000" pitchFamily="65" charset="-122"/>
              <a:ea typeface="方正书宋简体" panose="03000509000000000000" pitchFamily="65" charset="-122"/>
            </a:endParaRPr>
          </a:p>
          <a:p>
            <a:endParaRPr lang="en-US" altLang="zh-CN" sz="800">
              <a:latin typeface="方正书宋简体" panose="03000509000000000000" pitchFamily="65" charset="-122"/>
              <a:ea typeface="方正书宋简体" panose="03000509000000000000" pitchFamily="65" charset="-122"/>
            </a:endParaRPr>
          </a:p>
          <a:p>
            <a:pPr algn="ctr"/>
            <a:r>
              <a:rPr lang="zh-CN" altLang="en-US" sz="3600">
                <a:latin typeface="楷体" panose="02010609060101010101" pitchFamily="49" charset="-122"/>
                <a:ea typeface="楷体" panose="02010609060101010101" pitchFamily="49" charset="-122"/>
              </a:rPr>
              <a:t>唐</a:t>
            </a:r>
            <a:r>
              <a:rPr lang="en-US" altLang="zh-CN" sz="3600">
                <a:latin typeface="楷体" panose="02010609060101010101" pitchFamily="49" charset="-122"/>
                <a:ea typeface="楷体" panose="02010609060101010101" pitchFamily="49" charset="-122"/>
              </a:rPr>
              <a:t>·</a:t>
            </a:r>
            <a:r>
              <a:rPr lang="zh-CN" altLang="en-US" sz="3600">
                <a:latin typeface="楷体" panose="02010609060101010101" pitchFamily="49" charset="-122"/>
                <a:ea typeface="楷体" panose="02010609060101010101" pitchFamily="49" charset="-122"/>
              </a:rPr>
              <a:t>张旭</a:t>
            </a:r>
            <a:endParaRPr lang="en-US" altLang="zh-CN" sz="3600">
              <a:latin typeface="楷体" panose="02010609060101010101" pitchFamily="49" charset="-122"/>
              <a:ea typeface="楷体" panose="02010609060101010101" pitchFamily="49" charset="-122"/>
            </a:endParaRPr>
          </a:p>
          <a:p>
            <a:endParaRPr lang="en-US" altLang="zh-CN" sz="800">
              <a:latin typeface="方正书宋简体" panose="03000509000000000000" pitchFamily="65" charset="-122"/>
              <a:ea typeface="方正书宋简体" panose="03000509000000000000" pitchFamily="65" charset="-122"/>
            </a:endParaRPr>
          </a:p>
          <a:p>
            <a:endParaRPr lang="en-US" altLang="zh-CN" sz="800">
              <a:latin typeface="方正书宋简体" panose="03000509000000000000" pitchFamily="65" charset="-122"/>
              <a:ea typeface="方正书宋简体" panose="03000509000000000000" pitchFamily="65" charset="-122"/>
            </a:endParaRPr>
          </a:p>
          <a:p>
            <a:endParaRPr lang="en-US" altLang="zh-CN" sz="800">
              <a:latin typeface="方正书宋简体" panose="03000509000000000000" pitchFamily="65" charset="-122"/>
              <a:ea typeface="方正书宋简体" panose="03000509000000000000" pitchFamily="65" charset="-122"/>
            </a:endParaRPr>
          </a:p>
          <a:p>
            <a:endParaRPr lang="en-US" altLang="zh-CN" sz="800">
              <a:latin typeface="方正书宋简体" panose="03000509000000000000" pitchFamily="65" charset="-122"/>
              <a:ea typeface="方正书宋简体" panose="03000509000000000000" pitchFamily="65" charset="-122"/>
            </a:endParaRPr>
          </a:p>
          <a:p>
            <a:pPr algn="ctr"/>
            <a:r>
              <a:rPr lang="zh-CN" altLang="zh-CN" sz="4000">
                <a:latin typeface="方正书宋简体" panose="03000509000000000000" pitchFamily="65" charset="-122"/>
                <a:ea typeface="方正书宋简体" panose="03000509000000000000" pitchFamily="65" charset="-122"/>
              </a:rPr>
              <a:t>隐隐飞桥隔野烟，石矶西畔问渔船。</a:t>
            </a:r>
          </a:p>
          <a:p>
            <a:pPr algn="ctr"/>
            <a:r>
              <a:rPr lang="zh-CN" altLang="zh-CN" sz="4000">
                <a:latin typeface="方正书宋简体" panose="03000509000000000000" pitchFamily="65" charset="-122"/>
                <a:ea typeface="方正书宋简体" panose="03000509000000000000" pitchFamily="65" charset="-122"/>
              </a:rPr>
              <a:t>桃花尽日随流水，洞在清溪何处边？</a:t>
            </a:r>
            <a:endParaRPr lang="en-US" altLang="zh-CN" sz="4000">
              <a:latin typeface="方正书宋简体" panose="03000509000000000000" pitchFamily="65" charset="-122"/>
              <a:ea typeface="方正书宋简体" panose="03000509000000000000" pitchFamily="65" charset="-122"/>
            </a:endParaRPr>
          </a:p>
          <a:p>
            <a:endParaRPr lang="en-US" altLang="zh-CN" sz="4000">
              <a:latin typeface="方正书宋简体" panose="03000509000000000000" pitchFamily="65" charset="-122"/>
              <a:ea typeface="方正书宋简体" panose="03000509000000000000" pitchFamily="65" charset="-122"/>
            </a:endParaRPr>
          </a:p>
          <a:p>
            <a:r>
              <a:rPr lang="zh-CN" altLang="en-US" sz="3000">
                <a:latin typeface="仿宋" panose="02010609060101010101" pitchFamily="49" charset="-122"/>
                <a:ea typeface="仿宋" panose="02010609060101010101" pitchFamily="49" charset="-122"/>
              </a:rPr>
              <a:t>    张旭，字伯高，生卒年不详，吴郡（今江苏苏州）人。天宝 初，官金吾长史。工草书，亦能诗，时称“张颠”。</a:t>
            </a:r>
            <a:r>
              <a:rPr lang="en-US" altLang="zh-CN" sz="3000">
                <a:latin typeface="仿宋" panose="02010609060101010101" pitchFamily="49" charset="-122"/>
                <a:ea typeface="仿宋" panose="02010609060101010101" pitchFamily="49" charset="-122"/>
              </a:rPr>
              <a:t>《</a:t>
            </a:r>
            <a:r>
              <a:rPr lang="zh-CN" altLang="en-US" sz="3000">
                <a:latin typeface="仿宋" panose="02010609060101010101" pitchFamily="49" charset="-122"/>
                <a:ea typeface="仿宋" panose="02010609060101010101" pitchFamily="49" charset="-122"/>
              </a:rPr>
              <a:t>全唐诗</a:t>
            </a:r>
            <a:r>
              <a:rPr lang="en-US" altLang="zh-CN" sz="3000">
                <a:latin typeface="仿宋" panose="02010609060101010101" pitchFamily="49" charset="-122"/>
                <a:ea typeface="仿宋" panose="02010609060101010101" pitchFamily="49" charset="-122"/>
              </a:rPr>
              <a:t>》</a:t>
            </a:r>
            <a:r>
              <a:rPr lang="zh-CN" altLang="en-US" sz="3000">
                <a:latin typeface="仿宋" panose="02010609060101010101" pitchFamily="49" charset="-122"/>
                <a:ea typeface="仿宋" panose="02010609060101010101" pitchFamily="49" charset="-122"/>
              </a:rPr>
              <a:t>录其诗六首。</a:t>
            </a:r>
          </a:p>
        </p:txBody>
      </p:sp>
    </p:spTree>
    <p:extLst>
      <p:ext uri="{BB962C8B-B14F-4D97-AF65-F5344CB8AC3E}">
        <p14:creationId xmlns:p14="http://schemas.microsoft.com/office/powerpoint/2010/main" val="2945291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927" y="398264"/>
            <a:ext cx="8399443" cy="2785378"/>
          </a:xfrm>
          <a:prstGeom prst="rect">
            <a:avLst/>
          </a:prstGeom>
        </p:spPr>
        <p:txBody>
          <a:bodyPr wrap="square">
            <a:spAutoFit/>
          </a:bodyPr>
          <a:lstStyle/>
          <a:p>
            <a:pPr>
              <a:spcBef>
                <a:spcPct val="50000"/>
              </a:spcBef>
            </a:pPr>
            <a:r>
              <a:rPr lang="zh-CN" altLang="en-US" sz="3500">
                <a:solidFill>
                  <a:srgbClr val="0000FF"/>
                </a:solidFill>
                <a:latin typeface="华文中宋" panose="02010600040101010101" pitchFamily="2" charset="-122"/>
                <a:ea typeface="华文中宋" panose="02010600040101010101" pitchFamily="2" charset="-122"/>
              </a:rPr>
              <a:t>      很多汉语方言不能互通的情况</a:t>
            </a:r>
            <a:r>
              <a:rPr lang="zh-CN" altLang="zh-CN" sz="3500">
                <a:solidFill>
                  <a:srgbClr val="0000FF"/>
                </a:solidFill>
                <a:latin typeface="华文中宋" panose="02010600040101010101" pitchFamily="2" charset="-122"/>
                <a:ea typeface="华文中宋" panose="02010600040101010101" pitchFamily="2" charset="-122"/>
              </a:rPr>
              <a:t>常常引起语言（</a:t>
            </a:r>
            <a:r>
              <a:rPr lang="en-US" altLang="zh-CN" sz="3500">
                <a:solidFill>
                  <a:srgbClr val="0000FF"/>
                </a:solidFill>
                <a:latin typeface="华文中宋" panose="02010600040101010101" pitchFamily="2" charset="-122"/>
                <a:ea typeface="华文中宋" panose="02010600040101010101" pitchFamily="2" charset="-122"/>
              </a:rPr>
              <a:t>language</a:t>
            </a:r>
            <a:r>
              <a:rPr lang="zh-CN" altLang="zh-CN" sz="3500">
                <a:solidFill>
                  <a:srgbClr val="0000FF"/>
                </a:solidFill>
                <a:latin typeface="华文中宋" panose="02010600040101010101" pitchFamily="2" charset="-122"/>
                <a:ea typeface="华文中宋" panose="02010600040101010101" pitchFamily="2" charset="-122"/>
              </a:rPr>
              <a:t>）和方言（</a:t>
            </a:r>
            <a:r>
              <a:rPr lang="en-US" altLang="zh-CN" sz="3500">
                <a:solidFill>
                  <a:srgbClr val="0000FF"/>
                </a:solidFill>
                <a:latin typeface="华文中宋" panose="02010600040101010101" pitchFamily="2" charset="-122"/>
                <a:ea typeface="华文中宋" panose="02010600040101010101" pitchFamily="2" charset="-122"/>
              </a:rPr>
              <a:t>dialect</a:t>
            </a:r>
            <a:r>
              <a:rPr lang="zh-CN" altLang="zh-CN" sz="3500">
                <a:solidFill>
                  <a:srgbClr val="0000FF"/>
                </a:solidFill>
                <a:latin typeface="华文中宋" panose="02010600040101010101" pitchFamily="2" charset="-122"/>
                <a:ea typeface="华文中宋" panose="02010600040101010101" pitchFamily="2" charset="-122"/>
              </a:rPr>
              <a:t>）之争——所谓的汉语，究竟是一种拥有众多方言的语言还是由多种语言组成的一个语系（</a:t>
            </a:r>
            <a:r>
              <a:rPr lang="en-US" altLang="zh-CN" sz="3500">
                <a:solidFill>
                  <a:srgbClr val="0000FF"/>
                </a:solidFill>
                <a:latin typeface="华文中宋" panose="02010600040101010101" pitchFamily="2" charset="-122"/>
                <a:ea typeface="华文中宋" panose="02010600040101010101" pitchFamily="2" charset="-122"/>
              </a:rPr>
              <a:t>language family</a:t>
            </a:r>
            <a:r>
              <a:rPr lang="zh-CN" altLang="zh-CN" sz="3500">
                <a:solidFill>
                  <a:srgbClr val="0000FF"/>
                </a:solidFill>
                <a:latin typeface="华文中宋" panose="02010600040101010101" pitchFamily="2" charset="-122"/>
                <a:ea typeface="华文中宋" panose="02010600040101010101" pitchFamily="2" charset="-122"/>
              </a:rPr>
              <a:t>）？</a:t>
            </a:r>
            <a:endParaRPr lang="en-US" altLang="zh-CN" sz="35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725814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440" y="628650"/>
            <a:ext cx="8892540" cy="2431435"/>
          </a:xfrm>
          <a:prstGeom prst="rect">
            <a:avLst/>
          </a:prstGeom>
          <a:noFill/>
        </p:spPr>
        <p:txBody>
          <a:bodyPr wrap="square" rtlCol="0">
            <a:spAutoFit/>
          </a:bodyPr>
          <a:lstStyle/>
          <a:p>
            <a:r>
              <a:rPr lang="en-US" altLang="zh-CN" sz="3800">
                <a:solidFill>
                  <a:srgbClr val="0000FF"/>
                </a:solidFill>
                <a:latin typeface="华文中宋" panose="02010600040101010101" pitchFamily="2" charset="-122"/>
                <a:ea typeface="华文中宋" panose="02010600040101010101" pitchFamily="2" charset="-122"/>
              </a:rPr>
              <a:t>      </a:t>
            </a:r>
            <a:r>
              <a:rPr lang="zh-CN" altLang="zh-CN" sz="3800">
                <a:solidFill>
                  <a:srgbClr val="0000FF"/>
                </a:solidFill>
                <a:latin typeface="华文中宋" panose="02010600040101010101" pitchFamily="2" charset="-122"/>
                <a:ea typeface="华文中宋" panose="02010600040101010101" pitchFamily="2" charset="-122"/>
              </a:rPr>
              <a:t>在这类争论中，互通性（</a:t>
            </a:r>
            <a:r>
              <a:rPr lang="en-US" altLang="zh-CN" sz="3800">
                <a:solidFill>
                  <a:srgbClr val="0000FF"/>
                </a:solidFill>
                <a:latin typeface="华文中宋" panose="02010600040101010101" pitchFamily="2" charset="-122"/>
                <a:ea typeface="华文中宋" panose="02010600040101010101" pitchFamily="2" charset="-122"/>
              </a:rPr>
              <a:t>mutual intelligibility</a:t>
            </a:r>
            <a:r>
              <a:rPr lang="zh-CN" altLang="zh-CN" sz="3800">
                <a:solidFill>
                  <a:srgbClr val="0000FF"/>
                </a:solidFill>
                <a:latin typeface="华文中宋" panose="02010600040101010101" pitchFamily="2" charset="-122"/>
                <a:ea typeface="华文中宋" panose="02010600040101010101" pitchFamily="2" charset="-122"/>
              </a:rPr>
              <a:t>）常常被用来作为标准。</a:t>
            </a:r>
            <a:r>
              <a:rPr lang="zh-CN" altLang="en-US" sz="3800">
                <a:solidFill>
                  <a:srgbClr val="0000FF"/>
                </a:solidFill>
                <a:latin typeface="华文中宋" panose="02010600040101010101" pitchFamily="2" charset="-122"/>
                <a:ea typeface="华文中宋" panose="02010600040101010101" pitchFamily="2" charset="-122"/>
              </a:rPr>
              <a:t>意思是说互通性小的倾向于看作不同的语言，互通性大的倾向于看作不同的方言。</a:t>
            </a:r>
            <a:endParaRPr lang="zh-CN" altLang="en-US" sz="33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969261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116238" y="1066478"/>
            <a:ext cx="892702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600">
                <a:solidFill>
                  <a:srgbClr val="009900"/>
                </a:solidFill>
                <a:latin typeface="+mn-ea"/>
              </a:rPr>
              <a:t>       </a:t>
            </a:r>
            <a:r>
              <a:rPr lang="zh-CN" altLang="en-US" sz="3600">
                <a:solidFill>
                  <a:srgbClr val="0000FF"/>
                </a:solidFill>
                <a:latin typeface="华文中宋" panose="02010600040101010101" pitchFamily="2" charset="-122"/>
                <a:ea typeface="华文中宋" panose="02010600040101010101" pitchFamily="2" charset="-122"/>
              </a:rPr>
              <a:t>其实互通性标准是</a:t>
            </a:r>
            <a:r>
              <a:rPr lang="zh-CN" altLang="en-US" sz="3600" dirty="0">
                <a:solidFill>
                  <a:srgbClr val="0000FF"/>
                </a:solidFill>
                <a:latin typeface="华文中宋" panose="02010600040101010101" pitchFamily="2" charset="-122"/>
                <a:ea typeface="华文中宋" panose="02010600040101010101" pitchFamily="2" charset="-122"/>
              </a:rPr>
              <a:t>行不通的。比如在荷兰与德国交界的广大区域，一个不学德语的荷兰人和一个不学荷兰语的德国人大体能听懂对方的话，然而人们却公认荷兰语</a:t>
            </a:r>
            <a:r>
              <a:rPr lang="en-US" altLang="zh-CN" sz="2400" dirty="0">
                <a:solidFill>
                  <a:srgbClr val="0000FF"/>
                </a:solidFill>
                <a:latin typeface="华文中宋" panose="02010600040101010101" pitchFamily="2" charset="-122"/>
                <a:ea typeface="华文中宋" panose="02010600040101010101" pitchFamily="2" charset="-122"/>
              </a:rPr>
              <a:t>(Holland)</a:t>
            </a:r>
            <a:r>
              <a:rPr lang="zh-CN" altLang="en-US" sz="3600" dirty="0">
                <a:solidFill>
                  <a:srgbClr val="0000FF"/>
                </a:solidFill>
                <a:latin typeface="华文中宋" panose="02010600040101010101" pitchFamily="2" charset="-122"/>
                <a:ea typeface="华文中宋" panose="02010600040101010101" pitchFamily="2" charset="-122"/>
              </a:rPr>
              <a:t>和德语</a:t>
            </a:r>
            <a:r>
              <a:rPr lang="en-US" altLang="zh-CN" sz="2400" dirty="0">
                <a:solidFill>
                  <a:srgbClr val="0000FF"/>
                </a:solidFill>
                <a:latin typeface="华文中宋" panose="02010600040101010101" pitchFamily="2" charset="-122"/>
                <a:ea typeface="华文中宋" panose="02010600040101010101" pitchFamily="2" charset="-122"/>
              </a:rPr>
              <a:t>(German)</a:t>
            </a:r>
            <a:r>
              <a:rPr lang="zh-CN" altLang="en-US" sz="3600" dirty="0">
                <a:solidFill>
                  <a:srgbClr val="0000FF"/>
                </a:solidFill>
                <a:latin typeface="华文中宋" panose="02010600040101010101" pitchFamily="2" charset="-122"/>
                <a:ea typeface="华文中宋" panose="02010600040101010101" pitchFamily="2" charset="-122"/>
              </a:rPr>
              <a:t>是两种独立的语言。再比如挪威人和丹麦人可以用各自的话互相交谈，但</a:t>
            </a:r>
            <a:r>
              <a:rPr lang="zh-CN" altLang="en-US" sz="3600">
                <a:solidFill>
                  <a:srgbClr val="0000FF"/>
                </a:solidFill>
                <a:latin typeface="华文中宋" panose="02010600040101010101" pitchFamily="2" charset="-122"/>
                <a:ea typeface="华文中宋" panose="02010600040101010101" pitchFamily="2" charset="-122"/>
              </a:rPr>
              <a:t>挪威语</a:t>
            </a:r>
            <a:r>
              <a:rPr lang="zh-CN" altLang="en-US" sz="800">
                <a:solidFill>
                  <a:srgbClr val="0000FF"/>
                </a:solidFill>
                <a:latin typeface="华文中宋" panose="02010600040101010101" pitchFamily="2" charset="-122"/>
                <a:ea typeface="华文中宋" panose="02010600040101010101" pitchFamily="2" charset="-122"/>
              </a:rPr>
              <a:t> </a:t>
            </a:r>
            <a:r>
              <a:rPr lang="en-US" altLang="zh-CN" sz="2400">
                <a:solidFill>
                  <a:srgbClr val="0000FF"/>
                </a:solidFill>
                <a:latin typeface="华文中宋" panose="02010600040101010101" pitchFamily="2" charset="-122"/>
                <a:ea typeface="华文中宋" panose="02010600040101010101" pitchFamily="2" charset="-122"/>
              </a:rPr>
              <a:t>(Norwegian) </a:t>
            </a:r>
            <a:r>
              <a:rPr lang="zh-CN" altLang="en-US" sz="3600">
                <a:solidFill>
                  <a:srgbClr val="0000FF"/>
                </a:solidFill>
                <a:latin typeface="华文中宋" panose="02010600040101010101" pitchFamily="2" charset="-122"/>
                <a:ea typeface="华文中宋" panose="02010600040101010101" pitchFamily="2" charset="-122"/>
              </a:rPr>
              <a:t>和</a:t>
            </a:r>
            <a:r>
              <a:rPr lang="zh-CN" altLang="en-US" sz="3600" dirty="0">
                <a:solidFill>
                  <a:srgbClr val="0000FF"/>
                </a:solidFill>
                <a:latin typeface="华文中宋" panose="02010600040101010101" pitchFamily="2" charset="-122"/>
                <a:ea typeface="华文中宋" panose="02010600040101010101" pitchFamily="2" charset="-122"/>
              </a:rPr>
              <a:t>丹麦语</a:t>
            </a:r>
            <a:r>
              <a:rPr lang="en-US" altLang="zh-CN" sz="2400" dirty="0">
                <a:solidFill>
                  <a:srgbClr val="0000FF"/>
                </a:solidFill>
                <a:latin typeface="华文中宋" panose="02010600040101010101" pitchFamily="2" charset="-122"/>
                <a:ea typeface="华文中宋" panose="02010600040101010101" pitchFamily="2" charset="-122"/>
              </a:rPr>
              <a:t>(</a:t>
            </a:r>
            <a:r>
              <a:rPr lang="en-US" altLang="zh-CN" sz="2400">
                <a:solidFill>
                  <a:srgbClr val="0000FF"/>
                </a:solidFill>
                <a:latin typeface="华文中宋" panose="02010600040101010101" pitchFamily="2" charset="-122"/>
                <a:ea typeface="华文中宋" panose="02010600040101010101" pitchFamily="2" charset="-122"/>
              </a:rPr>
              <a:t>Danish) </a:t>
            </a:r>
            <a:r>
              <a:rPr lang="zh-CN" altLang="en-US" sz="3600">
                <a:solidFill>
                  <a:srgbClr val="0000FF"/>
                </a:solidFill>
                <a:latin typeface="华文中宋" panose="02010600040101010101" pitchFamily="2" charset="-122"/>
                <a:ea typeface="华文中宋" panose="02010600040101010101" pitchFamily="2" charset="-122"/>
              </a:rPr>
              <a:t>也</a:t>
            </a:r>
            <a:r>
              <a:rPr lang="zh-CN" altLang="en-US" sz="3600" dirty="0">
                <a:solidFill>
                  <a:srgbClr val="0000FF"/>
                </a:solidFill>
                <a:latin typeface="华文中宋" panose="02010600040101010101" pitchFamily="2" charset="-122"/>
                <a:ea typeface="华文中宋" panose="02010600040101010101" pitchFamily="2" charset="-122"/>
              </a:rPr>
              <a:t>是公认的两种独立的语言。</a:t>
            </a:r>
          </a:p>
        </p:txBody>
      </p:sp>
    </p:spTree>
    <p:extLst>
      <p:ext uri="{BB962C8B-B14F-4D97-AF65-F5344CB8AC3E}">
        <p14:creationId xmlns:p14="http://schemas.microsoft.com/office/powerpoint/2010/main" val="1133336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81514" y="1065594"/>
            <a:ext cx="89154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600">
                <a:solidFill>
                  <a:srgbClr val="009900"/>
                </a:solidFill>
                <a:latin typeface="+mn-ea"/>
              </a:rPr>
              <a:t>       </a:t>
            </a:r>
            <a:r>
              <a:rPr lang="zh-CN" altLang="en-US" sz="3600">
                <a:solidFill>
                  <a:srgbClr val="0000FF"/>
                </a:solidFill>
                <a:latin typeface="华文中宋" panose="02010600040101010101" pitchFamily="2" charset="-122"/>
                <a:ea typeface="华文中宋" panose="02010600040101010101" pitchFamily="2" charset="-122"/>
              </a:rPr>
              <a:t>与</a:t>
            </a:r>
            <a:r>
              <a:rPr lang="zh-CN" altLang="en-US" sz="3600" dirty="0">
                <a:solidFill>
                  <a:srgbClr val="0000FF"/>
                </a:solidFill>
                <a:latin typeface="华文中宋" panose="02010600040101010101" pitchFamily="2" charset="-122"/>
                <a:ea typeface="华文中宋" panose="02010600040101010101" pitchFamily="2" charset="-122"/>
              </a:rPr>
              <a:t>此不同的是，北京人和广州人在一起，苏州人和福州人在一起，他们都无法用各自的话互相交谈，要沟通非得说</a:t>
            </a:r>
            <a:r>
              <a:rPr lang="zh-CN" altLang="en-US" sz="3600">
                <a:solidFill>
                  <a:srgbClr val="0000FF"/>
                </a:solidFill>
                <a:latin typeface="华文中宋" panose="02010600040101010101" pitchFamily="2" charset="-122"/>
                <a:ea typeface="华文中宋" panose="02010600040101010101" pitchFamily="2" charset="-122"/>
              </a:rPr>
              <a:t>普通话不可（如果</a:t>
            </a:r>
            <a:r>
              <a:rPr lang="zh-CN" altLang="en-US" sz="3600" dirty="0">
                <a:solidFill>
                  <a:srgbClr val="0000FF"/>
                </a:solidFill>
                <a:latin typeface="华文中宋" panose="02010600040101010101" pitchFamily="2" charset="-122"/>
                <a:ea typeface="华文中宋" panose="02010600040101010101" pitchFamily="2" charset="-122"/>
              </a:rPr>
              <a:t>都不会普通话，那就只能通过写汉字</a:t>
            </a:r>
            <a:r>
              <a:rPr lang="zh-CN" altLang="en-US" sz="3600">
                <a:solidFill>
                  <a:srgbClr val="0000FF"/>
                </a:solidFill>
                <a:latin typeface="华文中宋" panose="02010600040101010101" pitchFamily="2" charset="-122"/>
                <a:ea typeface="华文中宋" panose="02010600040101010101" pitchFamily="2" charset="-122"/>
              </a:rPr>
              <a:t>“笔谈”了），可是</a:t>
            </a:r>
            <a:r>
              <a:rPr lang="zh-CN" altLang="en-US" sz="3600" dirty="0">
                <a:solidFill>
                  <a:srgbClr val="0000FF"/>
                </a:solidFill>
                <a:latin typeface="华文中宋" panose="02010600040101010101" pitchFamily="2" charset="-122"/>
                <a:ea typeface="华文中宋" panose="02010600040101010101" pitchFamily="2" charset="-122"/>
              </a:rPr>
              <a:t>多数的语言学家都认为北京人、广州人、苏州人和福州人所说的话都是汉语，它们之间的差别只是方言的差别，即北京话、广州话、苏州话和福州话都只是汉语的不同方言。</a:t>
            </a:r>
          </a:p>
        </p:txBody>
      </p:sp>
    </p:spTree>
    <p:extLst>
      <p:ext uri="{BB962C8B-B14F-4D97-AF65-F5344CB8AC3E}">
        <p14:creationId xmlns:p14="http://schemas.microsoft.com/office/powerpoint/2010/main" val="3211145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0020" y="137160"/>
            <a:ext cx="8892540" cy="6186309"/>
          </a:xfrm>
          <a:prstGeom prst="rect">
            <a:avLst/>
          </a:prstGeom>
          <a:noFill/>
        </p:spPr>
        <p:txBody>
          <a:bodyPr wrap="square" rtlCol="0">
            <a:spAutoFit/>
          </a:bodyPr>
          <a:lstStyle/>
          <a:p>
            <a:r>
              <a:rPr lang="zh-CN" altLang="en-US" sz="3600">
                <a:solidFill>
                  <a:srgbClr val="0000FF"/>
                </a:solidFill>
                <a:latin typeface="华文中宋" panose="02010600040101010101" pitchFamily="2" charset="-122"/>
                <a:ea typeface="华文中宋" panose="02010600040101010101" pitchFamily="2" charset="-122"/>
              </a:rPr>
              <a:t>      为什么？</a:t>
            </a:r>
            <a:r>
              <a:rPr lang="en-US" altLang="zh-CN" sz="3600">
                <a:solidFill>
                  <a:srgbClr val="0000FF"/>
                </a:solidFill>
                <a:latin typeface="华文中宋" panose="02010600040101010101" pitchFamily="2" charset="-122"/>
                <a:ea typeface="华文中宋" panose="02010600040101010101" pitchFamily="2" charset="-122"/>
              </a:rPr>
              <a:t>Why?</a:t>
            </a:r>
          </a:p>
          <a:p>
            <a:r>
              <a:rPr lang="zh-CN" altLang="en-US" sz="3300">
                <a:solidFill>
                  <a:srgbClr val="0000FF"/>
                </a:solidFill>
                <a:latin typeface="华文中宋" panose="02010600040101010101" pitchFamily="2" charset="-122"/>
                <a:ea typeface="华文中宋" panose="02010600040101010101" pitchFamily="2" charset="-122"/>
              </a:rPr>
              <a:t>      因为</a:t>
            </a:r>
            <a:r>
              <a:rPr lang="zh-CN" altLang="zh-CN" sz="3300">
                <a:solidFill>
                  <a:srgbClr val="0000FF"/>
                </a:solidFill>
                <a:latin typeface="华文中宋" panose="02010600040101010101" pitchFamily="2" charset="-122"/>
                <a:ea typeface="华文中宋" panose="02010600040101010101" pitchFamily="2" charset="-122"/>
              </a:rPr>
              <a:t>语言和方言</a:t>
            </a:r>
            <a:r>
              <a:rPr lang="zh-CN" altLang="en-US" sz="3300">
                <a:solidFill>
                  <a:srgbClr val="0000FF"/>
                </a:solidFill>
                <a:latin typeface="华文中宋" panose="02010600040101010101" pitchFamily="2" charset="-122"/>
                <a:ea typeface="华文中宋" panose="02010600040101010101" pitchFamily="2" charset="-122"/>
              </a:rPr>
              <a:t>根本</a:t>
            </a:r>
            <a:r>
              <a:rPr lang="zh-CN" altLang="zh-CN" sz="3300">
                <a:solidFill>
                  <a:srgbClr val="0000FF"/>
                </a:solidFill>
                <a:latin typeface="华文中宋" panose="02010600040101010101" pitchFamily="2" charset="-122"/>
                <a:ea typeface="华文中宋" panose="02010600040101010101" pitchFamily="2" charset="-122"/>
              </a:rPr>
              <a:t>不是根据语言学标准（</a:t>
            </a:r>
            <a:r>
              <a:rPr lang="en-US" altLang="zh-CN" sz="3300">
                <a:solidFill>
                  <a:srgbClr val="0000FF"/>
                </a:solidFill>
                <a:latin typeface="华文中宋" panose="02010600040101010101" pitchFamily="2" charset="-122"/>
                <a:ea typeface="华文中宋" panose="02010600040101010101" pitchFamily="2" charset="-122"/>
              </a:rPr>
              <a:t>linguistic criteria</a:t>
            </a:r>
            <a:r>
              <a:rPr lang="zh-CN" altLang="zh-CN" sz="3300">
                <a:solidFill>
                  <a:srgbClr val="0000FF"/>
                </a:solidFill>
                <a:latin typeface="华文中宋" panose="02010600040101010101" pitchFamily="2" charset="-122"/>
                <a:ea typeface="华文中宋" panose="02010600040101010101" pitchFamily="2" charset="-122"/>
              </a:rPr>
              <a:t>）区分出来的</a:t>
            </a:r>
            <a:r>
              <a:rPr lang="zh-CN" altLang="en-US" sz="3300">
                <a:solidFill>
                  <a:srgbClr val="0000FF"/>
                </a:solidFill>
                <a:latin typeface="华文中宋" panose="02010600040101010101" pitchFamily="2" charset="-122"/>
                <a:ea typeface="华文中宋" panose="02010600040101010101" pitchFamily="2" charset="-122"/>
              </a:rPr>
              <a:t>！</a:t>
            </a:r>
            <a:endParaRPr lang="en-US" altLang="zh-CN" sz="3300">
              <a:solidFill>
                <a:srgbClr val="0000FF"/>
              </a:solidFill>
              <a:latin typeface="华文中宋" panose="02010600040101010101" pitchFamily="2" charset="-122"/>
              <a:ea typeface="华文中宋" panose="02010600040101010101" pitchFamily="2" charset="-122"/>
            </a:endParaRPr>
          </a:p>
          <a:p>
            <a:r>
              <a:rPr lang="en-US" altLang="zh-CN" sz="3300">
                <a:solidFill>
                  <a:srgbClr val="0000FF"/>
                </a:solidFill>
                <a:latin typeface="华文中宋" panose="02010600040101010101" pitchFamily="2" charset="-122"/>
                <a:ea typeface="华文中宋" panose="02010600040101010101" pitchFamily="2" charset="-122"/>
              </a:rPr>
              <a:t>      Sapir(1931)</a:t>
            </a:r>
            <a:r>
              <a:rPr lang="zh-CN" altLang="zh-CN" sz="3300">
                <a:solidFill>
                  <a:srgbClr val="0000FF"/>
                </a:solidFill>
                <a:latin typeface="华文中宋" panose="02010600040101010101" pitchFamily="2" charset="-122"/>
                <a:ea typeface="华文中宋" panose="02010600040101010101" pitchFamily="2" charset="-122"/>
              </a:rPr>
              <a:t>早就说过：</a:t>
            </a:r>
            <a:r>
              <a:rPr lang="zh-CN" altLang="zh-CN" sz="3300" cap="small">
                <a:solidFill>
                  <a:srgbClr val="0000FF"/>
                </a:solidFill>
                <a:latin typeface="华文中宋" panose="02010600040101010101" pitchFamily="2" charset="-122"/>
                <a:ea typeface="华文中宋" panose="02010600040101010101" pitchFamily="2" charset="-122"/>
              </a:rPr>
              <a:t>“</a:t>
            </a:r>
            <a:r>
              <a:rPr lang="en-US" altLang="zh-CN" sz="3300">
                <a:solidFill>
                  <a:srgbClr val="0000FF"/>
                </a:solidFill>
                <a:latin typeface="华文中宋" panose="02010600040101010101" pitchFamily="2" charset="-122"/>
                <a:ea typeface="华文中宋" panose="02010600040101010101" pitchFamily="2" charset="-122"/>
              </a:rPr>
              <a:t>To the linguist there is no real difference between a ‘dialect’ and a ‘language’</a:t>
            </a:r>
            <a:r>
              <a:rPr lang="zh-CN" altLang="zh-CN" sz="3300">
                <a:solidFill>
                  <a:srgbClr val="0000FF"/>
                </a:solidFill>
                <a:latin typeface="华文中宋" panose="02010600040101010101" pitchFamily="2" charset="-122"/>
                <a:ea typeface="华文中宋" panose="02010600040101010101" pitchFamily="2" charset="-122"/>
              </a:rPr>
              <a:t>”（对语言学家而言，并不存在“语言”和“方言”的真正区别）</a:t>
            </a:r>
            <a:r>
              <a:rPr lang="zh-CN" altLang="en-US" sz="3300">
                <a:solidFill>
                  <a:srgbClr val="0000FF"/>
                </a:solidFill>
                <a:latin typeface="华文中宋" panose="02010600040101010101" pitchFamily="2" charset="-122"/>
                <a:ea typeface="华文中宋" panose="02010600040101010101" pitchFamily="2" charset="-122"/>
              </a:rPr>
              <a:t>。</a:t>
            </a:r>
            <a:endParaRPr lang="en-US" altLang="zh-CN" sz="3300">
              <a:solidFill>
                <a:srgbClr val="0000FF"/>
              </a:solidFill>
              <a:latin typeface="华文中宋" panose="02010600040101010101" pitchFamily="2" charset="-122"/>
              <a:ea typeface="华文中宋" panose="02010600040101010101" pitchFamily="2" charset="-122"/>
            </a:endParaRPr>
          </a:p>
          <a:p>
            <a:r>
              <a:rPr lang="en-US" altLang="zh-CN" sz="3300">
                <a:solidFill>
                  <a:srgbClr val="0000FF"/>
                </a:solidFill>
                <a:latin typeface="华文中宋" panose="02010600040101010101" pitchFamily="2" charset="-122"/>
                <a:ea typeface="华文中宋" panose="02010600040101010101" pitchFamily="2" charset="-122"/>
              </a:rPr>
              <a:t>      </a:t>
            </a:r>
            <a:r>
              <a:rPr lang="zh-CN" altLang="zh-CN" sz="3300">
                <a:solidFill>
                  <a:srgbClr val="0000FF"/>
                </a:solidFill>
                <a:latin typeface="华文中宋" panose="02010600040101010101" pitchFamily="2" charset="-122"/>
                <a:ea typeface="华文中宋" panose="02010600040101010101" pitchFamily="2" charset="-122"/>
              </a:rPr>
              <a:t>而 </a:t>
            </a:r>
            <a:r>
              <a:rPr lang="en-US" altLang="zh-CN" sz="3300">
                <a:solidFill>
                  <a:srgbClr val="0000FF"/>
                </a:solidFill>
                <a:latin typeface="华文中宋" panose="02010600040101010101" pitchFamily="2" charset="-122"/>
                <a:ea typeface="华文中宋" panose="02010600040101010101" pitchFamily="2" charset="-122"/>
              </a:rPr>
              <a:t>Hudson</a:t>
            </a:r>
            <a:r>
              <a:rPr lang="zh-CN" altLang="zh-CN" sz="3300">
                <a:solidFill>
                  <a:srgbClr val="0000FF"/>
                </a:solidFill>
                <a:latin typeface="华文中宋" panose="02010600040101010101" pitchFamily="2" charset="-122"/>
                <a:ea typeface="华文中宋" panose="02010600040101010101" pitchFamily="2" charset="-122"/>
              </a:rPr>
              <a:t>（</a:t>
            </a:r>
            <a:r>
              <a:rPr lang="en-US" altLang="zh-CN" sz="3300">
                <a:solidFill>
                  <a:srgbClr val="0000FF"/>
                </a:solidFill>
                <a:latin typeface="华文中宋" panose="02010600040101010101" pitchFamily="2" charset="-122"/>
                <a:ea typeface="华文中宋" panose="02010600040101010101" pitchFamily="2" charset="-122"/>
              </a:rPr>
              <a:t>1980</a:t>
            </a:r>
            <a:r>
              <a:rPr lang="zh-CN" altLang="zh-CN" sz="3300">
                <a:solidFill>
                  <a:srgbClr val="0000FF"/>
                </a:solidFill>
                <a:latin typeface="华文中宋" panose="02010600040101010101" pitchFamily="2" charset="-122"/>
                <a:ea typeface="华文中宋" panose="02010600040101010101" pitchFamily="2" charset="-122"/>
              </a:rPr>
              <a:t>）也说：“</a:t>
            </a:r>
            <a:r>
              <a:rPr lang="en-US" altLang="zh-CN" sz="3300">
                <a:solidFill>
                  <a:srgbClr val="0000FF"/>
                </a:solidFill>
                <a:latin typeface="华文中宋" panose="02010600040101010101" pitchFamily="2" charset="-122"/>
                <a:ea typeface="华文中宋" panose="02010600040101010101" pitchFamily="2" charset="-122"/>
              </a:rPr>
              <a:t>There is no real distinction to be drawn between ‘language’ and ‘dialect’</a:t>
            </a:r>
            <a:r>
              <a:rPr lang="zh-CN" altLang="zh-CN" sz="3300">
                <a:solidFill>
                  <a:srgbClr val="0000FF"/>
                </a:solidFill>
                <a:latin typeface="华文中宋" panose="02010600040101010101" pitchFamily="2" charset="-122"/>
                <a:ea typeface="华文中宋" panose="02010600040101010101" pitchFamily="2" charset="-122"/>
              </a:rPr>
              <a:t>”（“语言”和“方言”看不出有真正的区别）。</a:t>
            </a:r>
            <a:endParaRPr lang="zh-CN" altLang="en-US" sz="33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71248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127861" y="310742"/>
            <a:ext cx="8915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3600">
                <a:solidFill>
                  <a:srgbClr val="0000FF"/>
                </a:solidFill>
                <a:latin typeface="华文中宋" panose="02010600040101010101" pitchFamily="2" charset="-122"/>
                <a:ea typeface="华文中宋" panose="02010600040101010101" pitchFamily="2" charset="-122"/>
              </a:rPr>
              <a:t>      语言</a:t>
            </a:r>
            <a:r>
              <a:rPr lang="zh-CN" altLang="en-US" sz="3600" dirty="0">
                <a:solidFill>
                  <a:srgbClr val="0000FF"/>
                </a:solidFill>
                <a:latin typeface="华文中宋" panose="02010600040101010101" pitchFamily="2" charset="-122"/>
                <a:ea typeface="华文中宋" panose="02010600040101010101" pitchFamily="2" charset="-122"/>
              </a:rPr>
              <a:t>和方言其实是根据社会条件区分出来的。这个“社会条件”当然要从最宽泛的意义上去理解。比如俄罗斯语、乌克兰语和白俄罗斯语，它们之间的差别远远不如北京话和广州话的差别大，然而它们是公认的三种</a:t>
            </a:r>
            <a:r>
              <a:rPr lang="zh-CN" altLang="en-US" sz="3600">
                <a:solidFill>
                  <a:srgbClr val="0000FF"/>
                </a:solidFill>
                <a:latin typeface="华文中宋" panose="02010600040101010101" pitchFamily="2" charset="-122"/>
                <a:ea typeface="华文中宋" panose="02010600040101010101" pitchFamily="2" charset="-122"/>
              </a:rPr>
              <a:t>独立的语言（亲属语言）。</a:t>
            </a:r>
            <a:r>
              <a:rPr lang="zh-CN" altLang="en-US" sz="3600" dirty="0">
                <a:solidFill>
                  <a:srgbClr val="0000FF"/>
                </a:solidFill>
                <a:latin typeface="华文中宋" panose="02010600040101010101" pitchFamily="2" charset="-122"/>
                <a:ea typeface="华文中宋" panose="02010600040101010101" pitchFamily="2" charset="-122"/>
              </a:rPr>
              <a:t>三个语言变体被看作三种独立的语言，原因是里头有民族认同的</a:t>
            </a:r>
            <a:r>
              <a:rPr lang="zh-CN" altLang="en-US" sz="3600">
                <a:solidFill>
                  <a:srgbClr val="0000FF"/>
                </a:solidFill>
                <a:latin typeface="华文中宋" panose="02010600040101010101" pitchFamily="2" charset="-122"/>
                <a:ea typeface="华文中宋" panose="02010600040101010101" pitchFamily="2" charset="-122"/>
              </a:rPr>
              <a:t>问题。</a:t>
            </a:r>
            <a:endParaRPr lang="zh-CN" altLang="en-US" sz="3600" dirty="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988142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p:cNvSpPr txBox="1">
            <a:spLocks noChangeArrowheads="1"/>
          </p:cNvSpPr>
          <p:nvPr/>
        </p:nvSpPr>
        <p:spPr bwMode="auto">
          <a:xfrm>
            <a:off x="120112" y="1305391"/>
            <a:ext cx="8899902" cy="274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450">
                <a:solidFill>
                  <a:srgbClr val="009900"/>
                </a:solidFill>
                <a:latin typeface="等线" panose="02010600030101010101" pitchFamily="2" charset="-122"/>
                <a:ea typeface="等线" panose="02010600030101010101" pitchFamily="2" charset="-122"/>
              </a:rPr>
              <a:t>       </a:t>
            </a:r>
            <a:r>
              <a:rPr lang="zh-CN" altLang="en-US" sz="3450">
                <a:solidFill>
                  <a:srgbClr val="0000FF"/>
                </a:solidFill>
                <a:latin typeface="华文中宋" panose="02010600040101010101" pitchFamily="2" charset="-122"/>
                <a:ea typeface="华文中宋" panose="02010600040101010101" pitchFamily="2" charset="-122"/>
              </a:rPr>
              <a:t>再比如标准的塞尔维亚语（</a:t>
            </a:r>
            <a:r>
              <a:rPr lang="en-US" altLang="zh-CN" sz="3450">
                <a:solidFill>
                  <a:srgbClr val="0000FF"/>
                </a:solidFill>
                <a:latin typeface="华文中宋" panose="02010600040101010101" pitchFamily="2" charset="-122"/>
                <a:ea typeface="华文中宋" panose="02010600040101010101" pitchFamily="2" charset="-122"/>
              </a:rPr>
              <a:t>Serbian</a:t>
            </a:r>
            <a:r>
              <a:rPr lang="zh-CN" altLang="en-US" sz="3450">
                <a:solidFill>
                  <a:srgbClr val="0000FF"/>
                </a:solidFill>
                <a:latin typeface="华文中宋" panose="02010600040101010101" pitchFamily="2" charset="-122"/>
                <a:ea typeface="华文中宋" panose="02010600040101010101" pitchFamily="2" charset="-122"/>
              </a:rPr>
              <a:t>） 和标准的克罗地亚语（</a:t>
            </a:r>
            <a:r>
              <a:rPr lang="en-US" altLang="zh-CN" sz="3450">
                <a:solidFill>
                  <a:srgbClr val="0000FF"/>
                </a:solidFill>
                <a:latin typeface="华文中宋" panose="02010600040101010101" pitchFamily="2" charset="-122"/>
                <a:ea typeface="华文中宋" panose="02010600040101010101" pitchFamily="2" charset="-122"/>
              </a:rPr>
              <a:t>Croatian</a:t>
            </a:r>
            <a:r>
              <a:rPr lang="zh-CN" altLang="en-US" sz="3450">
                <a:solidFill>
                  <a:srgbClr val="0000FF"/>
                </a:solidFill>
                <a:latin typeface="华文中宋" panose="02010600040101010101" pitchFamily="2" charset="-122"/>
                <a:ea typeface="华文中宋" panose="02010600040101010101" pitchFamily="2" charset="-122"/>
              </a:rPr>
              <a:t>），两者有着绝对的互通性，可是无论塞尔维亚人还是克罗地亚人，都坚持认为他们所使用的是两种不同的语言。</a:t>
            </a:r>
            <a:endParaRPr lang="zh-CN" altLang="en-US" sz="3450" dirty="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886691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0" y="217170"/>
            <a:ext cx="9018270" cy="5678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a:latin typeface="+mn-ea"/>
              </a:rPr>
              <a:t>         </a:t>
            </a:r>
            <a:r>
              <a:rPr lang="zh-CN" altLang="en-US" sz="3300">
                <a:solidFill>
                  <a:srgbClr val="0000FF"/>
                </a:solidFill>
                <a:latin typeface="华文中宋" panose="02010600040101010101" pitchFamily="2" charset="-122"/>
                <a:ea typeface="华文中宋" panose="02010600040101010101" pitchFamily="2" charset="-122"/>
              </a:rPr>
              <a:t>比如</a:t>
            </a:r>
            <a:r>
              <a:rPr lang="zh-CN" altLang="en-US" sz="3300" dirty="0">
                <a:solidFill>
                  <a:srgbClr val="0000FF"/>
                </a:solidFill>
                <a:latin typeface="华文中宋" panose="02010600040101010101" pitchFamily="2" charset="-122"/>
                <a:ea typeface="华文中宋" panose="02010600040101010101" pitchFamily="2" charset="-122"/>
              </a:rPr>
              <a:t>挪威</a:t>
            </a:r>
            <a:r>
              <a:rPr lang="zh-CN" altLang="en-US" sz="3300">
                <a:solidFill>
                  <a:srgbClr val="0000FF"/>
                </a:solidFill>
                <a:latin typeface="华文中宋" panose="02010600040101010101" pitchFamily="2" charset="-122"/>
                <a:ea typeface="华文中宋" panose="02010600040101010101" pitchFamily="2" charset="-122"/>
              </a:rPr>
              <a:t>是在 </a:t>
            </a:r>
            <a:r>
              <a:rPr lang="en-US" altLang="zh-CN" sz="3300">
                <a:solidFill>
                  <a:srgbClr val="0000FF"/>
                </a:solidFill>
                <a:latin typeface="华文中宋" panose="02010600040101010101" pitchFamily="2" charset="-122"/>
                <a:ea typeface="华文中宋" panose="02010600040101010101" pitchFamily="2" charset="-122"/>
              </a:rPr>
              <a:t>1914 </a:t>
            </a:r>
            <a:r>
              <a:rPr lang="zh-CN" altLang="en-US" sz="3300">
                <a:solidFill>
                  <a:srgbClr val="0000FF"/>
                </a:solidFill>
                <a:latin typeface="华文中宋" panose="02010600040101010101" pitchFamily="2" charset="-122"/>
                <a:ea typeface="华文中宋" panose="02010600040101010101" pitchFamily="2" charset="-122"/>
              </a:rPr>
              <a:t>年</a:t>
            </a:r>
            <a:r>
              <a:rPr lang="zh-CN" altLang="en-US" sz="3300" dirty="0">
                <a:solidFill>
                  <a:srgbClr val="0000FF"/>
                </a:solidFill>
                <a:latin typeface="华文中宋" panose="02010600040101010101" pitchFamily="2" charset="-122"/>
                <a:ea typeface="华文中宋" panose="02010600040101010101" pitchFamily="2" charset="-122"/>
              </a:rPr>
              <a:t>摆脱丹麦人</a:t>
            </a:r>
            <a:r>
              <a:rPr lang="zh-CN" altLang="en-US" sz="3300">
                <a:solidFill>
                  <a:srgbClr val="0000FF"/>
                </a:solidFill>
                <a:latin typeface="华文中宋" panose="02010600040101010101" pitchFamily="2" charset="-122"/>
                <a:ea typeface="华文中宋" panose="02010600040101010101" pitchFamily="2" charset="-122"/>
              </a:rPr>
              <a:t>长达  </a:t>
            </a:r>
            <a:r>
              <a:rPr lang="en-US" altLang="zh-CN" sz="3300">
                <a:solidFill>
                  <a:srgbClr val="0000FF"/>
                </a:solidFill>
                <a:latin typeface="华文中宋" panose="02010600040101010101" pitchFamily="2" charset="-122"/>
                <a:ea typeface="华文中宋" panose="02010600040101010101" pitchFamily="2" charset="-122"/>
              </a:rPr>
              <a:t>4  </a:t>
            </a:r>
            <a:r>
              <a:rPr lang="zh-CN" altLang="en-US" sz="3300">
                <a:solidFill>
                  <a:srgbClr val="0000FF"/>
                </a:solidFill>
                <a:latin typeface="华文中宋" panose="02010600040101010101" pitchFamily="2" charset="-122"/>
                <a:ea typeface="华文中宋" panose="02010600040101010101" pitchFamily="2" charset="-122"/>
              </a:rPr>
              <a:t>个</a:t>
            </a:r>
            <a:r>
              <a:rPr lang="zh-CN" altLang="en-US" sz="3300" dirty="0">
                <a:solidFill>
                  <a:srgbClr val="0000FF"/>
                </a:solidFill>
                <a:latin typeface="华文中宋" panose="02010600040101010101" pitchFamily="2" charset="-122"/>
                <a:ea typeface="华文中宋" panose="02010600040101010101" pitchFamily="2" charset="-122"/>
              </a:rPr>
              <a:t>世纪的统治的，此时挪威国内并没有民族共同语。</a:t>
            </a:r>
            <a:r>
              <a:rPr lang="en-US" altLang="zh-CN" sz="3300">
                <a:solidFill>
                  <a:srgbClr val="0000FF"/>
                </a:solidFill>
                <a:latin typeface="华文中宋" panose="02010600040101010101" pitchFamily="2" charset="-122"/>
                <a:ea typeface="华文中宋" panose="02010600040101010101" pitchFamily="2" charset="-122"/>
              </a:rPr>
              <a:t>19  </a:t>
            </a:r>
            <a:r>
              <a:rPr lang="zh-CN" altLang="en-US" sz="3300">
                <a:solidFill>
                  <a:srgbClr val="0000FF"/>
                </a:solidFill>
                <a:latin typeface="华文中宋" panose="02010600040101010101" pitchFamily="2" charset="-122"/>
                <a:ea typeface="华文中宋" panose="02010600040101010101" pitchFamily="2" charset="-122"/>
              </a:rPr>
              <a:t>世纪</a:t>
            </a:r>
            <a:r>
              <a:rPr lang="zh-CN" altLang="en-US" sz="3300" dirty="0">
                <a:solidFill>
                  <a:srgbClr val="0000FF"/>
                </a:solidFill>
                <a:latin typeface="华文中宋" panose="02010600040101010101" pitchFamily="2" charset="-122"/>
                <a:ea typeface="华文中宋" panose="02010600040101010101" pitchFamily="2" charset="-122"/>
              </a:rPr>
              <a:t>中叶，挪威的两位语言学家为挪威制订了民族共同语</a:t>
            </a:r>
            <a:r>
              <a:rPr lang="en-US" altLang="zh-CN" sz="3300" dirty="0">
                <a:solidFill>
                  <a:srgbClr val="0000FF"/>
                </a:solidFill>
                <a:latin typeface="华文中宋" panose="02010600040101010101" pitchFamily="2" charset="-122"/>
                <a:ea typeface="华文中宋" panose="02010600040101010101" pitchFamily="2" charset="-122"/>
              </a:rPr>
              <a:t>——</a:t>
            </a:r>
            <a:r>
              <a:rPr lang="zh-CN" altLang="en-US" sz="3300" dirty="0">
                <a:solidFill>
                  <a:srgbClr val="0000FF"/>
                </a:solidFill>
                <a:latin typeface="华文中宋" panose="02010600040101010101" pitchFamily="2" charset="-122"/>
                <a:ea typeface="华文中宋" panose="02010600040101010101" pitchFamily="2" charset="-122"/>
              </a:rPr>
              <a:t>挪威语的</a:t>
            </a:r>
            <a:r>
              <a:rPr lang="zh-CN" altLang="en-US" sz="3300">
                <a:solidFill>
                  <a:srgbClr val="0000FF"/>
                </a:solidFill>
                <a:latin typeface="华文中宋" panose="02010600040101010101" pitchFamily="2" charset="-122"/>
                <a:ea typeface="华文中宋" panose="02010600040101010101" pitchFamily="2" charset="-122"/>
              </a:rPr>
              <a:t>两种变体，一</a:t>
            </a:r>
            <a:r>
              <a:rPr lang="zh-CN" altLang="en-US" sz="3300" dirty="0">
                <a:solidFill>
                  <a:srgbClr val="0000FF"/>
                </a:solidFill>
                <a:latin typeface="华文中宋" panose="02010600040101010101" pitchFamily="2" charset="-122"/>
                <a:ea typeface="华文中宋" panose="02010600040101010101" pitchFamily="2" charset="-122"/>
              </a:rPr>
              <a:t>种是由克</a:t>
            </a:r>
            <a:r>
              <a:rPr lang="zh-CN" altLang="en-US" sz="3300">
                <a:solidFill>
                  <a:srgbClr val="0000FF"/>
                </a:solidFill>
                <a:latin typeface="华文中宋" panose="02010600040101010101" pitchFamily="2" charset="-122"/>
                <a:ea typeface="华文中宋" panose="02010600040101010101" pitchFamily="2" charset="-122"/>
              </a:rPr>
              <a:t>努森</a:t>
            </a:r>
            <a:r>
              <a:rPr lang="zh-CN" altLang="en-US" sz="2000">
                <a:solidFill>
                  <a:srgbClr val="0000FF"/>
                </a:solidFill>
                <a:latin typeface="华文中宋" panose="02010600040101010101" pitchFamily="2" charset="-122"/>
                <a:ea typeface="华文中宋" panose="02010600040101010101" pitchFamily="2" charset="-122"/>
              </a:rPr>
              <a:t>（</a:t>
            </a:r>
            <a:r>
              <a:rPr lang="en-US" altLang="zh-CN" sz="2000">
                <a:solidFill>
                  <a:srgbClr val="0000FF"/>
                </a:solidFill>
                <a:latin typeface="华文中宋" panose="02010600040101010101" pitchFamily="2" charset="-122"/>
                <a:ea typeface="华文中宋" panose="02010600040101010101" pitchFamily="2" charset="-122"/>
              </a:rPr>
              <a:t>Knud Knudsen</a:t>
            </a:r>
            <a:r>
              <a:rPr lang="zh-CN" altLang="en-US" sz="2000">
                <a:solidFill>
                  <a:srgbClr val="0000FF"/>
                </a:solidFill>
                <a:latin typeface="华文中宋" panose="02010600040101010101" pitchFamily="2" charset="-122"/>
                <a:ea typeface="华文中宋" panose="02010600040101010101" pitchFamily="2" charset="-122"/>
              </a:rPr>
              <a:t>）</a:t>
            </a:r>
            <a:r>
              <a:rPr lang="zh-CN" altLang="en-US" sz="3300">
                <a:solidFill>
                  <a:srgbClr val="0000FF"/>
                </a:solidFill>
                <a:latin typeface="华文中宋" panose="02010600040101010101" pitchFamily="2" charset="-122"/>
                <a:ea typeface="华文中宋" panose="02010600040101010101" pitchFamily="2" charset="-122"/>
              </a:rPr>
              <a:t>制订的 </a:t>
            </a:r>
            <a:r>
              <a:rPr lang="en-US" altLang="zh-CN" sz="3300">
                <a:solidFill>
                  <a:srgbClr val="0000FF"/>
                </a:solidFill>
                <a:latin typeface="华文中宋" panose="02010600040101010101" pitchFamily="2" charset="-122"/>
                <a:ea typeface="华文中宋" panose="02010600040101010101" pitchFamily="2" charset="-122"/>
              </a:rPr>
              <a:t>Riksmål</a:t>
            </a:r>
            <a:r>
              <a:rPr lang="zh-CN" altLang="en-US" sz="3300">
                <a:solidFill>
                  <a:srgbClr val="0000FF"/>
                </a:solidFill>
                <a:latin typeface="华文中宋" panose="02010600040101010101" pitchFamily="2" charset="-122"/>
                <a:ea typeface="华文中宋" panose="02010600040101010101" pitchFamily="2" charset="-122"/>
              </a:rPr>
              <a:t>（国语）。</a:t>
            </a:r>
            <a:r>
              <a:rPr lang="zh-CN" altLang="en-US" sz="3300" dirty="0">
                <a:solidFill>
                  <a:srgbClr val="0000FF"/>
                </a:solidFill>
                <a:latin typeface="华文中宋" panose="02010600040101010101" pitchFamily="2" charset="-122"/>
                <a:ea typeface="华文中宋" panose="02010600040101010101" pitchFamily="2" charset="-122"/>
              </a:rPr>
              <a:t>它是丹麦标准语的一种变体，</a:t>
            </a:r>
            <a:r>
              <a:rPr lang="zh-CN" altLang="en-US" sz="3300">
                <a:solidFill>
                  <a:srgbClr val="0000FF"/>
                </a:solidFill>
                <a:latin typeface="华文中宋" panose="02010600040101010101" pitchFamily="2" charset="-122"/>
                <a:ea typeface="华文中宋" panose="02010600040101010101" pitchFamily="2" charset="-122"/>
              </a:rPr>
              <a:t>后改称 </a:t>
            </a:r>
            <a:r>
              <a:rPr lang="en-US" altLang="zh-CN" sz="3300">
                <a:solidFill>
                  <a:srgbClr val="0000FF"/>
                </a:solidFill>
                <a:latin typeface="华文中宋" panose="02010600040101010101" pitchFamily="2" charset="-122"/>
                <a:ea typeface="华文中宋" panose="02010600040101010101" pitchFamily="2" charset="-122"/>
              </a:rPr>
              <a:t>Bokmål</a:t>
            </a:r>
            <a:r>
              <a:rPr lang="zh-CN" altLang="en-US" sz="3300">
                <a:solidFill>
                  <a:srgbClr val="0000FF"/>
                </a:solidFill>
                <a:latin typeface="华文中宋" panose="02010600040101010101" pitchFamily="2" charset="-122"/>
                <a:ea typeface="华文中宋" panose="02010600040101010101" pitchFamily="2" charset="-122"/>
              </a:rPr>
              <a:t>（书面语）。</a:t>
            </a:r>
            <a:r>
              <a:rPr lang="zh-CN" altLang="en-US" sz="3300" dirty="0">
                <a:solidFill>
                  <a:srgbClr val="0000FF"/>
                </a:solidFill>
                <a:latin typeface="华文中宋" panose="02010600040101010101" pitchFamily="2" charset="-122"/>
                <a:ea typeface="华文中宋" panose="02010600040101010101" pitchFamily="2" charset="-122"/>
              </a:rPr>
              <a:t>另一种是由</a:t>
            </a:r>
            <a:r>
              <a:rPr lang="zh-CN" altLang="en-US" sz="3300">
                <a:solidFill>
                  <a:srgbClr val="0000FF"/>
                </a:solidFill>
                <a:latin typeface="华文中宋" panose="02010600040101010101" pitchFamily="2" charset="-122"/>
                <a:ea typeface="华文中宋" panose="02010600040101010101" pitchFamily="2" charset="-122"/>
              </a:rPr>
              <a:t>奥森</a:t>
            </a:r>
            <a:r>
              <a:rPr lang="zh-CN" altLang="en-US" sz="2000">
                <a:solidFill>
                  <a:srgbClr val="0000FF"/>
                </a:solidFill>
                <a:latin typeface="华文中宋" panose="02010600040101010101" pitchFamily="2" charset="-122"/>
                <a:ea typeface="华文中宋" panose="02010600040101010101" pitchFamily="2" charset="-122"/>
              </a:rPr>
              <a:t>（</a:t>
            </a:r>
            <a:r>
              <a:rPr lang="en-US" altLang="zh-CN" sz="2000">
                <a:solidFill>
                  <a:srgbClr val="0000FF"/>
                </a:solidFill>
                <a:latin typeface="华文中宋" panose="02010600040101010101" pitchFamily="2" charset="-122"/>
                <a:ea typeface="华文中宋" panose="02010600040101010101" pitchFamily="2" charset="-122"/>
              </a:rPr>
              <a:t>Ivar Aasen</a:t>
            </a:r>
            <a:r>
              <a:rPr lang="zh-CN" altLang="en-US" sz="2000">
                <a:solidFill>
                  <a:srgbClr val="0000FF"/>
                </a:solidFill>
                <a:latin typeface="华文中宋" panose="02010600040101010101" pitchFamily="2" charset="-122"/>
                <a:ea typeface="华文中宋" panose="02010600040101010101" pitchFamily="2" charset="-122"/>
              </a:rPr>
              <a:t>）</a:t>
            </a:r>
            <a:r>
              <a:rPr lang="zh-CN" altLang="en-US" sz="3300">
                <a:solidFill>
                  <a:srgbClr val="0000FF"/>
                </a:solidFill>
                <a:latin typeface="华文中宋" panose="02010600040101010101" pitchFamily="2" charset="-122"/>
                <a:ea typeface="华文中宋" panose="02010600040101010101" pitchFamily="2" charset="-122"/>
              </a:rPr>
              <a:t>创造的 </a:t>
            </a:r>
            <a:r>
              <a:rPr lang="en-US" altLang="zh-CN" sz="3300">
                <a:solidFill>
                  <a:srgbClr val="0000FF"/>
                </a:solidFill>
                <a:latin typeface="华文中宋" panose="02010600040101010101" pitchFamily="2" charset="-122"/>
                <a:ea typeface="华文中宋" panose="02010600040101010101" pitchFamily="2" charset="-122"/>
              </a:rPr>
              <a:t>Landsmål</a:t>
            </a:r>
            <a:r>
              <a:rPr lang="zh-CN" altLang="en-US" sz="3300">
                <a:solidFill>
                  <a:srgbClr val="0000FF"/>
                </a:solidFill>
                <a:latin typeface="华文中宋" panose="02010600040101010101" pitchFamily="2" charset="-122"/>
                <a:ea typeface="华文中宋" panose="02010600040101010101" pitchFamily="2" charset="-122"/>
              </a:rPr>
              <a:t>（乡村语），它</a:t>
            </a:r>
            <a:r>
              <a:rPr lang="zh-CN" altLang="en-US" sz="3300" dirty="0">
                <a:solidFill>
                  <a:srgbClr val="0000FF"/>
                </a:solidFill>
                <a:latin typeface="华文中宋" panose="02010600040101010101" pitchFamily="2" charset="-122"/>
                <a:ea typeface="华文中宋" panose="02010600040101010101" pitchFamily="2" charset="-122"/>
              </a:rPr>
              <a:t>以挪威乡村方言为基础，现</a:t>
            </a:r>
            <a:r>
              <a:rPr lang="zh-CN" altLang="en-US" sz="3300">
                <a:solidFill>
                  <a:srgbClr val="0000FF"/>
                </a:solidFill>
                <a:latin typeface="华文中宋" panose="02010600040101010101" pitchFamily="2" charset="-122"/>
                <a:ea typeface="华文中宋" panose="02010600040101010101" pitchFamily="2" charset="-122"/>
              </a:rPr>
              <a:t>改称 </a:t>
            </a:r>
            <a:r>
              <a:rPr lang="en-US" altLang="zh-CN" sz="3300">
                <a:solidFill>
                  <a:srgbClr val="0000FF"/>
                </a:solidFill>
                <a:latin typeface="华文中宋" panose="02010600040101010101" pitchFamily="2" charset="-122"/>
                <a:ea typeface="华文中宋" panose="02010600040101010101" pitchFamily="2" charset="-122"/>
              </a:rPr>
              <a:t>Nynorsk</a:t>
            </a:r>
            <a:r>
              <a:rPr lang="zh-CN" altLang="en-US" sz="3300">
                <a:solidFill>
                  <a:srgbClr val="0000FF"/>
                </a:solidFill>
                <a:latin typeface="华文中宋" panose="02010600040101010101" pitchFamily="2" charset="-122"/>
                <a:ea typeface="华文中宋" panose="02010600040101010101" pitchFamily="2" charset="-122"/>
              </a:rPr>
              <a:t>（新挪威语）。</a:t>
            </a:r>
            <a:r>
              <a:rPr lang="zh-CN" altLang="en-US" sz="3300" dirty="0">
                <a:solidFill>
                  <a:srgbClr val="0000FF"/>
                </a:solidFill>
                <a:latin typeface="华文中宋" panose="02010600040101010101" pitchFamily="2" charset="-122"/>
                <a:ea typeface="华文中宋" panose="02010600040101010101" pitchFamily="2" charset="-122"/>
              </a:rPr>
              <a:t>两者的差别很小，现同为挪威的官方语言。很明显，挪威语的身份乃拜政治独立所赐。</a:t>
            </a:r>
          </a:p>
        </p:txBody>
      </p:sp>
    </p:spTree>
    <p:extLst>
      <p:ext uri="{BB962C8B-B14F-4D97-AF65-F5344CB8AC3E}">
        <p14:creationId xmlns:p14="http://schemas.microsoft.com/office/powerpoint/2010/main" val="819372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193729" y="241016"/>
            <a:ext cx="8950271"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600" dirty="0">
                <a:solidFill>
                  <a:srgbClr val="009900"/>
                </a:solidFill>
                <a:latin typeface="华文中宋" panose="02010600040101010101" pitchFamily="2" charset="-122"/>
                <a:ea typeface="华文中宋" panose="02010600040101010101" pitchFamily="2" charset="-122"/>
              </a:rPr>
              <a:t>      </a:t>
            </a:r>
            <a:r>
              <a:rPr lang="zh-CN" altLang="en-US" sz="3600" dirty="0">
                <a:solidFill>
                  <a:srgbClr val="0000FF"/>
                </a:solidFill>
                <a:latin typeface="华文中宋" panose="02010600040101010101" pitchFamily="2" charset="-122"/>
                <a:ea typeface="华文中宋" panose="02010600040101010101" pitchFamily="2" charset="-122"/>
              </a:rPr>
              <a:t>反观汉语，</a:t>
            </a:r>
            <a:r>
              <a:rPr lang="zh-CN" altLang="en-US" sz="3600">
                <a:solidFill>
                  <a:srgbClr val="0000FF"/>
                </a:solidFill>
                <a:latin typeface="华文中宋" panose="02010600040101010101" pitchFamily="2" charset="-122"/>
                <a:ea typeface="华文中宋" panose="02010600040101010101" pitchFamily="2" charset="-122"/>
              </a:rPr>
              <a:t>尽管各地土话千差万别</a:t>
            </a:r>
            <a:r>
              <a:rPr lang="zh-CN" altLang="en-US" sz="3600" dirty="0">
                <a:solidFill>
                  <a:srgbClr val="0000FF"/>
                </a:solidFill>
                <a:latin typeface="华文中宋" panose="02010600040101010101" pitchFamily="2" charset="-122"/>
                <a:ea typeface="华文中宋" panose="02010600040101010101" pitchFamily="2" charset="-122"/>
              </a:rPr>
              <a:t>，常常到了不能通话的程度，可是有相同的民族文化认同，使用相同的文字和书面语，而且自古就有超越地域的“雅言”</a:t>
            </a:r>
            <a:r>
              <a:rPr lang="en-US" altLang="zh-CN" sz="3600" dirty="0">
                <a:solidFill>
                  <a:srgbClr val="0000FF"/>
                </a:solidFill>
                <a:latin typeface="华文中宋" panose="02010600040101010101" pitchFamily="2" charset="-122"/>
                <a:ea typeface="华文中宋" panose="02010600040101010101" pitchFamily="2" charset="-122"/>
              </a:rPr>
              <a:t>(</a:t>
            </a:r>
            <a:r>
              <a:rPr lang="zh-CN" altLang="en-US" sz="3600" dirty="0">
                <a:solidFill>
                  <a:srgbClr val="0000FF"/>
                </a:solidFill>
                <a:latin typeface="华文中宋" panose="02010600040101010101" pitchFamily="2" charset="-122"/>
                <a:ea typeface="华文中宋" panose="02010600040101010101" pitchFamily="2" charset="-122"/>
              </a:rPr>
              <a:t>共同语</a:t>
            </a:r>
            <a:r>
              <a:rPr lang="en-US" altLang="zh-CN" sz="3600" dirty="0">
                <a:solidFill>
                  <a:srgbClr val="0000FF"/>
                </a:solidFill>
                <a:latin typeface="华文中宋" panose="02010600040101010101" pitchFamily="2" charset="-122"/>
                <a:ea typeface="华文中宋" panose="02010600040101010101" pitchFamily="2" charset="-122"/>
              </a:rPr>
              <a:t>)</a:t>
            </a:r>
            <a:r>
              <a:rPr lang="zh-CN" altLang="en-US" sz="3600" dirty="0">
                <a:solidFill>
                  <a:srgbClr val="0000FF"/>
                </a:solidFill>
                <a:latin typeface="华文中宋" panose="02010600040101010101" pitchFamily="2" charset="-122"/>
                <a:ea typeface="华文中宋" panose="02010600040101010101" pitchFamily="2" charset="-122"/>
              </a:rPr>
              <a:t>存在</a:t>
            </a:r>
            <a:r>
              <a:rPr lang="en-US" altLang="zh-CN" sz="3600" dirty="0">
                <a:solidFill>
                  <a:srgbClr val="0000FF"/>
                </a:solidFill>
                <a:latin typeface="华文中宋" panose="02010600040101010101" pitchFamily="2" charset="-122"/>
                <a:ea typeface="华文中宋" panose="02010600040101010101" pitchFamily="2" charset="-122"/>
              </a:rPr>
              <a:t>, </a:t>
            </a:r>
            <a:r>
              <a:rPr lang="zh-CN" altLang="en-US" sz="3600" dirty="0">
                <a:solidFill>
                  <a:srgbClr val="0000FF"/>
                </a:solidFill>
                <a:latin typeface="华文中宋" panose="02010600040101010101" pitchFamily="2" charset="-122"/>
                <a:ea typeface="华文中宋" panose="02010600040101010101" pitchFamily="2" charset="-122"/>
              </a:rPr>
              <a:t>因此这些语言变体只能看作是方言，而不是独立的</a:t>
            </a:r>
            <a:r>
              <a:rPr lang="zh-CN" altLang="en-US" sz="3600">
                <a:solidFill>
                  <a:srgbClr val="0000FF"/>
                </a:solidFill>
                <a:latin typeface="华文中宋" panose="02010600040101010101" pitchFamily="2" charset="-122"/>
                <a:ea typeface="华文中宋" panose="02010600040101010101" pitchFamily="2" charset="-122"/>
              </a:rPr>
              <a:t>语言。</a:t>
            </a:r>
            <a:endParaRPr lang="en-US" altLang="zh-CN" sz="36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600">
                <a:solidFill>
                  <a:srgbClr val="0000FF"/>
                </a:solidFill>
                <a:latin typeface="华文中宋" panose="02010600040101010101" pitchFamily="2" charset="-122"/>
                <a:ea typeface="华文中宋" panose="02010600040101010101" pitchFamily="2" charset="-122"/>
              </a:rPr>
              <a:t>      </a:t>
            </a:r>
            <a:r>
              <a:rPr lang="zh-CN" altLang="en-US" sz="3600">
                <a:solidFill>
                  <a:srgbClr val="0000FF"/>
                </a:solidFill>
                <a:latin typeface="华文中宋" panose="02010600040101010101" pitchFamily="2" charset="-122"/>
                <a:ea typeface="华文中宋" panose="02010600040101010101" pitchFamily="2" charset="-122"/>
              </a:rPr>
              <a:t>因此热衷于把汉语看成是由多种语言组成的语族的学者，如果不是书呆子，就是心怀叵测者。</a:t>
            </a:r>
          </a:p>
          <a:p>
            <a:pPr>
              <a:spcBef>
                <a:spcPct val="50000"/>
              </a:spcBef>
            </a:pPr>
            <a:endParaRPr lang="zh-CN" altLang="en-US" sz="3600" dirty="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288137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8777" y="158234"/>
            <a:ext cx="8399443" cy="7171194"/>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四、普通话和方言的关系</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3300">
                <a:solidFill>
                  <a:srgbClr val="0000FF"/>
                </a:solidFill>
                <a:latin typeface="华文中宋" panose="02010600040101010101" pitchFamily="2" charset="-122"/>
                <a:ea typeface="华文中宋" panose="02010600040101010101" pitchFamily="2" charset="-122"/>
              </a:rPr>
              <a:t>    李荣先生对此已经有精辟的论述：</a:t>
            </a:r>
            <a:endParaRPr lang="en-US" altLang="zh-CN" sz="33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2300">
                <a:solidFill>
                  <a:srgbClr val="00B050"/>
                </a:solidFill>
                <a:latin typeface="仿宋" panose="02010609060101010101" pitchFamily="49" charset="-122"/>
                <a:ea typeface="仿宋" panose="02010609060101010101" pitchFamily="49" charset="-122"/>
              </a:rPr>
              <a:t>    </a:t>
            </a:r>
            <a:r>
              <a:rPr lang="zh-CN" altLang="zh-CN" sz="2300">
                <a:solidFill>
                  <a:srgbClr val="00B050"/>
                </a:solidFill>
                <a:latin typeface="仿宋" panose="02010609060101010101" pitchFamily="49" charset="-122"/>
                <a:ea typeface="仿宋" panose="02010609060101010101" pitchFamily="49" charset="-122"/>
              </a:rPr>
              <a:t>普通话在方言之中，又在方言之上。普通话是全国人民学习的对象，所以说普通话在方言之上。十亿人口的大国，标准语、标准音不用一个活方言——北京话做底子，是不可想象的。所以说普通话在方言之中。人为的分尖团、有入声的老国音之所以失败，道理就在这里。（以色列只有四百万人，又来自世界各地，才能复兴希伯来文做标准语。新加坡只有二百四十万人，是个世界码头，才能规定用英语作官方语言。新加坡人口中有四分之三是华人，方言不一，所以又推广普通话</a:t>
            </a:r>
            <a:r>
              <a:rPr lang="en-US" altLang="zh-CN" sz="2300">
                <a:solidFill>
                  <a:srgbClr val="00B050"/>
                </a:solidFill>
                <a:latin typeface="仿宋" panose="02010609060101010101" pitchFamily="49" charset="-122"/>
                <a:ea typeface="仿宋" panose="02010609060101010101" pitchFamily="49" charset="-122"/>
              </a:rPr>
              <a:t>[</a:t>
            </a:r>
            <a:r>
              <a:rPr lang="zh-CN" altLang="zh-CN" sz="2300">
                <a:solidFill>
                  <a:srgbClr val="00B050"/>
                </a:solidFill>
                <a:latin typeface="仿宋" panose="02010609060101010101" pitchFamily="49" charset="-122"/>
                <a:ea typeface="仿宋" panose="02010609060101010101" pitchFamily="49" charset="-122"/>
              </a:rPr>
              <a:t>当地叫华语</a:t>
            </a:r>
            <a:r>
              <a:rPr lang="en-US" altLang="zh-CN" sz="2300">
                <a:solidFill>
                  <a:srgbClr val="00B050"/>
                </a:solidFill>
                <a:latin typeface="仿宋" panose="02010609060101010101" pitchFamily="49" charset="-122"/>
                <a:ea typeface="仿宋" panose="02010609060101010101" pitchFamily="49" charset="-122"/>
              </a:rPr>
              <a:t>]</a:t>
            </a:r>
            <a:r>
              <a:rPr lang="zh-CN" altLang="zh-CN" sz="2300">
                <a:solidFill>
                  <a:srgbClr val="00B050"/>
                </a:solidFill>
                <a:latin typeface="仿宋" panose="02010609060101010101" pitchFamily="49" charset="-122"/>
                <a:ea typeface="仿宋" panose="02010609060101010101" pitchFamily="49" charset="-122"/>
              </a:rPr>
              <a:t>。）北京话作为普通话的底子，事实上已经吸收了大量的方言成分。古清音入声字北京话分读阴阳上去四声，就体现出北京话的综合性。有人借此指摘北京音这一点在古今音演变上规律性不强。这个指摘是站不住脚的。任何方言在逐渐演进为全国标准的过程中，必然要吸收书面语和其他方言的成分。</a:t>
            </a:r>
            <a:endParaRPr lang="en-US" altLang="zh-CN" sz="2300">
              <a:solidFill>
                <a:srgbClr val="00B050"/>
              </a:solidFill>
              <a:latin typeface="仿宋" panose="02010609060101010101" pitchFamily="49" charset="-122"/>
              <a:ea typeface="仿宋" panose="02010609060101010101" pitchFamily="49" charset="-122"/>
            </a:endParaRPr>
          </a:p>
          <a:p>
            <a:pPr>
              <a:spcBef>
                <a:spcPct val="50000"/>
              </a:spcBef>
            </a:pPr>
            <a:endParaRPr lang="en-US" altLang="zh-CN" sz="40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404539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5927" y="398264"/>
            <a:ext cx="8399443" cy="5016758"/>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    虽然普通话作为强势的汉语变体，正在全方位影响着方言，但是普通话和方言的影响其实是双向的。方言对普通话的影响除了向普通话输入一些字音、词汇或语法习惯，更重要的方面是让普通话产生大量的变体</a:t>
            </a:r>
            <a:r>
              <a:rPr lang="en-US" altLang="zh-CN" sz="4000">
                <a:solidFill>
                  <a:srgbClr val="0000FF"/>
                </a:solidFill>
                <a:latin typeface="华文中宋" panose="02010600040101010101" pitchFamily="2" charset="-122"/>
                <a:ea typeface="华文中宋" panose="02010600040101010101" pitchFamily="2" charset="-122"/>
              </a:rPr>
              <a:t>——</a:t>
            </a:r>
            <a:r>
              <a:rPr lang="zh-CN" altLang="en-US" sz="4000">
                <a:solidFill>
                  <a:srgbClr val="0000FF"/>
                </a:solidFill>
                <a:latin typeface="华文中宋" panose="02010600040101010101" pitchFamily="2" charset="-122"/>
                <a:ea typeface="华文中宋" panose="02010600040101010101" pitchFamily="2" charset="-122"/>
              </a:rPr>
              <a:t>即各种各样的地方普通话，这给汉语的教学带来了深刻的影响。</a:t>
            </a:r>
          </a:p>
        </p:txBody>
      </p:sp>
    </p:spTree>
    <p:extLst>
      <p:ext uri="{BB962C8B-B14F-4D97-AF65-F5344CB8AC3E}">
        <p14:creationId xmlns:p14="http://schemas.microsoft.com/office/powerpoint/2010/main" val="1296287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927" y="217170"/>
            <a:ext cx="8696623" cy="6028849"/>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五、汉语方言的调查及其研究</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      李荣先生有一段话是说明方言调查的重要性的，抄录如下：</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600">
                <a:solidFill>
                  <a:srgbClr val="00B050"/>
                </a:solidFill>
                <a:latin typeface="仿宋" panose="02010609060101010101" pitchFamily="49" charset="-122"/>
                <a:ea typeface="仿宋" panose="02010609060101010101" pitchFamily="49" charset="-122"/>
              </a:rPr>
              <a:t>    </a:t>
            </a:r>
            <a:r>
              <a:rPr lang="zh-CN" altLang="zh-CN" sz="3600">
                <a:solidFill>
                  <a:srgbClr val="00B050"/>
                </a:solidFill>
                <a:latin typeface="仿宋" panose="02010609060101010101" pitchFamily="49" charset="-122"/>
                <a:ea typeface="仿宋" panose="02010609060101010101" pitchFamily="49" charset="-122"/>
              </a:rPr>
              <a:t>方言研究以调查为主。不调查方言就谈不上研究方言。离开调查，方言研究就是无源之水，无本之木。只有搜集新的语料，才能打开眼界，提高认识。只有亲身调查方言，领略其甘苦，才能理解并运用别人的调查成果。</a:t>
            </a:r>
            <a:endParaRPr lang="zh-CN" altLang="en-US" sz="3600">
              <a:solidFill>
                <a:srgbClr val="00B050"/>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117965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927" y="398264"/>
            <a:ext cx="8399443" cy="4308872"/>
          </a:xfrm>
          <a:prstGeom prst="rect">
            <a:avLst/>
          </a:prstGeom>
        </p:spPr>
        <p:txBody>
          <a:bodyPr wrap="square">
            <a:spAutoFit/>
          </a:bodyPr>
          <a:lstStyle/>
          <a:p>
            <a:pPr>
              <a:spcBef>
                <a:spcPct val="50000"/>
              </a:spcBef>
            </a:pPr>
            <a:r>
              <a:rPr lang="en-US" altLang="zh-CN" sz="4000">
                <a:solidFill>
                  <a:srgbClr val="0000FF"/>
                </a:solidFill>
                <a:latin typeface="华文中宋" panose="02010600040101010101" pitchFamily="2" charset="-122"/>
                <a:ea typeface="华文中宋" panose="02010600040101010101" pitchFamily="2" charset="-122"/>
              </a:rPr>
              <a:t>1.</a:t>
            </a:r>
            <a:r>
              <a:rPr lang="zh-CN" altLang="en-US" sz="4000">
                <a:solidFill>
                  <a:srgbClr val="0000FF"/>
                </a:solidFill>
                <a:latin typeface="华文中宋" panose="02010600040101010101" pitchFamily="2" charset="-122"/>
                <a:ea typeface="华文中宋" panose="02010600040101010101" pitchFamily="2" charset="-122"/>
              </a:rPr>
              <a:t>业务准备</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4000">
                <a:solidFill>
                  <a:srgbClr val="0000FF"/>
                </a:solidFill>
                <a:latin typeface="华文中宋" panose="02010600040101010101" pitchFamily="2" charset="-122"/>
                <a:ea typeface="华文中宋" panose="02010600040101010101" pitchFamily="2" charset="-122"/>
              </a:rPr>
              <a:t>2.</a:t>
            </a:r>
            <a:r>
              <a:rPr lang="zh-CN" altLang="en-US" sz="4000">
                <a:solidFill>
                  <a:srgbClr val="0000FF"/>
                </a:solidFill>
                <a:latin typeface="华文中宋" panose="02010600040101010101" pitchFamily="2" charset="-122"/>
                <a:ea typeface="华文中宋" panose="02010600040101010101" pitchFamily="2" charset="-122"/>
              </a:rPr>
              <a:t>发音合作人的选择</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600">
                <a:solidFill>
                  <a:srgbClr val="00B050"/>
                </a:solidFill>
                <a:latin typeface="Times New Roman" panose="02020603050405020304" pitchFamily="18" charset="0"/>
                <a:cs typeface="Times New Roman" panose="02020603050405020304" pitchFamily="18" charset="0"/>
              </a:rPr>
              <a:t>     NORMs(nonmobile, older, rural, males)</a:t>
            </a:r>
            <a:endParaRPr lang="en-US" altLang="zh-CN" sz="3600">
              <a:solidFill>
                <a:srgbClr val="00B050"/>
              </a:solidFill>
              <a:latin typeface="Times New Roman" panose="02020603050405020304" pitchFamily="18" charset="0"/>
              <a:ea typeface="华文中宋" panose="02010600040101010101" pitchFamily="2" charset="-122"/>
              <a:cs typeface="Times New Roman" panose="02020603050405020304" pitchFamily="18" charset="0"/>
            </a:endParaRPr>
          </a:p>
          <a:p>
            <a:pPr>
              <a:spcBef>
                <a:spcPct val="50000"/>
              </a:spcBef>
            </a:pPr>
            <a:r>
              <a:rPr lang="en-US" altLang="zh-CN" sz="4000">
                <a:solidFill>
                  <a:srgbClr val="0000FF"/>
                </a:solidFill>
                <a:latin typeface="华文中宋" panose="02010600040101010101" pitchFamily="2" charset="-122"/>
                <a:ea typeface="华文中宋" panose="02010600040101010101" pitchFamily="2" charset="-122"/>
              </a:rPr>
              <a:t>3.</a:t>
            </a:r>
            <a:r>
              <a:rPr lang="zh-CN" altLang="en-US" sz="4000">
                <a:solidFill>
                  <a:srgbClr val="0000FF"/>
                </a:solidFill>
                <a:latin typeface="华文中宋" panose="02010600040101010101" pitchFamily="2" charset="-122"/>
                <a:ea typeface="华文中宋" panose="02010600040101010101" pitchFamily="2" charset="-122"/>
              </a:rPr>
              <a:t>让自己融入当地的语言文化生活</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endParaRPr lang="zh-CN" altLang="en-US" sz="40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538614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86100" y="1611630"/>
            <a:ext cx="4080509" cy="2450783"/>
          </a:xfrm>
          <a:prstGeom prst="rect">
            <a:avLst/>
          </a:prstGeom>
        </p:spPr>
        <p:txBody>
          <a:bodyPr wrap="square">
            <a:spAutoFit/>
          </a:bodyPr>
          <a:lstStyle/>
          <a:p>
            <a:pPr>
              <a:spcBef>
                <a:spcPct val="50000"/>
              </a:spcBef>
            </a:pPr>
            <a:r>
              <a:rPr lang="zh-CN" altLang="en-US" sz="9000">
                <a:solidFill>
                  <a:srgbClr val="0000FF"/>
                </a:solidFill>
                <a:latin typeface="华文中宋" panose="02010600040101010101" pitchFamily="2" charset="-122"/>
                <a:ea typeface="华文中宋" panose="02010600040101010101" pitchFamily="2" charset="-122"/>
              </a:rPr>
              <a:t>谢谢！</a:t>
            </a:r>
            <a:endParaRPr lang="en-US" altLang="zh-CN" sz="9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4000">
                <a:solidFill>
                  <a:srgbClr val="0000FF"/>
                </a:solidFill>
                <a:latin typeface="华文中宋" panose="02010600040101010101" pitchFamily="2" charset="-122"/>
                <a:ea typeface="华文中宋" panose="02010600040101010101" pitchFamily="2" charset="-122"/>
              </a:rPr>
              <a:t>Thank you!</a:t>
            </a:r>
            <a:endParaRPr lang="zh-CN" altLang="en-US" sz="40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6581282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356</TotalTime>
  <Words>2868</Words>
  <Application>Microsoft Office PowerPoint</Application>
  <PresentationFormat>全屏显示(4:3)</PresentationFormat>
  <Paragraphs>89</Paragraphs>
  <Slides>41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41</vt:i4>
      </vt:variant>
    </vt:vector>
  </HeadingPairs>
  <TitlesOfParts>
    <vt:vector size="52" baseType="lpstr">
      <vt:lpstr>等线</vt:lpstr>
      <vt:lpstr>方正国际音标</vt:lpstr>
      <vt:lpstr>方正书宋简体</vt:lpstr>
      <vt:lpstr>仿宋</vt:lpstr>
      <vt:lpstr>华文中宋</vt:lpstr>
      <vt:lpstr>楷体</vt:lpstr>
      <vt:lpstr>Arial</vt:lpstr>
      <vt:lpstr>Calibri</vt:lpstr>
      <vt:lpstr>Calibri Light</vt:lpstr>
      <vt:lpstr>Times New Roman</vt:lpstr>
      <vt:lpstr>Office 主题​​</vt:lpstr>
      <vt:lpstr> “认识中国的方法”系列讲座课程 2021-2022 学年第九讲  汉语方言及其调查研究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“认识中国的方法”系列讲座课程 2021-2022 学年第九讲  汉语方言及其调查研究</dc:title>
  <dc:creator>个人用户</dc:creator>
  <cp:lastModifiedBy>ZhangYQ</cp:lastModifiedBy>
  <cp:revision>23</cp:revision>
  <dcterms:created xsi:type="dcterms:W3CDTF">2021-11-24T01:32:04Z</dcterms:created>
  <dcterms:modified xsi:type="dcterms:W3CDTF">2026-06-08T08:47:51Z</dcterms:modified>
</cp:coreProperties>
</file>