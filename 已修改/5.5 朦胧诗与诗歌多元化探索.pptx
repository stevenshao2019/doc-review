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400" b="0" u="none" strike="noStrike">
                <a:solidFill>
                  <a:srgbClr val="0039AC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39AC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CC3300"/>
              </a:buClr>
              <a:buSzPct val="85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799"/>
              </a:spcBef>
              <a:buClr>
                <a:srgbClr val="0066FF"/>
              </a:buClr>
              <a:buSzPct val="85000"/>
              <a:buFont typeface="Wingdings" charset="2"/>
              <a:buChar char="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799"/>
              </a:spcBef>
              <a:buClr>
                <a:srgbClr val="CC3300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799"/>
              </a:spcBef>
              <a:buClr>
                <a:srgbClr val="0066FF"/>
              </a:buClr>
              <a:buSzPct val="90000"/>
              <a:buFont typeface="Wingdings" charset="2"/>
              <a:buChar char="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799"/>
              </a:spcBef>
              <a:buClr>
                <a:srgbClr val="CC3300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799"/>
              </a:spcBef>
              <a:buClr>
                <a:srgbClr val="080808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799"/>
              </a:spcBef>
              <a:buClr>
                <a:srgbClr val="080808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CC3300"/>
              </a:buClr>
              <a:buSzPct val="85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66FF"/>
              </a:buClr>
              <a:buSzPct val="85000"/>
              <a:buFont typeface="Wingdings" charset="2"/>
              <a:buChar char="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799"/>
              </a:spcBef>
              <a:buClr>
                <a:srgbClr val="CC3300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66FF"/>
              </a:buClr>
              <a:buSzPct val="90000"/>
              <a:buFont typeface="Wingdings" charset="2"/>
              <a:buChar char="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799"/>
              </a:spcBef>
              <a:buClr>
                <a:srgbClr val="CC3300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80808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80808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C265A5A-737C-40E7-B562-CBF99A1BA6E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R02"/>
          <p:cNvPicPr/>
          <p:nvPr/>
        </p:nvPicPr>
        <p:blipFill>
          <a:blip r:embed="rId2"/>
          <a:stretch/>
        </p:blipFill>
        <p:spPr>
          <a:xfrm>
            <a:off x="0" y="4303800"/>
            <a:ext cx="9144000" cy="255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3" descr="R04"/>
          <p:cNvPicPr/>
          <p:nvPr/>
        </p:nvPicPr>
        <p:blipFill>
          <a:blip r:embed="rId3"/>
          <a:stretch/>
        </p:blipFill>
        <p:spPr>
          <a:xfrm>
            <a:off x="609480" y="0"/>
            <a:ext cx="168588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380880"/>
            <a:ext cx="1371600" cy="6096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0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514240" y="380880"/>
            <a:ext cx="6095880" cy="6096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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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SzPct val="70000"/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SzPct val="70000"/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43040" lvl="1" indent="-285840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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143000" lvl="2" indent="-228600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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600200" lvl="3" indent="-228600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4" indent="-228600" algn="l"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SzPct val="70000"/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SzPct val="70000"/>
              <a:buFont typeface="Wingdings" charset="2"/>
              <a:buChar char="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400" b="0" u="none" strike="noStrike">
                <a:solidFill>
                  <a:srgbClr val="0039AC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39AC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CC3300"/>
              </a:buClr>
              <a:buSzPct val="85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799"/>
              </a:spcBef>
              <a:buClr>
                <a:srgbClr val="0066FF"/>
              </a:buClr>
              <a:buSzPct val="85000"/>
              <a:buFont typeface="Wingdings" charset="2"/>
              <a:buChar char="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799"/>
              </a:spcBef>
              <a:buClr>
                <a:srgbClr val="CC3300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799"/>
              </a:spcBef>
              <a:buClr>
                <a:srgbClr val="0066FF"/>
              </a:buClr>
              <a:buSzPct val="90000"/>
              <a:buFont typeface="Wingdings" charset="2"/>
              <a:buChar char="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799"/>
              </a:spcBef>
              <a:buClr>
                <a:srgbClr val="CC3300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799"/>
              </a:spcBef>
              <a:buClr>
                <a:srgbClr val="080808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799"/>
              </a:spcBef>
              <a:buClr>
                <a:srgbClr val="080808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CC3300"/>
              </a:buClr>
              <a:buSzPct val="85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66FF"/>
              </a:buClr>
              <a:buSzPct val="85000"/>
              <a:buFont typeface="Wingdings" charset="2"/>
              <a:buChar char="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799"/>
              </a:spcBef>
              <a:buClr>
                <a:srgbClr val="CC3300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66FF"/>
              </a:buClr>
              <a:buSzPct val="90000"/>
              <a:buFont typeface="Wingdings" charset="2"/>
              <a:buChar char="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799"/>
              </a:spcBef>
              <a:buClr>
                <a:srgbClr val="CC3300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80808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80808"/>
              </a:buClr>
              <a:buSzPct val="90000"/>
              <a:buFont typeface="Wingdings 2" charset="2"/>
              <a:buChar char="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80808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2EA08D1-C9AB-4038-9FBE-E693D2C1E4F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hyperlink" Target="http://shop.kongfz.com/show_pics.php?shopId=6563&amp;bookId=17978953" TargetMode="External"/><Relationship Id="rId5" Type="http://schemas.openxmlformats.org/officeDocument/2006/relationships/image" Target="../media/image8.jpeg"/><Relationship Id="rId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361960"/>
            <a:ext cx="8153280" cy="152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ts val="7798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80808"/>
                </a:solidFill>
                <a:effectLst/>
                <a:uFillTx/>
                <a:latin typeface="隶书体"/>
                <a:ea typeface="隶书体"/>
              </a:rPr>
              <a:t>第四节  朦胧诗与诗歌多元化探索</a:t>
            </a:r>
            <a:endParaRPr lang="en-US" sz="40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1371600" y="4647960"/>
            <a:ext cx="6400800" cy="99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32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18" name="Rectangle 4"/>
          <p:cNvSpPr/>
          <p:nvPr/>
        </p:nvSpPr>
        <p:spPr>
          <a:xfrm>
            <a:off x="304920" y="344520"/>
            <a:ext cx="77342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600" b="1">
                <a:solidFill>
                  <a:srgbClr val="080808"/>
                </a:solidFill>
                <a:latin typeface="Microsoft YaHei"/>
              </a:rPr>
              <a:t>第五章  </a:t>
            </a:r>
            <a:r>
              <a:rPr sz="3600" b="1">
                <a:solidFill>
                  <a:srgbClr val="CC0000"/>
                </a:solidFill>
                <a:latin typeface="Microsoft YaHei"/>
              </a:rPr>
              <a:t>80—90年代：当代文学新时期</a:t>
            </a:r>
            <a:endParaRPr lang="en-US" sz="36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380880"/>
            <a:ext cx="1676520" cy="609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关</a:t>
            </a:r>
            <a:br>
              <a:rPr sz="4800"/>
            </a:b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键</a:t>
            </a:r>
            <a:br>
              <a:rPr sz="4800"/>
            </a:b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词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895480" y="914400"/>
            <a:ext cx="6096240" cy="556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344F16"/>
                </a:solidFill>
                <a:effectLst/>
                <a:uFillTx/>
                <a:latin typeface="隶书体"/>
                <a:ea typeface="隶书体"/>
              </a:rPr>
              <a:t>“</a:t>
            </a:r>
            <a:r>
              <a:rPr lang="zh-CN" sz="3200" b="0" u="none" strike="noStrike">
                <a:solidFill>
                  <a:srgbClr val="344F16"/>
                </a:solidFill>
                <a:effectLst/>
                <a:uFillTx/>
                <a:latin typeface="隶书体"/>
                <a:ea typeface="隶书体"/>
              </a:rPr>
              <a:t>归来者”诗群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344F16"/>
                </a:solidFill>
                <a:effectLst/>
                <a:uFillTx/>
                <a:latin typeface="隶书体"/>
                <a:ea typeface="隶书体"/>
              </a:rPr>
              <a:t>干预生活诗群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344F16"/>
                </a:solidFill>
                <a:effectLst/>
                <a:uFillTx/>
                <a:latin typeface="隶书体"/>
                <a:ea typeface="隶书体"/>
              </a:rPr>
              <a:t>新边塞诗群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344F16"/>
                </a:solidFill>
                <a:effectLst/>
                <a:uFillTx/>
                <a:latin typeface="隶书体"/>
                <a:ea typeface="隶书体"/>
              </a:rPr>
              <a:t>女性诗人群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344F16"/>
                </a:solidFill>
                <a:effectLst/>
                <a:uFillTx/>
                <a:latin typeface="隶书体"/>
                <a:ea typeface="隶书体"/>
              </a:rPr>
              <a:t>朦胧诗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344F16"/>
                </a:solidFill>
                <a:effectLst/>
                <a:uFillTx/>
                <a:latin typeface="隶书体"/>
                <a:ea typeface="隶书体"/>
              </a:rPr>
              <a:t>知识分子写作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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344F16"/>
                </a:solidFill>
                <a:effectLst/>
                <a:uFillTx/>
                <a:latin typeface="隶书体"/>
                <a:ea typeface="隶书体"/>
              </a:rPr>
              <a:t>民间写作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0" algn="l">
              <a:lnSpc>
                <a:spcPct val="100000"/>
              </a:lnSpc>
              <a:spcBef>
                <a:spcPts val="7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randomBar dir="ver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/>
          </p:nvPr>
        </p:nvSpPr>
        <p:spPr>
          <a:xfrm>
            <a:off x="533520" y="914400"/>
            <a:ext cx="8076960" cy="518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>
                <a:solidFill>
                  <a:srgbClr val="CC0000"/>
                </a:solidFill>
                <a:latin typeface="Microsoft YaHei"/>
              </a:rPr>
              <a:t>自1970年代末以来</a:t>
            </a:r>
            <a:r>
              <a:rPr sz="2100">
                <a:solidFill>
                  <a:srgbClr val="080808"/>
                </a:solidFill>
                <a:latin typeface="Microsoft YaHei"/>
              </a:rPr>
              <a:t>，继“天安门诗歌”运动和“文化大革命”结束之后，拨乱反正大幕的拉开，新诗开始重整旗鼓，恢复以往的诗歌传统，将新诗的探索推向一个新的高潮。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80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年代诗歌的主要创作群体，由“归来者”和“崛起的一代”共同组成。形成了朦胧诗群、归来者诗群、干预生活诗群、新边塞诗群、女性诗人群等诗歌群落。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/>
          </p:nvPr>
        </p:nvSpPr>
        <p:spPr>
          <a:xfrm>
            <a:off x="304920" y="5562360"/>
            <a:ext cx="8534160" cy="106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>
              <a:lnSpc>
                <a:spcPts val="2563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1977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年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1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月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8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日，以“童怀周”名义油印的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115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首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天安门革命诗抄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，贴在了天安门广场，立刻引起轰动。 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1978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年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12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月，人民文学出版社正式出版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天安门诗抄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，由华国锋题写书名。 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pic>
        <p:nvPicPr>
          <p:cNvPr id="23" name="Picture 7" descr="xin_4907062115302651374745"/>
          <p:cNvPicPr/>
          <p:nvPr/>
        </p:nvPicPr>
        <p:blipFill>
          <a:blip r:embed="rId1"/>
          <a:stretch/>
        </p:blipFill>
        <p:spPr>
          <a:xfrm>
            <a:off x="76320" y="76320"/>
            <a:ext cx="5105160" cy="23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9" descr="xin_4807062115308282987044"/>
          <p:cNvPicPr/>
          <p:nvPr/>
        </p:nvPicPr>
        <p:blipFill>
          <a:blip r:embed="rId2"/>
          <a:srcRect l="2322" t="2436" r="2902" b="0"/>
          <a:stretch/>
        </p:blipFill>
        <p:spPr>
          <a:xfrm>
            <a:off x="428760" y="2590920"/>
            <a:ext cx="2158920" cy="289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11" descr="xin_4807062115303282694443"/>
          <p:cNvPicPr/>
          <p:nvPr/>
        </p:nvPicPr>
        <p:blipFill>
          <a:blip r:embed="rId3"/>
          <a:stretch/>
        </p:blipFill>
        <p:spPr>
          <a:xfrm>
            <a:off x="5181480" y="76320"/>
            <a:ext cx="3867120" cy="548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15" descr="文学：天安门诗抄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2735280" y="2590920"/>
            <a:ext cx="2313000" cy="289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28240"/>
            <a:ext cx="8385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600" b="1" u="none" strike="noStrike">
                <a:solidFill>
                  <a:srgbClr val="1C442E"/>
                </a:solidFill>
                <a:effectLst/>
                <a:uFillTx/>
                <a:latin typeface="隶书体"/>
                <a:ea typeface="隶书体"/>
              </a:rPr>
              <a:t>一、</a:t>
            </a:r>
            <a:r>
              <a:rPr lang="en-US" sz="4600" b="1" u="none" strike="noStrike">
                <a:solidFill>
                  <a:srgbClr val="1C442E"/>
                </a:solidFill>
                <a:effectLst/>
                <a:uFillTx/>
                <a:latin typeface="隶书体"/>
                <a:ea typeface="隶书体"/>
              </a:rPr>
              <a:t>80</a:t>
            </a:r>
            <a:r>
              <a:rPr lang="zh-CN" sz="4600" b="1" u="none" strike="noStrike">
                <a:solidFill>
                  <a:srgbClr val="1C442E"/>
                </a:solidFill>
                <a:effectLst/>
                <a:uFillTx/>
                <a:latin typeface="隶书体"/>
                <a:ea typeface="隶书体"/>
              </a:rPr>
              <a:t>年代诗歌群落的多元化</a:t>
            </a:r>
            <a:endParaRPr lang="en-US" sz="46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229600" cy="47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4062"/>
              </a:lnSpc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1</a:t>
            </a:r>
            <a:r>
              <a:rPr lang="zh-CN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、“归来者”诗群</a:t>
            </a:r>
            <a:endParaRPr lang="en-US" sz="2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062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“归来者”诗群是指一批过去活跃在诗坛，但因种种政治原因从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1950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年代中期起陆续隐失，如今在拨乱反正中终于得以平反，重又提笔“归来”的诗人。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062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1980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年，艾青把他的一本诗集定名为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归来的歌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，流沙河、梁南也写了题为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归来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和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归来的时刻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的诗。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062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“归来”是一种诗人现象，也是一个普遍性的诗歌主题。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/>
          </p:nvPr>
        </p:nvSpPr>
        <p:spPr>
          <a:xfrm>
            <a:off x="3592080" y="533520"/>
            <a:ext cx="5257800" cy="56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“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归来者”诗群的创作特征：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ts val="3824"/>
              </a:lnSpc>
              <a:spcBef>
                <a:spcPts val="524"/>
              </a:spcBef>
              <a:buClr>
                <a:srgbClr val="0066FF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一是历史的反思性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ts val="3824"/>
              </a:lnSpc>
              <a:spcBef>
                <a:spcPts val="524"/>
              </a:spcBef>
              <a:buClr>
                <a:srgbClr val="0066FF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二是抒情的宏观性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ts val="3824"/>
              </a:lnSpc>
              <a:spcBef>
                <a:spcPts val="524"/>
              </a:spcBef>
              <a:buClr>
                <a:srgbClr val="0066FF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三是技巧的开放性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艾青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是“归来者”诗群的代表诗人，有诗集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归来的歌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彩色的诗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雪莲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以及诗歌论文集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艾青谈诗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古罗马的大斗技场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鱼化石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等诗，总是从现实形象的微观推向象征对象的宏观，以象征对象的壮阔境界来充分映衬现实形象的多层次结构。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pic>
        <p:nvPicPr>
          <p:cNvPr id="30" name="Picture 4" descr="1300510768"/>
          <p:cNvPicPr/>
          <p:nvPr/>
        </p:nvPicPr>
        <p:blipFill>
          <a:blip r:embed="rId1"/>
          <a:stretch/>
        </p:blipFill>
        <p:spPr>
          <a:xfrm>
            <a:off x="228600" y="744480"/>
            <a:ext cx="3200400" cy="291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7" descr="41836"/>
          <p:cNvPicPr/>
          <p:nvPr/>
        </p:nvPicPr>
        <p:blipFill>
          <a:blip r:embed="rId1"/>
          <a:srcRect l="6666" t="0" r="5833" b="2222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/>
          </p:nvPr>
        </p:nvSpPr>
        <p:spPr>
          <a:xfrm>
            <a:off x="228240" y="990720"/>
            <a:ext cx="3543480" cy="449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长诗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在浪尖上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呼出了积郁多年的心声：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99960" lvl="1" indent="0" algn="l">
              <a:lnSpc>
                <a:spcPts val="4260"/>
              </a:lnSpc>
              <a:spcBef>
                <a:spcPts val="5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不容许再受蒙蔽了，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99960" lvl="1" indent="0" algn="l">
              <a:lnSpc>
                <a:spcPts val="4260"/>
              </a:lnSpc>
              <a:spcBef>
                <a:spcPts val="5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不应该再被欺骗了，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99960" lvl="1" indent="0" algn="l">
              <a:lnSpc>
                <a:spcPts val="4260"/>
              </a:lnSpc>
              <a:spcBef>
                <a:spcPts val="5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我们要的是真理，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99960" lvl="1" indent="0" algn="l">
              <a:lnSpc>
                <a:spcPts val="4260"/>
              </a:lnSpc>
              <a:spcBef>
                <a:spcPts val="5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我们要的是太阳。    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ts val="4260"/>
              </a:lnSpc>
              <a:spcBef>
                <a:spcPts val="524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419360" y="990720"/>
            <a:ext cx="4267080" cy="31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有“诗体哲学”的巨型诗篇 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光的赞歌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留下了这样的诗行：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99960" lvl="1" indent="0" algn="l">
              <a:lnSpc>
                <a:spcPts val="4260"/>
              </a:lnSpc>
              <a:spcBef>
                <a:spcPts val="5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甚至光中也有暗，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99960" lvl="1" indent="0" algn="l">
              <a:lnSpc>
                <a:spcPts val="4260"/>
              </a:lnSpc>
              <a:spcBef>
                <a:spcPts val="5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甚至暗中也有光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2</a:t>
            </a:r>
            <a:r>
              <a:rPr lang="zh-CN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、干预生活诗群</a:t>
            </a:r>
            <a:r>
              <a:rPr lang="zh-CN" sz="2800" b="1" u="none" strike="noStrike">
                <a:solidFill>
                  <a:srgbClr val="0039AC"/>
                </a:solidFill>
                <a:effectLst/>
                <a:uFillTx/>
                <a:latin typeface="Microsoft YaHei"/>
                <a:ea typeface="Microsoft YaHei"/>
              </a:rPr>
              <a:t> </a:t>
            </a:r>
            <a:endParaRPr lang="en-US" sz="28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04560" y="1142640"/>
            <a:ext cx="8537400" cy="49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干预生活诗群指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80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代相对年轻的一批诗人，他们在继承了共和国初期建立起来的文学精神与传统的同时，又大都不同程度地具有超越传统观念、独立思考生活、自我判断现实的精神，以独立批判的眼光看待被“文革”十年破坏了的社会秩序和人生规范，并以真诚之心对新时代唱出赞歌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主要诗人有雷抒雁、张学梦、叶文福等以及建国后出生的熊召政、李小雨、骆耕野等。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雷抒雁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的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小草在歌唱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、叶文福的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将军，不能这样做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当年都曾产生巨大反响。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600" b="1" u="none" strike="noStrike">
                <a:solidFill>
                  <a:srgbClr val="1C442E"/>
                </a:solidFill>
                <a:effectLst/>
                <a:uFillTx/>
                <a:latin typeface="隶书体"/>
                <a:ea typeface="隶书体"/>
              </a:rPr>
              <a:t>二、朦胧诗的崛起</a:t>
            </a:r>
            <a:endParaRPr lang="en-US" sz="46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33520" y="1371600"/>
            <a:ext cx="4495680" cy="47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80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年代争议最多、影响最大、最深远的是朦胧诗。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代表诗人是舒婷、顾城、芒克、食指、多多、江河、杨炼、梁小斌等一批在“文革”中成长起来的青年诗人。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4" descr="《朦胧诗选》"/>
          <p:cNvPicPr/>
          <p:nvPr/>
        </p:nvPicPr>
        <p:blipFill>
          <a:blip r:embed="rId1"/>
          <a:stretch/>
        </p:blipFill>
        <p:spPr>
          <a:xfrm>
            <a:off x="5410080" y="1523880"/>
            <a:ext cx="2909880" cy="457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/>
          </p:nvPr>
        </p:nvSpPr>
        <p:spPr>
          <a:xfrm>
            <a:off x="609480" y="1599840"/>
            <a:ext cx="7925040" cy="44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朦胧诗孕育于“文革”时期的地下文学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——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白洋淀诗派。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1978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今天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在北京创刊，成为一批青年诗人发表探索性新诗的主要阵地。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1980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诗刊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以“青春笔会”的形式集中推出了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17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位青年诗人的探索诗作和探索宣言。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/>
          </p:nvPr>
        </p:nvSpPr>
        <p:spPr>
          <a:xfrm>
            <a:off x="4800600" y="4572000"/>
            <a:ext cx="3733920" cy="182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ts val="2563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1978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年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12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月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23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日，北岛、芒克在北京创建民间刊物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今天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；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1979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年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诗刊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3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月号转载了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今天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中北岛诗作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回答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。 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pic>
        <p:nvPicPr>
          <p:cNvPr id="42" name="Picture 4" descr="5－4－1《今天》"/>
          <p:cNvPicPr/>
          <p:nvPr/>
        </p:nvPicPr>
        <p:blipFill>
          <a:blip r:embed="rId1"/>
          <a:srcRect l="2671" t="0" r="0" b="2625"/>
          <a:stretch/>
        </p:blipFill>
        <p:spPr>
          <a:xfrm>
            <a:off x="642960" y="609480"/>
            <a:ext cx="3957480" cy="556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/>
          </p:nvPr>
        </p:nvSpPr>
        <p:spPr>
          <a:xfrm>
            <a:off x="380520" y="914040"/>
            <a:ext cx="8309160" cy="441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1980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诗刊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第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8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期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章明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的批评文章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令人气闷的“朦胧”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 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，引发一场大论争，新诗潮也由此得名“朦胧诗”。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谢冕的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在新的崛起面前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、孙绍振的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新的美学原则的崛起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和徐敬亚的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崛起的诗群</a:t>
            </a: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，立足现代倾向、现代主义文学的角度，从形式到内容把朦胧诗的艺术主张系统化，高度肯定朦胧诗的价值。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当时的反对者则指责其为畸形文学、艺术怪胎，甚至视为“逆流”，是“资产阶级自由化思想的宣言书” 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120" y="380880"/>
            <a:ext cx="1676520" cy="609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声</a:t>
            </a:r>
            <a:br>
              <a:rPr sz="4800"/>
            </a:br>
            <a:br>
              <a:rPr sz="4800"/>
            </a:b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音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2514240" y="1066320"/>
            <a:ext cx="6095880" cy="342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>
                <a:solidFill>
                  <a:srgbClr val="4D5F2E"/>
                </a:solidFill>
                <a:latin typeface="Microsoft YaHei"/>
              </a:rPr>
              <a:t>“少数作者大概是受了‘矫枉必须过正’和某些外国诗歌的影响，有意无意地把诗写得十分晦涩，怪僻，叫人读了几遍也得不到一个明确的印象，似懂非懂，半懂不懂，甚至完全不懂，百思不得其解……‘朦胧’并不是含蓄，而只是含混；费解也不等于深刻，而只是</a:t>
            </a:r>
            <a:r>
              <a:rPr sz="2000" b="1">
                <a:solidFill>
                  <a:srgbClr val="CC0000"/>
                </a:solidFill>
                <a:latin typeface="Microsoft YaHei"/>
              </a:rPr>
              <a:t>叫人觉得‘高深莫测’</a:t>
            </a:r>
            <a:r>
              <a:rPr sz="2000" b="1">
                <a:solidFill>
                  <a:srgbClr val="4D5F2E"/>
                </a:solidFill>
                <a:latin typeface="Microsoft YaHei"/>
              </a:rPr>
              <a:t>。”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矩形 1"/>
          <p:cNvSpPr/>
          <p:nvPr/>
        </p:nvSpPr>
        <p:spPr>
          <a:xfrm>
            <a:off x="5284800" y="4495680"/>
            <a:ext cx="3554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章明：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令人气闷的“朦胧”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 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p:transition spd="slow">
    <p:randomBar dir="ver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120" y="380880"/>
            <a:ext cx="1676520" cy="609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声</a:t>
            </a:r>
            <a:br>
              <a:rPr sz="4800"/>
            </a:br>
            <a:br>
              <a:rPr sz="4800"/>
            </a:b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音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2514240" y="1295280"/>
            <a:ext cx="6095880" cy="281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朦胧诗的三个美学原则是：“不屑于作时代精神之传声筒”，“不屑于表现自我情感世界以外的丰功伟绩”，“回避写那些我们习惯了的人物的经历、英勇的斗争和忘我的劳动场景”。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矩形 1"/>
          <p:cNvSpPr/>
          <p:nvPr/>
        </p:nvSpPr>
        <p:spPr>
          <a:xfrm>
            <a:off x="4894200" y="3886200"/>
            <a:ext cx="3716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孙绍振：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新的美学原则在崛起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p:transition spd="slow">
    <p:randomBar dir="ver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120" y="380880"/>
            <a:ext cx="1676520" cy="609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声</a:t>
            </a:r>
            <a:br>
              <a:rPr sz="4800"/>
            </a:br>
            <a:br>
              <a:rPr sz="4800"/>
            </a:b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音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2666880" y="1600200"/>
            <a:ext cx="5943600" cy="190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“</a:t>
            </a: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根子就在于不以马克思主义作指导的那个‘独特的社会观点’和割断革命文学传统的资产阶级现代派的文艺观”。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矩形 1"/>
          <p:cNvSpPr/>
          <p:nvPr/>
        </p:nvSpPr>
        <p:spPr>
          <a:xfrm>
            <a:off x="5121360" y="3505320"/>
            <a:ext cx="3486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程代熙：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给徐敬亚的公开信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p:transition spd="slow">
    <p:randomBar dir="ver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01680" y="533160"/>
            <a:ext cx="85406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朦胧诗的特点</a:t>
            </a:r>
            <a:endParaRPr lang="en-US" sz="28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6840" y="1143000"/>
            <a:ext cx="838188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核心精神：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朦胧诗是“文革”封建专制主义下迷失、绝望而痛苦的青年一代对人的反思，其核心精神是对人的自我价值的现代确认，对人性复归的呼唤，对人的心灵自由与解放的追求。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艺术方式：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具有西方现代主义式的文学感受、叛逆精神和审美形态。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ts val="3824"/>
              </a:lnSpc>
              <a:spcBef>
                <a:spcPts val="524"/>
              </a:spcBef>
              <a:buClr>
                <a:srgbClr val="0066FF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A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以内在精神世界为主要表现对象；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ts val="3824"/>
              </a:lnSpc>
              <a:spcBef>
                <a:spcPts val="524"/>
              </a:spcBef>
              <a:buClr>
                <a:srgbClr val="0066FF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B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采用整体形象象征、逐步意象感发的艺术策略和方式来隐示情思；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ts val="3824"/>
              </a:lnSpc>
              <a:spcBef>
                <a:spcPts val="524"/>
              </a:spcBef>
              <a:buClr>
                <a:srgbClr val="0066FF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>
                <a:solidFill>
                  <a:srgbClr val="080808"/>
                </a:solidFill>
                <a:latin typeface="Microsoft YaHei"/>
              </a:rPr>
              <a:t>C从而使诗歌文本处在表现自己和隐藏自己之间，呈现为诗境模糊朦胧、</a:t>
            </a:r>
            <a:r>
              <a:rPr sz="2100">
                <a:solidFill>
                  <a:srgbClr val="CC0000"/>
                </a:solidFill>
                <a:latin typeface="Microsoft YaHei"/>
              </a:rPr>
              <a:t>主题多义莫辨的状态</a:t>
            </a:r>
            <a:r>
              <a:rPr sz="2100">
                <a:solidFill>
                  <a:srgbClr val="080808"/>
                </a:solidFill>
                <a:latin typeface="Microsoft YaHei"/>
              </a:rPr>
              <a:t>。 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11" descr="IMAGE001"/>
          <p:cNvPicPr/>
          <p:nvPr/>
        </p:nvPicPr>
        <p:blipFill>
          <a:blip r:embed="rId1"/>
          <a:srcRect l="0" t="26837" r="298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Picture 10" descr="52_4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5715000" y="3200400"/>
            <a:ext cx="3402000" cy="365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/>
          </p:nvPr>
        </p:nvSpPr>
        <p:spPr>
          <a:xfrm>
            <a:off x="609120" y="1066680"/>
            <a:ext cx="3581640" cy="556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卑鄙是卑鄙者的通行证，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高尚是高尚者的墓志铭，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看吧，在那镀金的天空中，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飘满了死者弯曲的倒影。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……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我－不－相－信！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……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我不相信天是蓝的，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我不相信雷的回声，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我不相信梦是假的，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我不相信死无报应。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……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           ——《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回答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257440" y="1092240"/>
            <a:ext cx="3584520" cy="447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我不想安慰你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在颤抖的枫叶上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写满关于春天的谎言      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2860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          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——《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红帆船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title"/>
          </p:nvPr>
        </p:nvSpPr>
        <p:spPr>
          <a:xfrm>
            <a:off x="609120" y="380880"/>
            <a:ext cx="8232840" cy="5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北岛</a:t>
            </a:r>
            <a:endParaRPr lang="en-US" sz="28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228240" y="533520"/>
            <a:ext cx="5581800" cy="579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北岛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最初以“斗士”形象出现在当代诗坛，他的诗鲜明地表达出一种怀疑和否定精神，对虚幻的期许、选择的犹豫和缺乏人性内容的苟且生活的坚定拒绝。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北岛的诗展现了历史转折期觉醒者的内心冲突和理想精神。那种在批判、否定中寻找个体和民族再生之路的英雄式悲壮情感，当时曾引起广泛而强烈的共鸣。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pic>
        <p:nvPicPr>
          <p:cNvPr id="61" name="Picture 4" descr="北岛"/>
          <p:cNvPicPr/>
          <p:nvPr/>
        </p:nvPicPr>
        <p:blipFill>
          <a:blip r:embed="rId1"/>
          <a:stretch/>
        </p:blipFill>
        <p:spPr>
          <a:xfrm>
            <a:off x="5810400" y="685800"/>
            <a:ext cx="3044520" cy="40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Box 5"/>
          <p:cNvSpPr/>
          <p:nvPr/>
        </p:nvSpPr>
        <p:spPr>
          <a:xfrm>
            <a:off x="228600" y="4952880"/>
            <a:ext cx="853452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marL="343080" indent="-343080">
              <a:lnSpc>
                <a:spcPts val="4260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强烈的批判精神与深邃的历史意识，悲壮的情感状态，以及冷峻、凝重的语言风格，是北岛诗歌的显著特色。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120" y="304920"/>
            <a:ext cx="82328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舒婷</a:t>
            </a:r>
            <a:endParaRPr lang="en-US" sz="28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120" y="990720"/>
            <a:ext cx="8001000" cy="21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舒婷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是抒情型诗人，爱是她诗歌的重要主题。她着力表现的是人性的美好与生命的忧伤。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舒婷的诗标志着当代中国诗歌由浪漫主义向现代主义的过渡。特点有三：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4" descr="舒婷"/>
          <p:cNvPicPr/>
          <p:nvPr/>
        </p:nvPicPr>
        <p:blipFill>
          <a:blip r:embed="rId1"/>
          <a:srcRect l="0" t="0" r="3321" b="12671"/>
          <a:stretch/>
        </p:blipFill>
        <p:spPr>
          <a:xfrm>
            <a:off x="6553080" y="3164040"/>
            <a:ext cx="1981440" cy="285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Box 5"/>
          <p:cNvSpPr/>
          <p:nvPr/>
        </p:nvSpPr>
        <p:spPr>
          <a:xfrm>
            <a:off x="457200" y="2971800"/>
            <a:ext cx="6172200" cy="30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 lnSpcReduction="9999"/>
          </a:bodyPr>
          <a:p>
            <a:pPr marL="457200" lvl="1">
              <a:lnSpc>
                <a:spcPts val="3824"/>
              </a:lnSpc>
              <a:spcBef>
                <a:spcPts val="5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A 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略带感伤意味的抒情和唯美的艺术追求，不失真诚、不乏悲凉、不陷偏激，而又怀抱着某种希望；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457200" lvl="1">
              <a:lnSpc>
                <a:spcPts val="3824"/>
              </a:lnSpc>
              <a:spcBef>
                <a:spcPts val="5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B 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情感细腻典雅，呈现崇高和优美的浪漫风格；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457200" lvl="1">
              <a:lnSpc>
                <a:spcPts val="3824"/>
              </a:lnSpc>
              <a:spcBef>
                <a:spcPts val="5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C 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吸收和运用现代主义，尤其是感觉、意象、暗示等象征手法写作，较少直白的表露。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9" descr="神女峰2"/>
          <p:cNvPicPr/>
          <p:nvPr/>
        </p:nvPicPr>
        <p:blipFill>
          <a:blip r:embed="rId1"/>
          <a:srcRect l="12016" t="0" r="0" b="0"/>
          <a:stretch/>
        </p:blipFill>
        <p:spPr>
          <a:xfrm>
            <a:off x="0" y="0"/>
            <a:ext cx="9144000" cy="690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838400" y="5128920"/>
            <a:ext cx="4343400" cy="106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              ——《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神女峰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endParaRPr lang="en-US" sz="18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609480"/>
            <a:ext cx="4191120" cy="518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在向你挥舞的各色花帕中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是谁的手突然收回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紧紧捂住了自己的眼睛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当人们四散离去，谁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还站在船尾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衣裙漫飞，如翻涌不息的云　　　　　　　　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江涛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　　高一声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　　　　　低一声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1">
                <a:solidFill>
                  <a:srgbClr val="080808"/>
                </a:solidFill>
                <a:latin typeface="Microsoft YaHei"/>
              </a:rPr>
              <a:t>美丽的梦留下</a:t>
            </a:r>
            <a:r>
              <a:rPr sz="2000" b="1">
                <a:solidFill>
                  <a:srgbClr val="CC0000"/>
                </a:solidFill>
                <a:latin typeface="Microsoft YaHei"/>
              </a:rPr>
              <a:t>美丽的忧伤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人间天上，代代相传 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876560" y="609120"/>
            <a:ext cx="4267080" cy="48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但是，心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真能变成石头吗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为盼望远天的杳鹤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而错过无数次春江月明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沿着江岸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金光菊和女贞子的洪流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正煽动新的背叛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与其在悬崖上展览千年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不如在爱人肩头痛哭一晚 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01680" y="304920"/>
            <a:ext cx="854064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顾城</a:t>
            </a:r>
            <a:endParaRPr lang="en-US" sz="28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04920" y="106632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顾城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的诗是梦幻型的。他以自然和童话为核心构筑起来的一个美丽的精神王国。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以童年情结与童话世界为根基的梦，又很容易在冷硬的现实面前破碎，所以其诗作中常流泻着寂寞、凄清、苦闷的情绪。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顾城的诗对意象有着准确的把握和抒发。他致力于用明确、简单的词汇和句子，用心去感应事物，素朴地构建了一个幻想的童话世界。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4" descr="黑夜黑眼睛"/>
          <p:cNvPicPr/>
          <p:nvPr/>
        </p:nvPicPr>
        <p:blipFill>
          <a:blip r:embed="rId1"/>
          <a:stretch/>
        </p:blipFill>
        <p:spPr>
          <a:xfrm>
            <a:off x="0" y="4433760"/>
            <a:ext cx="9144000" cy="242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9" descr="顾城"/>
          <p:cNvPicPr/>
          <p:nvPr/>
        </p:nvPicPr>
        <p:blipFill>
          <a:blip r:embed="rId1"/>
          <a:srcRect l="0" t="0" r="0" b="4424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304920" y="151920"/>
            <a:ext cx="3200400" cy="44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天是灰色的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路是灰色的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楼是灰色的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雨是灰色的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在一片死灰之中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走过两个孩子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一个鲜红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一个淡绿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          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——《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感觉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 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224760" y="1447560"/>
            <a:ext cx="3224160" cy="44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鸟儿在疾风中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    迅速转向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        少年去捡拾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           一枚分币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           葡萄藤因幻想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        而延伸的触须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    海浪因退缩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    而耸起的背脊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indent="0" algn="l">
              <a:lnSpc>
                <a:spcPts val="3263"/>
              </a:lnSpc>
              <a:spcBef>
                <a:spcPts val="3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5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             </a:t>
            </a:r>
            <a:r>
              <a:rPr lang="en-US" sz="15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——《</a:t>
            </a:r>
            <a:r>
              <a:rPr lang="zh-CN" sz="15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弧线</a:t>
            </a:r>
            <a:r>
              <a:rPr lang="en-US" sz="15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endParaRPr lang="en-US" sz="15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8"/>
          <p:cNvSpPr/>
          <p:nvPr/>
        </p:nvSpPr>
        <p:spPr>
          <a:xfrm>
            <a:off x="3618000" y="135000"/>
            <a:ext cx="3127320" cy="44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lnSpc>
                <a:spcPts val="3263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你， 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>
              <a:lnSpc>
                <a:spcPts val="3263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一会看我， 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>
              <a:lnSpc>
                <a:spcPts val="3263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一会看云。 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>
              <a:lnSpc>
                <a:spcPts val="3263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>
              <a:lnSpc>
                <a:spcPts val="3263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我觉得， 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>
              <a:lnSpc>
                <a:spcPts val="3263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你看我时很远， 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>
              <a:lnSpc>
                <a:spcPts val="3263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你看云时很近。</a:t>
            </a:r>
            <a:endParaRPr lang="en-US" sz="20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>
              <a:lnSpc>
                <a:spcPts val="3263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    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——《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远和近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 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>
              <a:lnSpc>
                <a:spcPts val="3263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120" y="380880"/>
            <a:ext cx="1676520" cy="609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声</a:t>
            </a:r>
            <a:br>
              <a:rPr sz="4800"/>
            </a:br>
            <a:br>
              <a:rPr sz="4800"/>
            </a:b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音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2895120" y="762120"/>
            <a:ext cx="5715000" cy="435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你相信了你编写的童话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自己就成了童话中幽蓝的花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你的眼睛省略过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病树、颓墙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锈崩的铁栅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只凭一个简单的信号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集合起星星、紫云英和蝈蝈的队伍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向着没有被污染的远方出发。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矩形 1"/>
          <p:cNvSpPr/>
          <p:nvPr/>
        </p:nvSpPr>
        <p:spPr>
          <a:xfrm>
            <a:off x="4678200" y="5116680"/>
            <a:ext cx="3800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——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舒婷写给顾城的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童话诗人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p:transition spd="slow">
    <p:randomBar dir="vert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04560" y="761760"/>
            <a:ext cx="8537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朦胧诗的转向及其后</a:t>
            </a:r>
            <a:endParaRPr lang="en-US" sz="28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04560" y="1371240"/>
            <a:ext cx="8458200" cy="48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1984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年左右，朦胧诗直接介入社会的热情有所减弱。北岛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回答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中那条从社会反思到民族寻根的抒情思路，被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杨炼、江河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等人作了现代史诗性的改造，把重点转移到民族寻根上。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他们通过民族绚丽多彩的神话传说、文化遗迹这些原型意象来表现旷古远代、神秘蛮荒的境界，以实现民族文化心理结构的诗化呈现与东方文化精神的诗意传达。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ts val="3824"/>
              </a:lnSpc>
              <a:spcBef>
                <a:spcPts val="524"/>
              </a:spcBef>
              <a:buClr>
                <a:srgbClr val="0066FF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杨炼：由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半坡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敦煌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诺日朗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构成的组诗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礼魂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ts val="3824"/>
              </a:lnSpc>
              <a:spcBef>
                <a:spcPts val="524"/>
              </a:spcBef>
              <a:buClr>
                <a:srgbClr val="0066FF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江河：组诗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太阳和它的反光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 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4" descr="5－4－2 诗人海子"/>
          <p:cNvPicPr/>
          <p:nvPr/>
        </p:nvPicPr>
        <p:blipFill>
          <a:blip r:embed="rId1"/>
          <a:stretch/>
        </p:blipFill>
        <p:spPr>
          <a:xfrm>
            <a:off x="5257800" y="914400"/>
            <a:ext cx="3733920" cy="29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228240" y="762120"/>
            <a:ext cx="4800600" cy="541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随后，海子、骆一禾、西川等将生命、自然与文化浑然同构，并对生命的宇宙存在作了形而上的玄学感应，在美丽的遁逸中探求精神家园。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海子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以“麦地”和“村庄”作为精神家园理想的基地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骆一禾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致力于把握对生命的宇宙感应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西川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强调诗歌的叙事性，在日常性的的个人经验中探询本质意义的神秘和不可知。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301320" y="761760"/>
            <a:ext cx="6327720" cy="518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80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年代中后期，一批更年轻的诗人崛起于诗坛，被称为“后新诗潮”“第三代”“后崛起”“后朦胧”“后现代” ，主要包括非非主义、整体主义、莽汉主义、他们文学社诗歌团体。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诗作如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周伦佑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自由方块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、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想象大鸟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，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韩东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有关大雁塔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、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《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你见过大海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》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等。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提出所谓“</a:t>
            </a:r>
            <a:r>
              <a:rPr lang="en-US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pass”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北岛、舒婷的口号，倡导回到日常生活，诗作表现出反文化、反崇高、反意象、拒绝隐喻等美学特征。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4" descr="韩东"/>
          <p:cNvPicPr/>
          <p:nvPr/>
        </p:nvPicPr>
        <p:blipFill>
          <a:blip r:embed="rId1"/>
          <a:stretch/>
        </p:blipFill>
        <p:spPr>
          <a:xfrm>
            <a:off x="6632640" y="914400"/>
            <a:ext cx="2227320" cy="29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Box 5"/>
          <p:cNvSpPr/>
          <p:nvPr/>
        </p:nvSpPr>
        <p:spPr>
          <a:xfrm>
            <a:off x="6629400" y="4021200"/>
            <a:ext cx="2230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韩东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600" b="1" u="none" strike="noStrike">
                <a:solidFill>
                  <a:srgbClr val="1C442E"/>
                </a:solidFill>
                <a:effectLst/>
                <a:uFillTx/>
                <a:latin typeface="隶书体"/>
                <a:ea typeface="隶书体"/>
              </a:rPr>
              <a:t>三、</a:t>
            </a:r>
            <a:r>
              <a:rPr lang="en-US" sz="4600" b="1" u="none" strike="noStrike">
                <a:solidFill>
                  <a:srgbClr val="1C442E"/>
                </a:solidFill>
                <a:effectLst/>
                <a:uFillTx/>
                <a:latin typeface="隶书体"/>
                <a:ea typeface="隶书体"/>
              </a:rPr>
              <a:t>1990</a:t>
            </a:r>
            <a:r>
              <a:rPr lang="zh-CN" sz="4600" b="1" u="none" strike="noStrike">
                <a:solidFill>
                  <a:srgbClr val="1C442E"/>
                </a:solidFill>
                <a:effectLst/>
                <a:uFillTx/>
                <a:latin typeface="隶书体"/>
                <a:ea typeface="隶书体"/>
              </a:rPr>
              <a:t>年代诗歌的喧嚣</a:t>
            </a:r>
            <a:endParaRPr lang="en-US" sz="4600" b="0" u="none" strike="noStrike">
              <a:solidFill>
                <a:srgbClr val="0039AC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>
                <a:solidFill>
                  <a:srgbClr val="080808"/>
                </a:solidFill>
                <a:latin typeface="Microsoft YaHei"/>
              </a:rPr>
              <a:t>90年代，在急剧的社会转型与历史变革</a:t>
            </a:r>
            <a:r>
              <a:rPr sz="2100">
                <a:solidFill>
                  <a:srgbClr val="CC0000"/>
                </a:solidFill>
                <a:latin typeface="Microsoft YaHei"/>
              </a:rPr>
              <a:t>之中，中国新诗</a:t>
            </a:r>
            <a:r>
              <a:rPr sz="2100">
                <a:solidFill>
                  <a:srgbClr val="080808"/>
                </a:solidFill>
                <a:latin typeface="Microsoft YaHei"/>
              </a:rPr>
              <a:t>在多种向度上探寻着生存与发展的可能，呈现多元乃至芜杂的面貌。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在一部分诗人顽强守护着诗歌的同时，也有很多诗人转向其他方面，同时又有网络诗歌的热闹、民间诗歌社团和诗歌刊物的活跃，以及不断出现的新人。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0" algn="l">
              <a:lnSpc>
                <a:spcPts val="3824"/>
              </a:lnSpc>
              <a:spcBef>
                <a:spcPts val="524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304560" y="914400"/>
            <a:ext cx="8458200" cy="556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1">
                <a:solidFill>
                  <a:srgbClr val="080808"/>
                </a:solidFill>
                <a:latin typeface="Microsoft YaHei"/>
              </a:rPr>
              <a:t>1、知识分子写作诗群：王家新、西川、陈东东、臧棣等，持守批判、自由的精神立场，</a:t>
            </a:r>
            <a:r>
              <a:rPr sz="2100" b="1">
                <a:solidFill>
                  <a:srgbClr val="CC0000"/>
                </a:solidFill>
                <a:latin typeface="Microsoft YaHei"/>
              </a:rPr>
              <a:t>自觉拒斥</a:t>
            </a:r>
            <a:r>
              <a:rPr sz="2100" b="1">
                <a:solidFill>
                  <a:srgbClr val="080808"/>
                </a:solidFill>
                <a:latin typeface="Microsoft YaHei"/>
              </a:rPr>
              <a:t>大众文化与文艺的市场化 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ts val="3824"/>
              </a:lnSpc>
              <a:spcBef>
                <a:spcPts val="524"/>
              </a:spcBef>
              <a:buClr>
                <a:srgbClr val="CC3300"/>
              </a:buClr>
              <a:buSzPct val="8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2</a:t>
            </a:r>
            <a:r>
              <a:rPr lang="zh-CN" sz="2100" b="1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、民间写作诗群</a:t>
            </a:r>
            <a:r>
              <a:rPr lang="zh-CN" sz="2100" b="0" u="none" strike="noStrike">
                <a:solidFill>
                  <a:srgbClr val="080808"/>
                </a:solidFill>
                <a:effectLst/>
                <a:uFillTx/>
                <a:latin typeface="Microsoft YaHei"/>
                <a:ea typeface="Microsoft YaHei"/>
              </a:rPr>
              <a:t>：于坚、韩东、徐江等，依托解构思维，关注日常生活，追求高度的口语化、通俗化、自由化、独立化   </a:t>
            </a:r>
            <a:endParaRPr lang="en-US" sz="21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120" y="380880"/>
            <a:ext cx="1676520" cy="609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声</a:t>
            </a:r>
            <a:br>
              <a:rPr sz="4800"/>
            </a:br>
            <a:br>
              <a:rPr sz="4800"/>
            </a:br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隶书体"/>
                <a:ea typeface="隶书体"/>
              </a:rPr>
              <a:t>音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2514240" y="1143000"/>
            <a:ext cx="6095880" cy="26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ts val="3875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“</a:t>
            </a:r>
            <a:r>
              <a:rPr lang="zh-CN" sz="2000" b="1" u="none" strike="noStrike">
                <a:solidFill>
                  <a:srgbClr val="4D5F2E"/>
                </a:solidFill>
                <a:effectLst/>
                <a:uFillTx/>
                <a:latin typeface="Microsoft YaHei"/>
                <a:ea typeface="Microsoft YaHei"/>
              </a:rPr>
              <a:t>下半身写作，追求的是一种肉体的在场感。只有肉体本身，只有下半身，才能给予诗歌乃至所有艺术以第一次的推动。这种推动是唯一的、随后的、永远崭新的、不会重复和陈旧的。因为它干脆回到了本质。”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矩形 1"/>
          <p:cNvSpPr/>
          <p:nvPr/>
        </p:nvSpPr>
        <p:spPr>
          <a:xfrm>
            <a:off x="4381560" y="3625920"/>
            <a:ext cx="4246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 沈浩波：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《</a:t>
            </a:r>
            <a:r>
              <a:rPr lang="zh-CN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下半身写作及反对上半身</a:t>
            </a:r>
            <a:r>
              <a:rPr lang="en-US" sz="1800" b="0" u="none" strike="noStrike">
                <a:solidFill>
                  <a:srgbClr val="080808"/>
                </a:solidFill>
                <a:effectLst/>
                <a:uFillTx/>
                <a:latin typeface="宋体"/>
              </a:rPr>
              <a:t>》 </a:t>
            </a:r>
            <a:endParaRPr lang="en-US" sz="1800" b="0" u="none" strike="noStrike">
              <a:solidFill>
                <a:srgbClr val="080808"/>
              </a:solidFill>
              <a:effectLst/>
              <a:uFillTx/>
              <a:latin typeface="Arial"/>
            </a:endParaRPr>
          </a:p>
        </p:txBody>
      </p:sp>
    </p:spTree>
  </p:cSld>
  <p:transition spd="slow">
    <p:randomBar dir="vert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1417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>Windows 用户</cp:lastModifiedBy>
  <dcterms:modified xsi:type="dcterms:W3CDTF">2025-09-22T15:33:04Z</dcterms:modified>
  <cp:revision>48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</Properties>
</file>