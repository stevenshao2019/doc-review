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5"/>
  </p:notesMasterIdLst>
  <p:sldIdLst>
    <p:sldId id="512" r:id="rId71"/>
    <p:sldId id="545" r:id="rId72"/>
    <p:sldId id="547" r:id="rId73"/>
    <p:sldId id="546" r:id="rId74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109" d="100"/>
          <a:sy n="109" d="100"/>
        </p:scale>
        <p:origin x="1674" y="96"/>
      </p:cViewPr>
      <p:guideLst>
        <p:guide orient="horz" pos="2136"/>
        <p:guide pos="2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04FCE45-8A7D-4E7A-9414-1CBE249AABA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2026/6/14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C617543-492D-4150-B190-9EABA92A8E4A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tags" Target="../tags/tag9.xml"/><Relationship Id="rId4" Type="http://schemas.openxmlformats.org/officeDocument/2006/relationships/tags" Target="../tags/tag10.xml"/><Relationship Id="rId5" Type="http://schemas.openxmlformats.org/officeDocument/2006/relationships/tags" Target="../tags/tag11.xml"/><Relationship Id="rId6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tags" Target="../tags/tag15.xml"/><Relationship Id="rId5" Type="http://schemas.openxmlformats.org/officeDocument/2006/relationships/tags" Target="../tags/tag16.xml"/><Relationship Id="rId6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tags" Target="../tags/tag18.xml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tags" Target="../tags/tag24.xml"/><Relationship Id="rId4" Type="http://schemas.openxmlformats.org/officeDocument/2006/relationships/tags" Target="../tags/tag25.xml"/><Relationship Id="rId5" Type="http://schemas.openxmlformats.org/officeDocument/2006/relationships/tags" Target="../tags/tag26.xml"/><Relationship Id="rId6" Type="http://schemas.openxmlformats.org/officeDocument/2006/relationships/tags" Target="../tags/tag27.xml"/><Relationship Id="rId7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tags" Target="../tags/tag30.xml"/><Relationship Id="rId4" Type="http://schemas.openxmlformats.org/officeDocument/2006/relationships/tags" Target="../tags/tag31.xml"/><Relationship Id="rId5" Type="http://schemas.openxmlformats.org/officeDocument/2006/relationships/tags" Target="../tags/tag32.xml"/><Relationship Id="rId6" Type="http://schemas.openxmlformats.org/officeDocument/2006/relationships/tags" Target="../tags/tag33.xml"/><Relationship Id="rId7" Type="http://schemas.openxmlformats.org/officeDocument/2006/relationships/tags" Target="../tags/tag34.xml"/><Relationship Id="rId8" Type="http://schemas.openxmlformats.org/officeDocument/2006/relationships/tags" Target="../tags/tag35.xml"/><Relationship Id="rId9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tags" Target="../tags/tag42.xml"/><Relationship Id="rId4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tags" Target="../tags/tag48.xml"/><Relationship Id="rId7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49.xml"/><Relationship Id="rId2" Type="http://schemas.openxmlformats.org/officeDocument/2006/relationships/tags" Target="../tags/tag50.xml"/><Relationship Id="rId3" Type="http://schemas.openxmlformats.org/officeDocument/2006/relationships/tags" Target="../tags/tag51.xml"/><Relationship Id="rId4" Type="http://schemas.openxmlformats.org/officeDocument/2006/relationships/tags" Target="../tags/tag52.xml"/><Relationship Id="rId5" Type="http://schemas.openxmlformats.org/officeDocument/2006/relationships/tags" Target="../tags/tag53.xml"/><Relationship Id="rId6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tags" Target="../tags/tag57.xml"/><Relationship Id="rId5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60CA96-EE16-464F-955F-5B81C6C4D01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5000"/>
              <a:buFont typeface="Wingdings 2" panose="05020102010507070707" pitchFamily="18" charset="2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99100" y="914400"/>
            <a:ext cx="73494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899100" y="3560400"/>
            <a:ext cx="73494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456300" y="1490400"/>
            <a:ext cx="82269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493100" y="3848400"/>
            <a:ext cx="58266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493100" y="4615200"/>
            <a:ext cx="58266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456300" y="1501200"/>
            <a:ext cx="38826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808700" y="1501200"/>
            <a:ext cx="38826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456300" y="1404000"/>
            <a:ext cx="40068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56300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4676813" y="1404000"/>
            <a:ext cx="40068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76813" y="1854000"/>
            <a:ext cx="40068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608400"/>
            <a:ext cx="82269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924808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7676100" y="914400"/>
            <a:ext cx="783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85800" y="914400"/>
            <a:ext cx="6876900" cy="502920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397600"/>
            <a:ext cx="73494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tags" Target="../tags/tag1.xml"/><Relationship Id="rId14" Type="http://schemas.openxmlformats.org/officeDocument/2006/relationships/tags" Target="../tags/tag2.xml"/><Relationship Id="rId15" Type="http://schemas.openxmlformats.org/officeDocument/2006/relationships/tags" Target="../tags/tag3.xml"/><Relationship Id="rId16" Type="http://schemas.openxmlformats.org/officeDocument/2006/relationships/tags" Target="../tags/tag4.xml"/><Relationship Id="rId17" Type="http://schemas.openxmlformats.org/officeDocument/2006/relationships/tags" Target="../tags/tag5.xml"/><Relationship Id="rId18" Type="http://schemas.openxmlformats.org/officeDocument/2006/relationships/tags" Target="../tags/tag6.xml"/><Relationship Id="rId1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/>
          </p:cNvSpPr>
          <p:nvPr>
            <p:ph type="title"/>
          </p:nvPr>
        </p:nvSpPr>
        <p:spPr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Rot="1"/>
          </p:cNvSpPr>
          <p:nvPr>
            <p:ph type="body" idx="1"/>
          </p:nvPr>
        </p:nvSpPr>
        <p:spPr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3484FC-C2DE-46E7-950B-0D0627C7069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456300" y="608400"/>
            <a:ext cx="82269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456300" y="1490400"/>
            <a:ext cx="82269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4590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87000" y="6314400"/>
            <a:ext cx="297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658200" y="6314400"/>
            <a:ext cx="2025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ts val="7800"/>
              </a:lnSpc>
            </a:pPr>
            <a:r>
              <a:rPr lang="zh-CN" altLang="en-US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第七节 </a:t>
            </a:r>
            <a:r>
              <a:rPr lang="en-US" altLang="zh-CN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2000</a:t>
            </a:r>
            <a:r>
              <a:rPr lang="zh-CN" altLang="en-US" sz="4000" b="1" dirty="0" smtClean="0">
                <a:solidFill>
                  <a:schemeClr val="tx1"/>
                </a:solidFill>
                <a:latin typeface="隶书体" pitchFamily="49" charset="-122"/>
                <a:ea typeface="隶书体" pitchFamily="49" charset="-122"/>
              </a:rPr>
              <a:t>年以来的散文</a:t>
            </a: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zh-CN" altLang="zh-CN" smtClean="0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304800" y="344488"/>
            <a:ext cx="77343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第六章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年以来的文学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685800"/>
            <a:ext cx="8153400" cy="4953000"/>
          </a:xfrm>
        </p:spPr>
        <p:txBody>
          <a:bodyPr/>
          <a:lstStyle/>
          <a:p>
            <a:pPr marL="0" indent="0" eaLnBrk="1" hangingPunct="1">
              <a:lnSpc>
                <a:spcPts val="4265"/>
              </a:lnSpc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、文化散文和学者散文的延伸</a:t>
            </a:r>
            <a:endParaRPr lang="en-US" altLang="zh-CN" sz="28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ts val="4265"/>
              </a:lnSpc>
              <a:buNone/>
            </a:pP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世纪的学者散文也表现出了明显的承续性。学者从自我个体出发，怀人忆事</a:t>
            </a:r>
            <a:r>
              <a:rPr lang="en-US" altLang="zh-CN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奉上了不少佳作。代表性的作品有杨绛《我们仨》、谢冕《悲喜人生》、刘亮程《先父》、孙郁《小人物与大哲学》、祝勇《木质的京都》、木心《哥伦比亚的倒影》等。</a:t>
            </a:r>
          </a:p>
          <a:p>
            <a:pPr marL="0" indent="0" eaLnBrk="1" hangingPunct="1">
              <a:lnSpc>
                <a:spcPts val="4265"/>
              </a:lnSpc>
              <a:buNone/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</a:t>
            </a: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的探索</a:t>
            </a:r>
          </a:p>
          <a:p>
            <a:pPr marL="0" indent="0" eaLnBrk="1" hangingPunct="1">
              <a:lnSpc>
                <a:spcPts val="4265"/>
              </a:lnSpc>
              <a:buNone/>
            </a:pPr>
            <a:r>
              <a:rPr lang="en-US" altLang="zh-CN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3、</a:t>
            </a: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新媒体散文的活跃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将个人日常生活以文学性的方式展现出来，积极更新和分享给读者这是新媒体散文的重要特征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685800"/>
            <a:ext cx="8153400" cy="4953000"/>
          </a:xfrm>
        </p:spPr>
        <p:txBody>
          <a:bodyPr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sz="2000">
                <a:latin typeface="微软雅黑"/>
              </a:rPr>
              <a:t>“新散文”的命名来自 1998 年云南《大家》杂志推出的“新散文”栏目。</a:t>
            </a:r>
            <a:r>
              <a:rPr sz="2000">
                <a:solidFill>
                  <a:srgbClr val="CC0000"/>
                </a:solidFill>
                <a:latin typeface="微软雅黑"/>
              </a:rPr>
              <a:t>当年，《大家》</a:t>
            </a:r>
            <a:r>
              <a:rPr sz="2000">
                <a:latin typeface="微软雅黑"/>
              </a:rPr>
              <a:t>在“新散文”栏目推出了张锐锋和庞培的作品，此后，又持续刊发了宁肯、祝勇、周晓枫、马丽、于坚等一批作家的散文创作，迄今已经持续20 多年。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所谓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是对新文学以来的散文传统以及逐渐形成的一些模式化写作的叛逆，比如要打破新文学以来形成的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小品文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随笔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的文体范式，以及在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世纪五六十年代的环境中趋于模式化的散文套路。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533400" y="685800"/>
            <a:ext cx="8153400" cy="4953000"/>
          </a:xfrm>
        </p:spPr>
        <p:txBody>
          <a:bodyPr/>
          <a:lstStyle/>
          <a:p>
            <a:pPr marL="0" algn="l" eaLnBrk="1" hangingPunct="1">
              <a:lnSpc>
                <a:spcPts val="4265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新散文的特点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个体性。与传统散文强烈的意识形态色彩相比，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向内心窥探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，书写作家心中的大世界。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去中心化。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不再围绕中心写作，而是企图写出生活的复杂性和个体的丰富性。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大容量。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一改传统散文短小的形式和篇幅，追求更大的容量，扩张散文的规模，突出创作的主体性，试把更为多样的跨文体写作手法引人到散文的世界中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0" algn="l" eaLnBrk="1" hangingPunct="1">
              <a:lnSpc>
                <a:spcPts val="4265"/>
              </a:lnSpc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d“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新散文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的文体实践中，也暴露出不少为学者和批评家所诟病的问题，如沉迷于细节、词语、伪个性等。</a:t>
            </a:r>
          </a:p>
          <a:p>
            <a:pPr marL="0" algn="l" eaLnBrk="1" hangingPunct="1">
              <a:lnSpc>
                <a:spcPts val="4265"/>
              </a:lnSpc>
              <a:buNone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5560</Words>
  <Application>Microsoft Office PowerPoint</Application>
  <PresentationFormat>全屏显示(4:3)</PresentationFormat>
  <Paragraphs>317</Paragraphs>
  <Slides>72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72</vt:i4>
      </vt:variant>
    </vt:vector>
  </HeadingPairs>
  <TitlesOfParts>
    <vt:vector size="89" baseType="lpstr">
      <vt:lpstr>等线</vt:lpstr>
      <vt:lpstr>黑体</vt:lpstr>
      <vt:lpstr>楷体</vt:lpstr>
      <vt:lpstr>隶书</vt:lpstr>
      <vt:lpstr>隶书体</vt:lpstr>
      <vt:lpstr>苹方-简</vt:lpstr>
      <vt:lpstr>思源黑体</vt:lpstr>
      <vt:lpstr>思源黑体 CN Bold</vt:lpstr>
      <vt:lpstr>思源宋体</vt:lpstr>
      <vt:lpstr>思源宋体 CN Heavy</vt:lpstr>
      <vt:lpstr>宋体</vt:lpstr>
      <vt:lpstr>Microsoft YaHei</vt:lpstr>
      <vt:lpstr>Arial</vt:lpstr>
      <vt:lpstr>Wingdings</vt:lpstr>
      <vt:lpstr>Wingdings 2</vt:lpstr>
      <vt:lpstr>砖雕艺术</vt:lpstr>
      <vt:lpstr>WPS</vt:lpstr>
      <vt:lpstr>第六章   2000年以来的文学 </vt:lpstr>
      <vt:lpstr>第一节 2000年以来的文学走向</vt:lpstr>
      <vt:lpstr>PowerPoint 演示文稿</vt:lpstr>
      <vt:lpstr>PowerPoint 演示文稿</vt:lpstr>
      <vt:lpstr>几个基本特征</vt:lpstr>
      <vt:lpstr>第二节 精英写作</vt:lpstr>
      <vt:lpstr>概论</vt:lpstr>
      <vt:lpstr>传统型写作</vt:lpstr>
      <vt:lpstr>代表作家和作品</vt:lpstr>
      <vt:lpstr>第三节 莫言</vt:lpstr>
      <vt:lpstr>诺贝尔文学奖颁奖词</vt:lpstr>
      <vt:lpstr>PowerPoint 演示文稿</vt:lpstr>
      <vt:lpstr>PowerPoint 演示文稿</vt:lpstr>
      <vt:lpstr>PowerPoint 演示文稿</vt:lpstr>
      <vt:lpstr>PowerPoint 演示文稿</vt:lpstr>
      <vt:lpstr>第四节   通俗小说与 底层写作</vt:lpstr>
      <vt:lpstr>通俗小说发展背景</vt:lpstr>
      <vt:lpstr>历史小说</vt:lpstr>
      <vt:lpstr>官场小说</vt:lpstr>
      <vt:lpstr>军旅小说</vt:lpstr>
      <vt:lpstr>生态小说</vt:lpstr>
      <vt:lpstr>底层写作</vt:lpstr>
      <vt:lpstr>80后小说</vt:lpstr>
      <vt:lpstr>科幻小说</vt:lpstr>
      <vt:lpstr>科幻小说</vt:lpstr>
      <vt:lpstr>网络文学定义</vt:lpstr>
      <vt:lpstr>网络文学发展</vt:lpstr>
      <vt:lpstr>网络同人小说</vt:lpstr>
      <vt:lpstr>网络玄幻小说</vt:lpstr>
      <vt:lpstr>网络穿越小说</vt:lpstr>
      <vt:lpstr>网络盗墓小说</vt:lpstr>
      <vt:lpstr>网络都市言情小说</vt:lpstr>
      <vt:lpstr>第五节 2000年以来的戏剧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第六节 2000年以来的诗歌</vt:lpstr>
      <vt:lpstr>背景</vt:lpstr>
      <vt:lpstr>网络诗歌</vt:lpstr>
      <vt:lpstr>PowerPoint 演示文稿</vt:lpstr>
      <vt:lpstr>事件诗</vt:lpstr>
      <vt:lpstr>“底层写作”里的“打工诗歌”</vt:lpstr>
      <vt:lpstr>各种诗歌活动</vt:lpstr>
      <vt:lpstr>诗歌中的“城乡问题”</vt:lpstr>
      <vt:lpstr>不同“代际”诗人的新格局</vt:lpstr>
      <vt:lpstr>“女性诗歌”的新景象</vt:lpstr>
      <vt:lpstr>总结</vt:lpstr>
      <vt:lpstr>第七节 2000年以来的散文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LiYC</dc:creator>
  <cp:lastModifiedBy>WIN10</cp:lastModifiedBy>
  <cp:revision>96</cp:revision>
  <dcterms:created xsi:type="dcterms:W3CDTF">2025-09-24T05:41:51Z</dcterms:created>
  <dcterms:modified xsi:type="dcterms:W3CDTF">2026-06-14T13:14:32Z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DFCABA1B22DB720648B8D26841F9FB4F_43</vt:lpwstr>
  </property>
  <property fmtid="{D5CDD505-2E9C-101B-9397-08002B2CF9AE}" pid="4" name="KSOProductBuildVer">
    <vt:lpwstr>2052-12.1.21861.21861</vt:lpwstr>
  </property>
</Properties>
</file>