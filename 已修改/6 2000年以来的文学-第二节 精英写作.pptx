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5"/>
  </p:notesMasterIdLst>
  <p:sldIdLst>
    <p:sldId id="479" r:id="rId8"/>
    <p:sldId id="265" r:id="rId9"/>
    <p:sldId id="480" r:id="rId10"/>
    <p:sldId id="481" r:id="rId1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9" d="100"/>
          <a:sy n="109" d="100"/>
        </p:scale>
        <p:origin x="1674" y="96"/>
      </p:cViewPr>
      <p:guideLst>
        <p:guide orient="horz" pos="2136"/>
        <p:guide pos="2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4FCE45-8A7D-4E7A-9414-1CBE249AABA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2026/6/14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617543-492D-4150-B190-9EABA92A8E4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tags" Target="../tags/tag31.xml"/><Relationship Id="rId5" Type="http://schemas.openxmlformats.org/officeDocument/2006/relationships/tags" Target="../tags/tag32.xml"/><Relationship Id="rId6" Type="http://schemas.openxmlformats.org/officeDocument/2006/relationships/tags" Target="../tags/tag33.xml"/><Relationship Id="rId7" Type="http://schemas.openxmlformats.org/officeDocument/2006/relationships/tags" Target="../tags/tag34.xml"/><Relationship Id="rId8" Type="http://schemas.openxmlformats.org/officeDocument/2006/relationships/tags" Target="../tags/tag35.xml"/><Relationship Id="rId9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tags" Target="../tags/tag48.xml"/><Relationship Id="rId7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Relationship Id="rId5" Type="http://schemas.openxmlformats.org/officeDocument/2006/relationships/tags" Target="../tags/tag53.xml"/><Relationship Id="rId6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17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0CA96-EE16-464F-955F-5B81C6C4D01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456300" y="1404000"/>
            <a:ext cx="40068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1404000"/>
            <a:ext cx="40068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397600"/>
            <a:ext cx="73494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tags" Target="../tags/tag1.xml"/><Relationship Id="rId14" Type="http://schemas.openxmlformats.org/officeDocument/2006/relationships/tags" Target="../tags/tag2.xml"/><Relationship Id="rId15" Type="http://schemas.openxmlformats.org/officeDocument/2006/relationships/tags" Target="../tags/tag3.xml"/><Relationship Id="rId16" Type="http://schemas.openxmlformats.org/officeDocument/2006/relationships/tags" Target="../tags/tag4.xml"/><Relationship Id="rId17" Type="http://schemas.openxmlformats.org/officeDocument/2006/relationships/tags" Target="../tags/tag5.xml"/><Relationship Id="rId18" Type="http://schemas.openxmlformats.org/officeDocument/2006/relationships/tags" Target="../tags/tag6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301625" y="2286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600200"/>
            <a:ext cx="8540750" cy="44989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anose="05020102010507070707" pitchFamily="18" charset="2"/>
        <a:buChar char="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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ts val="7800"/>
              </a:lnSpc>
            </a:pPr>
            <a:r>
              <a:rPr lang="zh-CN" altLang="en-US" sz="4000" b="1" dirty="0" smtClean="0">
                <a:solidFill>
                  <a:schemeClr val="tx1"/>
                </a:solidFill>
                <a:latin typeface="隶书体" pitchFamily="49" charset="-122"/>
                <a:ea typeface="隶书体" pitchFamily="49" charset="-122"/>
              </a:rPr>
              <a:t>第二节 精英写作</a:t>
            </a:r>
          </a:p>
        </p:txBody>
      </p:sp>
      <p:sp>
        <p:nvSpPr>
          <p:cNvPr id="6147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endParaRPr lang="zh-CN" altLang="zh-CN" smtClean="0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304800" y="344488"/>
            <a:ext cx="77343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第六章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年以来的文学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Rot="1"/>
          </p:cNvSpPr>
          <p:nvPr>
            <p:ph idx="1"/>
          </p:nvPr>
        </p:nvSpPr>
        <p:spPr>
          <a:xfrm>
            <a:off x="304800" y="1447800"/>
            <a:ext cx="8537575" cy="46513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sz="2100">
                <a:latin typeface="微软雅黑"/>
              </a:rPr>
              <a:t>依据发表或出版平台，人们习惯于将2000年以来的中国文学区分为三足鼎立的大块：以文学期刊为主导的传统型文学、以商业出版为依托的市场化文学（或大众文学）、以网络媒介为平台的</a:t>
            </a:r>
            <a:r>
              <a:rPr sz="2100">
                <a:solidFill>
                  <a:srgbClr val="CC0000"/>
                </a:solidFill>
                <a:latin typeface="微软雅黑"/>
              </a:rPr>
              <a:t>新媒体文学（或网络文学）</a:t>
            </a:r>
            <a:endParaRPr lang="en-US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762000"/>
            <a:ext cx="854075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概论</a:t>
            </a:r>
            <a:endParaRPr lang="zh-CN" altLang="en-US" sz="28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Rot="1"/>
          </p:cNvSpPr>
          <p:nvPr>
            <p:ph idx="1"/>
          </p:nvPr>
        </p:nvSpPr>
        <p:spPr>
          <a:xfrm>
            <a:off x="304800" y="1447800"/>
            <a:ext cx="8537575" cy="46513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年以来，传统型写作的特征，一是回归现实的叙事，二是专注于对日常生活的审美观照。</a:t>
            </a:r>
            <a:endParaRPr lang="en-US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新世纪创作了一批现实主义力作，这些作品接续了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1980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年代中期以来的现实主义传统，使得新世纪文学更有生活气息，更接近当下中国的世道人心和世态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人情。</a:t>
            </a:r>
            <a:endParaRPr lang="en-US" altLang="zh-CN" sz="2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sz="2100">
                <a:latin typeface="微软雅黑"/>
              </a:rPr>
              <a:t>对日常生活的审美观照，是文学践行新世纪以人为本的时代精神的体现。时代精神正从宏大叙事逐步落实到对日常生活中的人的精神世界的</a:t>
            </a:r>
            <a:r>
              <a:rPr sz="2100">
                <a:solidFill>
                  <a:srgbClr val="CC0000"/>
                </a:solidFill>
                <a:latin typeface="微软雅黑"/>
              </a:rPr>
              <a:t>思考和世俗</a:t>
            </a:r>
            <a:r>
              <a:rPr sz="2100">
                <a:latin typeface="微软雅黑"/>
              </a:rPr>
              <a:t>情感的关注，重建现代生活感性因此具有了本体性的意义。</a:t>
            </a:r>
          </a:p>
        </p:txBody>
      </p:sp>
      <p:sp>
        <p:nvSpPr>
          <p:cNvPr id="3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762000"/>
            <a:ext cx="854075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传统型写作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Rot="1"/>
          </p:cNvSpPr>
          <p:nvPr>
            <p:ph idx="1"/>
          </p:nvPr>
        </p:nvSpPr>
        <p:spPr>
          <a:xfrm>
            <a:off x="304800" y="1447800"/>
            <a:ext cx="8537575" cy="4651375"/>
          </a:xfrm>
        </p:spPr>
        <p:txBody>
          <a:bodyPr vert="horz" wrap="square" lIns="91440" tIns="45720" rIns="91440" bIns="45720" numCol="2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王安忆：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天香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贾平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凹：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秦腔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阎连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科：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受活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风雅颂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刘震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云：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一句顶一万句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苏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童：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黄雀记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余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华：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兄弟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第七天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格非：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望春风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毕飞宇：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青衣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玉米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李洱：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应物兄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金宇澄：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繁花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梁晓声：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人世间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陈彦：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主角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杨志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军：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雪山大地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麦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家：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解密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暗算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风声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东西：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没有语言的生活</a:t>
            </a:r>
            <a:r>
              <a:rPr lang="en-US" altLang="zh-CN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</p:txBody>
      </p:sp>
      <p:sp>
        <p:nvSpPr>
          <p:cNvPr id="3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762000"/>
            <a:ext cx="854075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代表作家和作品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砖雕艺术">
  <a:themeElements>
    <a:clrScheme name="砖雕艺术 1">
      <a:dk1>
        <a:srgbClr val="080808"/>
      </a:dk1>
      <a:lt1>
        <a:srgbClr val="FFFFFF"/>
      </a:lt1>
      <a:dk2>
        <a:srgbClr val="0039AC"/>
      </a:dk2>
      <a:lt2>
        <a:srgbClr val="C0C0C0"/>
      </a:lt2>
      <a:accent1>
        <a:srgbClr val="FFFF99"/>
      </a:accent1>
      <a:accent2>
        <a:srgbClr val="FFCC66"/>
      </a:accent2>
      <a:accent3>
        <a:srgbClr val="FFFFFF"/>
      </a:accent3>
      <a:accent4>
        <a:srgbClr val="060606"/>
      </a:accent4>
      <a:accent5>
        <a:srgbClr val="FFFFCA"/>
      </a:accent5>
      <a:accent6>
        <a:srgbClr val="E7B95C"/>
      </a:accent6>
      <a:hlink>
        <a:srgbClr val="0066FF"/>
      </a:hlink>
      <a:folHlink>
        <a:srgbClr val="CC3300"/>
      </a:folHlink>
    </a:clrScheme>
    <a:fontScheme name="砖雕艺术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砖雕艺术 1">
        <a:dk1>
          <a:srgbClr val="080808"/>
        </a:dk1>
        <a:lt1>
          <a:srgbClr val="FFFFFF"/>
        </a:lt1>
        <a:dk2>
          <a:srgbClr val="0039AC"/>
        </a:dk2>
        <a:lt2>
          <a:srgbClr val="C0C0C0"/>
        </a:lt2>
        <a:accent1>
          <a:srgbClr val="FFFF99"/>
        </a:accent1>
        <a:accent2>
          <a:srgbClr val="FFCC66"/>
        </a:accent2>
        <a:accent3>
          <a:srgbClr val="FFFFFF"/>
        </a:accent3>
        <a:accent4>
          <a:srgbClr val="060606"/>
        </a:accent4>
        <a:accent5>
          <a:srgbClr val="FFFFCA"/>
        </a:accent5>
        <a:accent6>
          <a:srgbClr val="E7B95C"/>
        </a:accent6>
        <a:hlink>
          <a:srgbClr val="0066FF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2">
        <a:dk1>
          <a:srgbClr val="333399"/>
        </a:dk1>
        <a:lt1>
          <a:srgbClr val="ADD3AF"/>
        </a:lt1>
        <a:dk2>
          <a:srgbClr val="D65700"/>
        </a:dk2>
        <a:lt2>
          <a:srgbClr val="B2B2B2"/>
        </a:lt2>
        <a:accent1>
          <a:srgbClr val="B8E9EE"/>
        </a:accent1>
        <a:accent2>
          <a:srgbClr val="FFCC00"/>
        </a:accent2>
        <a:accent3>
          <a:srgbClr val="D3E6D4"/>
        </a:accent3>
        <a:accent4>
          <a:srgbClr val="2A2A82"/>
        </a:accent4>
        <a:accent5>
          <a:srgbClr val="D8F2F5"/>
        </a:accent5>
        <a:accent6>
          <a:srgbClr val="E7B900"/>
        </a:accent6>
        <a:hlink>
          <a:srgbClr val="008080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3">
        <a:dk1>
          <a:srgbClr val="003BB2"/>
        </a:dk1>
        <a:lt1>
          <a:srgbClr val="CCFFCC"/>
        </a:lt1>
        <a:dk2>
          <a:srgbClr val="003366"/>
        </a:dk2>
        <a:lt2>
          <a:srgbClr val="C0C0C0"/>
        </a:lt2>
        <a:accent1>
          <a:srgbClr val="FFFFFF"/>
        </a:accent1>
        <a:accent2>
          <a:srgbClr val="009900"/>
        </a:accent2>
        <a:accent3>
          <a:srgbClr val="E2FFE2"/>
        </a:accent3>
        <a:accent4>
          <a:srgbClr val="003197"/>
        </a:accent4>
        <a:accent5>
          <a:srgbClr val="FFFFFF"/>
        </a:accent5>
        <a:accent6>
          <a:srgbClr val="008A00"/>
        </a:accent6>
        <a:hlink>
          <a:srgbClr val="333399"/>
        </a:hlink>
        <a:folHlink>
          <a:srgbClr val="E45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4">
        <a:dk1>
          <a:srgbClr val="0000CC"/>
        </a:dk1>
        <a:lt1>
          <a:srgbClr val="CCECFF"/>
        </a:lt1>
        <a:dk2>
          <a:srgbClr val="006666"/>
        </a:dk2>
        <a:lt2>
          <a:srgbClr val="C0C0C0"/>
        </a:lt2>
        <a:accent1>
          <a:srgbClr val="FFFF99"/>
        </a:accent1>
        <a:accent2>
          <a:srgbClr val="FFCCFF"/>
        </a:accent2>
        <a:accent3>
          <a:srgbClr val="E2F4FF"/>
        </a:accent3>
        <a:accent4>
          <a:srgbClr val="0000AE"/>
        </a:accent4>
        <a:accent5>
          <a:srgbClr val="FFFFCA"/>
        </a:accent5>
        <a:accent6>
          <a:srgbClr val="E7B9E7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5">
        <a:dk1>
          <a:srgbClr val="000000"/>
        </a:dk1>
        <a:lt1>
          <a:srgbClr val="FFFFCC"/>
        </a:lt1>
        <a:dk2>
          <a:srgbClr val="5A5A86"/>
        </a:dk2>
        <a:lt2>
          <a:srgbClr val="C0C0C0"/>
        </a:lt2>
        <a:accent1>
          <a:srgbClr val="D5E9F7"/>
        </a:accent1>
        <a:accent2>
          <a:srgbClr val="FFCC00"/>
        </a:accent2>
        <a:accent3>
          <a:srgbClr val="FFFFE2"/>
        </a:accent3>
        <a:accent4>
          <a:srgbClr val="000000"/>
        </a:accent4>
        <a:accent5>
          <a:srgbClr val="E7F2FA"/>
        </a:accent5>
        <a:accent6>
          <a:srgbClr val="E7B900"/>
        </a:accent6>
        <a:hlink>
          <a:srgbClr val="CC3300"/>
        </a:hlink>
        <a:folHlink>
          <a:srgbClr val="007D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6">
        <a:dk1>
          <a:srgbClr val="006666"/>
        </a:dk1>
        <a:lt1>
          <a:srgbClr val="FFECD9"/>
        </a:lt1>
        <a:dk2>
          <a:srgbClr val="000099"/>
        </a:dk2>
        <a:lt2>
          <a:srgbClr val="B2B2B2"/>
        </a:lt2>
        <a:accent1>
          <a:srgbClr val="EAEAEA"/>
        </a:accent1>
        <a:accent2>
          <a:srgbClr val="FF6600"/>
        </a:accent2>
        <a:accent3>
          <a:srgbClr val="FFF4E9"/>
        </a:accent3>
        <a:accent4>
          <a:srgbClr val="005656"/>
        </a:accent4>
        <a:accent5>
          <a:srgbClr val="F3F3F3"/>
        </a:accent5>
        <a:accent6>
          <a:srgbClr val="E75C00"/>
        </a:accent6>
        <a:hlink>
          <a:srgbClr val="0066FF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7">
        <a:dk1>
          <a:srgbClr val="585884"/>
        </a:dk1>
        <a:lt1>
          <a:srgbClr val="DDDDDD"/>
        </a:lt1>
        <a:dk2>
          <a:srgbClr val="000000"/>
        </a:dk2>
        <a:lt2>
          <a:srgbClr val="969696"/>
        </a:lt2>
        <a:accent1>
          <a:srgbClr val="FFFFCC"/>
        </a:accent1>
        <a:accent2>
          <a:srgbClr val="99CC00"/>
        </a:accent2>
        <a:accent3>
          <a:srgbClr val="EBEBEB"/>
        </a:accent3>
        <a:accent4>
          <a:srgbClr val="4A4A70"/>
        </a:accent4>
        <a:accent5>
          <a:srgbClr val="FFFFE2"/>
        </a:accent5>
        <a:accent6>
          <a:srgbClr val="8AB900"/>
        </a:accent6>
        <a:hlink>
          <a:srgbClr val="FF3300"/>
        </a:hlink>
        <a:folHlink>
          <a:srgbClr val="6E3B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8">
        <a:dk1>
          <a:srgbClr val="333399"/>
        </a:dk1>
        <a:lt1>
          <a:srgbClr val="FFD9D9"/>
        </a:lt1>
        <a:dk2>
          <a:srgbClr val="00716E"/>
        </a:dk2>
        <a:lt2>
          <a:srgbClr val="C0C0C0"/>
        </a:lt2>
        <a:accent1>
          <a:srgbClr val="AED2BA"/>
        </a:accent1>
        <a:accent2>
          <a:srgbClr val="FF9933"/>
        </a:accent2>
        <a:accent3>
          <a:srgbClr val="FFE9E9"/>
        </a:accent3>
        <a:accent4>
          <a:srgbClr val="2A2A82"/>
        </a:accent4>
        <a:accent5>
          <a:srgbClr val="D3E5D9"/>
        </a:accent5>
        <a:accent6>
          <a:srgbClr val="E78A2D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5560</Words>
  <Application>Microsoft Office PowerPoint</Application>
  <PresentationFormat>全屏显示(4:3)</PresentationFormat>
  <Paragraphs>317</Paragraphs>
  <Slides>72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89" baseType="lpstr">
      <vt:lpstr>等线</vt:lpstr>
      <vt:lpstr>黑体</vt:lpstr>
      <vt:lpstr>楷体</vt:lpstr>
      <vt:lpstr>隶书</vt:lpstr>
      <vt:lpstr>隶书体</vt:lpstr>
      <vt:lpstr>苹方-简</vt:lpstr>
      <vt:lpstr>思源黑体</vt:lpstr>
      <vt:lpstr>思源黑体 CN Bold</vt:lpstr>
      <vt:lpstr>思源宋体</vt:lpstr>
      <vt:lpstr>思源宋体 CN Heavy</vt:lpstr>
      <vt:lpstr>宋体</vt:lpstr>
      <vt:lpstr>Microsoft YaHei</vt:lpstr>
      <vt:lpstr>Arial</vt:lpstr>
      <vt:lpstr>Wingdings</vt:lpstr>
      <vt:lpstr>Wingdings 2</vt:lpstr>
      <vt:lpstr>砖雕艺术</vt:lpstr>
      <vt:lpstr>WPS</vt:lpstr>
      <vt:lpstr>第六章   2000年以来的文学 </vt:lpstr>
      <vt:lpstr>第一节 2000年以来的文学走向</vt:lpstr>
      <vt:lpstr>PowerPoint 演示文稿</vt:lpstr>
      <vt:lpstr>PowerPoint 演示文稿</vt:lpstr>
      <vt:lpstr>几个基本特征</vt:lpstr>
      <vt:lpstr>第二节 精英写作</vt:lpstr>
      <vt:lpstr>概论</vt:lpstr>
      <vt:lpstr>传统型写作</vt:lpstr>
      <vt:lpstr>代表作家和作品</vt:lpstr>
      <vt:lpstr>第三节 莫言</vt:lpstr>
      <vt:lpstr>诺贝尔文学奖颁奖词</vt:lpstr>
      <vt:lpstr>PowerPoint 演示文稿</vt:lpstr>
      <vt:lpstr>PowerPoint 演示文稿</vt:lpstr>
      <vt:lpstr>PowerPoint 演示文稿</vt:lpstr>
      <vt:lpstr>PowerPoint 演示文稿</vt:lpstr>
      <vt:lpstr>第四节   通俗小说与 底层写作</vt:lpstr>
      <vt:lpstr>通俗小说发展背景</vt:lpstr>
      <vt:lpstr>历史小说</vt:lpstr>
      <vt:lpstr>官场小说</vt:lpstr>
      <vt:lpstr>军旅小说</vt:lpstr>
      <vt:lpstr>生态小说</vt:lpstr>
      <vt:lpstr>底层写作</vt:lpstr>
      <vt:lpstr>80后小说</vt:lpstr>
      <vt:lpstr>科幻小说</vt:lpstr>
      <vt:lpstr>科幻小说</vt:lpstr>
      <vt:lpstr>网络文学定义</vt:lpstr>
      <vt:lpstr>网络文学发展</vt:lpstr>
      <vt:lpstr>网络同人小说</vt:lpstr>
      <vt:lpstr>网络玄幻小说</vt:lpstr>
      <vt:lpstr>网络穿越小说</vt:lpstr>
      <vt:lpstr>网络盗墓小说</vt:lpstr>
      <vt:lpstr>网络都市言情小说</vt:lpstr>
      <vt:lpstr>第五节 2000年以来的戏剧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第六节 2000年以来的诗歌</vt:lpstr>
      <vt:lpstr>背景</vt:lpstr>
      <vt:lpstr>网络诗歌</vt:lpstr>
      <vt:lpstr>PowerPoint 演示文稿</vt:lpstr>
      <vt:lpstr>事件诗</vt:lpstr>
      <vt:lpstr>“底层写作”里的“打工诗歌”</vt:lpstr>
      <vt:lpstr>各种诗歌活动</vt:lpstr>
      <vt:lpstr>诗歌中的“城乡问题”</vt:lpstr>
      <vt:lpstr>不同“代际”诗人的新格局</vt:lpstr>
      <vt:lpstr>“女性诗歌”的新景象</vt:lpstr>
      <vt:lpstr>总结</vt:lpstr>
      <vt:lpstr>第七节 2000年以来的散文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LiYC</dc:creator>
  <cp:lastModifiedBy>WIN10</cp:lastModifiedBy>
  <cp:revision>96</cp:revision>
  <dcterms:created xsi:type="dcterms:W3CDTF">2025-09-24T05:41:51Z</dcterms:created>
  <dcterms:modified xsi:type="dcterms:W3CDTF">2026-06-14T13:14:32Z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DFCABA1B22DB720648B8D26841F9FB4F_43</vt:lpwstr>
  </property>
  <property fmtid="{D5CDD505-2E9C-101B-9397-08002B2CF9AE}" pid="4" name="KSOProductBuildVer">
    <vt:lpwstr>2052-12.1.21861.21861</vt:lpwstr>
  </property>
</Properties>
</file>