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75"/>
  </p:notesMasterIdLst>
  <p:sldIdLst>
    <p:sldId id="511" r:id="rId60"/>
    <p:sldId id="497" r:id="rId61"/>
    <p:sldId id="498" r:id="rId62"/>
    <p:sldId id="499" r:id="rId63"/>
    <p:sldId id="500" r:id="rId64"/>
    <p:sldId id="501" r:id="rId65"/>
    <p:sldId id="502" r:id="rId66"/>
    <p:sldId id="503" r:id="rId67"/>
    <p:sldId id="504" r:id="rId68"/>
    <p:sldId id="506" r:id="rId69"/>
    <p:sldId id="510" r:id="rId70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285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109" d="100"/>
          <a:sy n="109" d="100"/>
        </p:scale>
        <p:origin x="1674" y="96"/>
      </p:cViewPr>
      <p:guideLst>
        <p:guide orient="horz" pos="2136"/>
        <p:guide pos="285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60" Type="http://schemas.openxmlformats.org/officeDocument/2006/relationships/slide" Target="slides/slide58.xml"/><Relationship Id="rId61" Type="http://schemas.openxmlformats.org/officeDocument/2006/relationships/slide" Target="slides/slide59.xml"/><Relationship Id="rId62" Type="http://schemas.openxmlformats.org/officeDocument/2006/relationships/slide" Target="slides/slide60.xml"/><Relationship Id="rId63" Type="http://schemas.openxmlformats.org/officeDocument/2006/relationships/slide" Target="slides/slide61.xml"/><Relationship Id="rId64" Type="http://schemas.openxmlformats.org/officeDocument/2006/relationships/slide" Target="slides/slide62.xml"/><Relationship Id="rId65" Type="http://schemas.openxmlformats.org/officeDocument/2006/relationships/slide" Target="slides/slide63.xml"/><Relationship Id="rId66" Type="http://schemas.openxmlformats.org/officeDocument/2006/relationships/slide" Target="slides/slide64.xml"/><Relationship Id="rId67" Type="http://schemas.openxmlformats.org/officeDocument/2006/relationships/slide" Target="slides/slide65.xml"/><Relationship Id="rId68" Type="http://schemas.openxmlformats.org/officeDocument/2006/relationships/slide" Target="slides/slide66.xml"/><Relationship Id="rId69" Type="http://schemas.openxmlformats.org/officeDocument/2006/relationships/slide" Target="slides/slide67.xml"/><Relationship Id="rId70" Type="http://schemas.openxmlformats.org/officeDocument/2006/relationships/slide" Target="slides/slide68.xml"/><Relationship Id="rId75" Type="http://schemas.openxmlformats.org/officeDocument/2006/relationships/notesMaster" Target="notesMasters/notesMaster1.xml"/><Relationship Id="rId76" Type="http://schemas.openxmlformats.org/officeDocument/2006/relationships/presProps" Target="presProps.xml"/><Relationship Id="rId77" Type="http://schemas.openxmlformats.org/officeDocument/2006/relationships/viewProps" Target="viewProps.xml"/><Relationship Id="rId78" Type="http://schemas.openxmlformats.org/officeDocument/2006/relationships/theme" Target="theme/theme1.xml"/><Relationship Id="rId7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04FCE45-8A7D-4E7A-9414-1CBE249AABA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2026/6/14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smtClean="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C617543-492D-4150-B190-9EABA92A8E4A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tags" Target="../tags/tag9.xml"/><Relationship Id="rId4" Type="http://schemas.openxmlformats.org/officeDocument/2006/relationships/tags" Target="../tags/tag10.xml"/><Relationship Id="rId5" Type="http://schemas.openxmlformats.org/officeDocument/2006/relationships/tags" Target="../tags/tag11.xml"/><Relationship Id="rId6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tags" Target="../tags/tag13.xml"/><Relationship Id="rId3" Type="http://schemas.openxmlformats.org/officeDocument/2006/relationships/tags" Target="../tags/tag14.xml"/><Relationship Id="rId4" Type="http://schemas.openxmlformats.org/officeDocument/2006/relationships/tags" Target="../tags/tag15.xml"/><Relationship Id="rId5" Type="http://schemas.openxmlformats.org/officeDocument/2006/relationships/tags" Target="../tags/tag16.xml"/><Relationship Id="rId6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tags" Target="../tags/tag18.xml"/><Relationship Id="rId3" Type="http://schemas.openxmlformats.org/officeDocument/2006/relationships/tags" Target="../tags/tag19.xml"/><Relationship Id="rId4" Type="http://schemas.openxmlformats.org/officeDocument/2006/relationships/tags" Target="../tags/tag20.xml"/><Relationship Id="rId5" Type="http://schemas.openxmlformats.org/officeDocument/2006/relationships/tags" Target="../tags/tag21.xml"/><Relationship Id="rId6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tags" Target="../tags/tag23.xml"/><Relationship Id="rId3" Type="http://schemas.openxmlformats.org/officeDocument/2006/relationships/tags" Target="../tags/tag24.xml"/><Relationship Id="rId4" Type="http://schemas.openxmlformats.org/officeDocument/2006/relationships/tags" Target="../tags/tag25.xml"/><Relationship Id="rId5" Type="http://schemas.openxmlformats.org/officeDocument/2006/relationships/tags" Target="../tags/tag26.xml"/><Relationship Id="rId6" Type="http://schemas.openxmlformats.org/officeDocument/2006/relationships/tags" Target="../tags/tag27.xml"/><Relationship Id="rId7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tags" Target="../tags/tag29.xml"/><Relationship Id="rId3" Type="http://schemas.openxmlformats.org/officeDocument/2006/relationships/tags" Target="../tags/tag30.xml"/><Relationship Id="rId4" Type="http://schemas.openxmlformats.org/officeDocument/2006/relationships/tags" Target="../tags/tag31.xml"/><Relationship Id="rId5" Type="http://schemas.openxmlformats.org/officeDocument/2006/relationships/tags" Target="../tags/tag32.xml"/><Relationship Id="rId6" Type="http://schemas.openxmlformats.org/officeDocument/2006/relationships/tags" Target="../tags/tag33.xml"/><Relationship Id="rId7" Type="http://schemas.openxmlformats.org/officeDocument/2006/relationships/tags" Target="../tags/tag34.xml"/><Relationship Id="rId8" Type="http://schemas.openxmlformats.org/officeDocument/2006/relationships/tags" Target="../tags/tag35.xml"/><Relationship Id="rId9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tags" Target="../tags/tag41.xml"/><Relationship Id="rId3" Type="http://schemas.openxmlformats.org/officeDocument/2006/relationships/tags" Target="../tags/tag42.xml"/><Relationship Id="rId4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43.xml"/><Relationship Id="rId2" Type="http://schemas.openxmlformats.org/officeDocument/2006/relationships/tags" Target="../tags/tag44.xml"/><Relationship Id="rId3" Type="http://schemas.openxmlformats.org/officeDocument/2006/relationships/tags" Target="../tags/tag45.xml"/><Relationship Id="rId4" Type="http://schemas.openxmlformats.org/officeDocument/2006/relationships/tags" Target="../tags/tag46.xml"/><Relationship Id="rId5" Type="http://schemas.openxmlformats.org/officeDocument/2006/relationships/tags" Target="../tags/tag47.xml"/><Relationship Id="rId6" Type="http://schemas.openxmlformats.org/officeDocument/2006/relationships/tags" Target="../tags/tag48.xml"/><Relationship Id="rId7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49.xml"/><Relationship Id="rId2" Type="http://schemas.openxmlformats.org/officeDocument/2006/relationships/tags" Target="../tags/tag50.xml"/><Relationship Id="rId3" Type="http://schemas.openxmlformats.org/officeDocument/2006/relationships/tags" Target="../tags/tag51.xml"/><Relationship Id="rId4" Type="http://schemas.openxmlformats.org/officeDocument/2006/relationships/tags" Target="../tags/tag52.xml"/><Relationship Id="rId5" Type="http://schemas.openxmlformats.org/officeDocument/2006/relationships/tags" Target="../tags/tag53.xml"/><Relationship Id="rId6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54.xml"/><Relationship Id="rId2" Type="http://schemas.openxmlformats.org/officeDocument/2006/relationships/tags" Target="../tags/tag55.xml"/><Relationship Id="rId3" Type="http://schemas.openxmlformats.org/officeDocument/2006/relationships/tags" Target="../tags/tag56.xml"/><Relationship Id="rId4" Type="http://schemas.openxmlformats.org/officeDocument/2006/relationships/tags" Target="../tags/tag57.xml"/><Relationship Id="rId5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58.xml"/><Relationship Id="rId2" Type="http://schemas.openxmlformats.org/officeDocument/2006/relationships/tags" Target="../tags/tag59.xml"/><Relationship Id="rId3" Type="http://schemas.openxmlformats.org/officeDocument/2006/relationships/tags" Target="../tags/tag60.xml"/><Relationship Id="rId4" Type="http://schemas.openxmlformats.org/officeDocument/2006/relationships/tags" Target="../tags/tag61.xml"/><Relationship Id="rId5" Type="http://schemas.openxmlformats.org/officeDocument/2006/relationships/tags" Target="../tags/tag62.xml"/><Relationship Id="rId6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7171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 2" panose="05020102010507070707" pitchFamily="18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245225"/>
            <a:ext cx="2289175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C60CA96-EE16-464F-955F-5B81C6C4D01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93484FC-C2DE-46E7-950B-0D0627C7069B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93484FC-C2DE-46E7-950B-0D0627C7069B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1625" y="1600200"/>
            <a:ext cx="4194175" cy="44989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194175" cy="44989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93484FC-C2DE-46E7-950B-0D0627C7069B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93484FC-C2DE-46E7-950B-0D0627C7069B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93484FC-C2DE-46E7-950B-0D0627C7069B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93484FC-C2DE-46E7-950B-0D0627C7069B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93484FC-C2DE-46E7-950B-0D0627C7069B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ingdings 2" panose="05020102010507070707" pitchFamily="18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93484FC-C2DE-46E7-950B-0D0627C7069B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93484FC-C2DE-46E7-950B-0D0627C7069B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7188" y="228600"/>
            <a:ext cx="2135187" cy="58705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1625" y="228600"/>
            <a:ext cx="6253163" cy="58705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93484FC-C2DE-46E7-950B-0D0627C7069B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899100" y="914400"/>
            <a:ext cx="73494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899100" y="3560400"/>
            <a:ext cx="73494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800" spc="2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6300" y="1490400"/>
            <a:ext cx="82269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493100" y="3848400"/>
            <a:ext cx="58266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3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493100" y="4615200"/>
            <a:ext cx="58266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456300" y="1501200"/>
            <a:ext cx="38826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4808700" y="1501200"/>
            <a:ext cx="38826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456300" y="1404000"/>
            <a:ext cx="40068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456300" y="1854000"/>
            <a:ext cx="40068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4676813" y="1404000"/>
            <a:ext cx="40068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4676813" y="1854000"/>
            <a:ext cx="40068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456300" y="1555200"/>
            <a:ext cx="3924808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4762800" y="1555200"/>
            <a:ext cx="39204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2026/6/14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7676100" y="914400"/>
            <a:ext cx="783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1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685800" y="914400"/>
            <a:ext cx="6876900" cy="5029200"/>
          </a:xfrm>
        </p:spPr>
        <p:txBody>
          <a:bodyPr vert="eaVert" lIns="46800" tIns="46800" rIns="46800" bIns="46800"/>
          <a:lstStyle>
            <a:lvl1pPr marL="171450" indent="-171450">
              <a:spcAft>
                <a:spcPts val="1000"/>
              </a:spcAft>
              <a:defRPr spc="300"/>
            </a:lvl1pPr>
            <a:lvl2pPr marL="514350" indent="-171450">
              <a:defRPr spc="300"/>
            </a:lvl2pPr>
            <a:lvl3pPr marL="857250" indent="-171450">
              <a:defRPr spc="300"/>
            </a:lvl3pPr>
            <a:lvl4pPr marL="1200150" indent="-171450">
              <a:defRPr spc="300"/>
            </a:lvl4pPr>
            <a:lvl5pPr marL="1543050" indent="-17145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456300" y="774000"/>
            <a:ext cx="82296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899100" y="2397600"/>
            <a:ext cx="73494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5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899100" y="3560400"/>
            <a:ext cx="73494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8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3" Type="http://schemas.openxmlformats.org/officeDocument/2006/relationships/tags" Target="../tags/tag1.xml"/><Relationship Id="rId14" Type="http://schemas.openxmlformats.org/officeDocument/2006/relationships/tags" Target="../tags/tag2.xml"/><Relationship Id="rId15" Type="http://schemas.openxmlformats.org/officeDocument/2006/relationships/tags" Target="../tags/tag3.xml"/><Relationship Id="rId16" Type="http://schemas.openxmlformats.org/officeDocument/2006/relationships/tags" Target="../tags/tag4.xml"/><Relationship Id="rId17" Type="http://schemas.openxmlformats.org/officeDocument/2006/relationships/tags" Target="../tags/tag5.xml"/><Relationship Id="rId18" Type="http://schemas.openxmlformats.org/officeDocument/2006/relationships/tags" Target="../tags/tag6.xml"/><Relationship Id="rId1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Rot="1"/>
          </p:cNvSpPr>
          <p:nvPr>
            <p:ph type="title"/>
          </p:nvPr>
        </p:nvSpPr>
        <p:spPr>
          <a:xfrm>
            <a:off x="301625" y="228600"/>
            <a:ext cx="854075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 noRot="1"/>
          </p:cNvSpPr>
          <p:nvPr>
            <p:ph type="body" idx="1"/>
          </p:nvPr>
        </p:nvSpPr>
        <p:spPr>
          <a:xfrm>
            <a:off x="301625" y="1600200"/>
            <a:ext cx="8540750" cy="44989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245225"/>
            <a:ext cx="2289175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93484FC-C2DE-46E7-950B-0D0627C7069B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5000"/>
        <a:buFont typeface="Wingdings 2" panose="05020102010507070707" pitchFamily="18" charset="2"/>
        <a:buChar char="¡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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 2" panose="05020102010507070707" pitchFamily="18" charset="2"/>
        <a:buChar char="¡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anose="05000000000000000000" pitchFamily="2" charset="2"/>
        <a:buChar char="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 2" panose="05020102010507070707" pitchFamily="18" charset="2"/>
        <a:buChar char="¡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9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456300" y="608400"/>
            <a:ext cx="82269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456300" y="1490400"/>
            <a:ext cx="82269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459000" y="6314400"/>
            <a:ext cx="2025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3087000" y="6314400"/>
            <a:ext cx="297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6658200" y="6314400"/>
            <a:ext cx="2025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7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3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207135" algn="l"/>
          <a:tab pos="1207135" algn="l"/>
          <a:tab pos="1207135" algn="l"/>
          <a:tab pos="1207135" algn="l"/>
        </a:tabLst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Rot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lnSpc>
                <a:spcPts val="7800"/>
              </a:lnSpc>
            </a:pPr>
            <a:r>
              <a:rPr lang="zh-CN" altLang="en-US" sz="4000" b="1" dirty="0" smtClean="0">
                <a:solidFill>
                  <a:schemeClr val="tx1"/>
                </a:solidFill>
                <a:latin typeface="隶书体" pitchFamily="49" charset="-122"/>
                <a:ea typeface="隶书体" pitchFamily="49" charset="-122"/>
              </a:rPr>
              <a:t>第六节 </a:t>
            </a:r>
            <a:r>
              <a:rPr lang="en-US" altLang="zh-CN" sz="4000" b="1" dirty="0" smtClean="0">
                <a:solidFill>
                  <a:schemeClr val="tx1"/>
                </a:solidFill>
                <a:latin typeface="隶书体" pitchFamily="49" charset="-122"/>
                <a:ea typeface="隶书体" pitchFamily="49" charset="-122"/>
              </a:rPr>
              <a:t>2000</a:t>
            </a:r>
            <a:r>
              <a:rPr lang="zh-CN" altLang="en-US" sz="4000" b="1" dirty="0" smtClean="0">
                <a:solidFill>
                  <a:schemeClr val="tx1"/>
                </a:solidFill>
                <a:latin typeface="隶书体" pitchFamily="49" charset="-122"/>
                <a:ea typeface="隶书体" pitchFamily="49" charset="-122"/>
              </a:rPr>
              <a:t>年以来的诗歌</a:t>
            </a:r>
          </a:p>
        </p:txBody>
      </p:sp>
      <p:sp>
        <p:nvSpPr>
          <p:cNvPr id="6147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1371600" y="4038600"/>
            <a:ext cx="6400800" cy="1600200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endParaRPr lang="zh-CN" altLang="zh-CN" smtClean="0"/>
          </a:p>
        </p:txBody>
      </p:sp>
      <p:sp>
        <p:nvSpPr>
          <p:cNvPr id="6148" name="Rectangle 4"/>
          <p:cNvSpPr>
            <a:spLocks noChangeArrowheads="1"/>
          </p:cNvSpPr>
          <p:nvPr/>
        </p:nvSpPr>
        <p:spPr bwMode="auto">
          <a:xfrm>
            <a:off x="304800" y="344488"/>
            <a:ext cx="77343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第六章 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2000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年以来的文学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2"/>
          <p:cNvSpPr>
            <a:spLocks noGrp="1"/>
          </p:cNvSpPr>
          <p:nvPr>
            <p:ph type="title"/>
          </p:nvPr>
        </p:nvSpPr>
        <p:spPr>
          <a:xfrm>
            <a:off x="381000" y="1000125"/>
            <a:ext cx="8367713" cy="628650"/>
          </a:xfrm>
        </p:spPr>
        <p:txBody>
          <a:bodyPr vert="horz" wrap="square" lIns="91440" tIns="45720" rIns="91440" bIns="45720" anchor="ctr" anchorCtr="0"/>
          <a:lstStyle/>
          <a:p>
            <a:pPr algn="l" defTabSz="914400" eaLnBrk="1" hangingPunct="1"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</a:t>
            </a:r>
          </a:p>
        </p:txBody>
      </p:sp>
      <p:sp>
        <p:nvSpPr>
          <p:cNvPr id="6146" name="Rectangle 3"/>
          <p:cNvSpPr>
            <a:spLocks noGrp="1"/>
          </p:cNvSpPr>
          <p:nvPr>
            <p:ph idx="1"/>
          </p:nvPr>
        </p:nvSpPr>
        <p:spPr>
          <a:xfrm>
            <a:off x="428625" y="1844675"/>
            <a:ext cx="8320088" cy="4537075"/>
          </a:xfrm>
        </p:spPr>
        <p:txBody>
          <a:bodyPr vert="horz" wrap="square" lIns="91440" tIns="45720" rIns="91440" bIns="45720" anchor="t" anchorCtr="0"/>
          <a:lstStyle/>
          <a:p>
            <a:pPr marL="0" algn="l" eaLnBrk="1" hangingPunct="1">
              <a:lnSpc>
                <a:spcPts val="4265"/>
              </a:lnSpc>
              <a:buNone/>
            </a:pP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互联网的兴起。以及新媒体技术、数字技术的迅猛发展。</a:t>
            </a:r>
          </a:p>
          <a:p>
            <a:pPr marL="0" algn="l" eaLnBrk="1" hangingPunct="1">
              <a:lnSpc>
                <a:spcPts val="4265"/>
              </a:lnSpc>
              <a:buNone/>
            </a:pP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平台：网站、论坛、微博……</a:t>
            </a:r>
          </a:p>
          <a:p>
            <a:pPr marL="0" algn="l" eaLnBrk="1" hangingPunct="1">
              <a:lnSpc>
                <a:spcPts val="4265"/>
              </a:lnSpc>
              <a:buNone/>
            </a:pP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媒介与工具：手机短信、微信、AI……</a:t>
            </a:r>
          </a:p>
          <a:p>
            <a:pPr marL="0" algn="l" eaLnBrk="1" hangingPunct="1">
              <a:lnSpc>
                <a:spcPts val="4265"/>
              </a:lnSpc>
              <a:buNone/>
            </a:pP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对诗歌生态与格局，创作和传播、接受方式的影响。重塑诗歌样态（语言、形式）。</a:t>
            </a:r>
          </a:p>
          <a:p>
            <a:pPr marL="0" algn="l" eaLnBrk="1" hangingPunct="1">
              <a:lnSpc>
                <a:spcPts val="4265"/>
              </a:lnSpc>
              <a:buNone/>
            </a:pPr>
            <a:r>
              <a:rPr sz="2100">
                <a:latin typeface="微软雅黑"/>
              </a:rPr>
              <a:t>负面效果：“</a:t>
            </a:r>
            <a:r>
              <a:rPr sz="2100">
                <a:solidFill>
                  <a:srgbClr val="CC0000"/>
                </a:solidFill>
                <a:latin typeface="微软雅黑"/>
              </a:rPr>
              <a:t>各自为政</a:t>
            </a:r>
            <a:r>
              <a:rPr sz="2100">
                <a:latin typeface="微软雅黑"/>
              </a:rPr>
              <a:t>”、“恶搞”、自我炒作；诗歌的边缘化；观念、立场的绝对化与认知的相对主义。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标题 1"/>
          <p:cNvSpPr>
            <a:spLocks noGrp="1"/>
          </p:cNvSpPr>
          <p:nvPr>
            <p:ph type="title"/>
          </p:nvPr>
        </p:nvSpPr>
        <p:spPr>
          <a:xfrm>
            <a:off x="468313" y="836613"/>
            <a:ext cx="8229600" cy="576262"/>
          </a:xfrm>
        </p:spPr>
        <p:txBody>
          <a:bodyPr vert="horz" wrap="square" lIns="91440" tIns="45720" rIns="91440" bIns="45720" anchor="ctr" anchorCtr="0"/>
          <a:lstStyle/>
          <a:p>
            <a:pPr algn="l" defTabSz="914400" eaLnBrk="1" hangingPunct="1"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网络诗歌</a:t>
            </a:r>
          </a:p>
        </p:txBody>
      </p:sp>
      <p:sp>
        <p:nvSpPr>
          <p:cNvPr id="7170" name="内容占位符 2"/>
          <p:cNvSpPr>
            <a:spLocks noGrp="1"/>
          </p:cNvSpPr>
          <p:nvPr>
            <p:ph idx="1"/>
          </p:nvPr>
        </p:nvSpPr>
        <p:spPr>
          <a:xfrm>
            <a:off x="395288" y="1484313"/>
            <a:ext cx="8353425" cy="5113337"/>
          </a:xfrm>
        </p:spPr>
        <p:txBody>
          <a:bodyPr vert="horz" wrap="square" lIns="91440" tIns="45720" rIns="91440" bIns="45720" anchor="t" anchorCtr="0"/>
          <a:lstStyle/>
          <a:p>
            <a:pPr marL="0" algn="l" eaLnBrk="1" hangingPunct="1">
              <a:lnSpc>
                <a:spcPts val="4265"/>
              </a:lnSpc>
              <a:buNone/>
            </a:pP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其时间节点正好是2000年，此乃21世纪后最早最重要的诗歌现象。诗人们的“触网”，他们放松地跳入网络击起的语词潮流、纵情游弋于大片诗意浪花中，来不及选择姿势和路线。</a:t>
            </a:r>
          </a:p>
          <a:p>
            <a:pPr marL="0" algn="l" eaLnBrk="1" hangingPunct="1">
              <a:lnSpc>
                <a:spcPts val="4265"/>
              </a:lnSpc>
              <a:buNone/>
            </a:pP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诗歌创作交流方式变化：开放性、互动性。创作“门槛”的降低和“非专业”化，作者群体分散，形式多样化；各种媒体对诗歌的接纳，诗出没于报纸副刊、时尚休闲杂志、广播电视节目、文化娱乐场所中。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内容占位符 2"/>
          <p:cNvSpPr>
            <a:spLocks noGrp="1"/>
          </p:cNvSpPr>
          <p:nvPr>
            <p:ph idx="1"/>
          </p:nvPr>
        </p:nvSpPr>
        <p:spPr>
          <a:xfrm>
            <a:off x="395288" y="1700213"/>
            <a:ext cx="8353425" cy="4741862"/>
          </a:xfrm>
        </p:spPr>
        <p:txBody>
          <a:bodyPr vert="horz" wrap="square" lIns="91440" tIns="45720" rIns="91440" bIns="45720" anchor="t" anchorCtr="0"/>
          <a:lstStyle/>
          <a:p>
            <a:pPr marL="0" algn="l" eaLnBrk="1" hangingPunct="1">
              <a:lnSpc>
                <a:spcPts val="4265"/>
              </a:lnSpc>
              <a:buNone/>
            </a:pP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症候：互联网的发散性、匿名性。“虚”：看似新鲜的“虚拟”场景，对未知的 “虚幻”憧憬，陈旧的“虚无”意绪一拍即合，推动着形形色色的诗歌“变种”，在无数细线上四处奔突、蔓延。</a:t>
            </a:r>
          </a:p>
          <a:p>
            <a:pPr marL="0" algn="l" eaLnBrk="1" hangingPunct="1">
              <a:lnSpc>
                <a:spcPts val="4265"/>
              </a:lnSpc>
              <a:buNone/>
            </a:pP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缺陷：诗歌的游戏化、快餐化。诗歌，如同斑斓语汇聚而成的符号，与在鼠标操纵下的任一光斑、逗点和线条一样，在不断的排列组合中勾画现代人闪烁不定的生存图景。</a:t>
            </a:r>
          </a:p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 1"/>
          <p:cNvSpPr>
            <a:spLocks noGrp="1"/>
          </p:cNvSpPr>
          <p:nvPr>
            <p:ph type="title"/>
          </p:nvPr>
        </p:nvSpPr>
        <p:spPr>
          <a:xfrm>
            <a:off x="428625" y="981075"/>
            <a:ext cx="8229600" cy="719138"/>
          </a:xfrm>
        </p:spPr>
        <p:txBody>
          <a:bodyPr vert="horz" wrap="square" lIns="91440" tIns="45720" rIns="91440" bIns="45720" anchor="ctr" anchorCtr="0"/>
          <a:lstStyle/>
          <a:p>
            <a:pPr algn="l" defTabSz="914400" eaLnBrk="1" hangingPunct="1"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事件诗</a:t>
            </a:r>
          </a:p>
        </p:txBody>
      </p:sp>
      <p:sp>
        <p:nvSpPr>
          <p:cNvPr id="9218" name="内容占位符 2"/>
          <p:cNvSpPr>
            <a:spLocks noGrp="1"/>
          </p:cNvSpPr>
          <p:nvPr>
            <p:ph idx="1"/>
          </p:nvPr>
        </p:nvSpPr>
        <p:spPr>
          <a:xfrm>
            <a:off x="395288" y="1773238"/>
            <a:ext cx="8291512" cy="4751387"/>
          </a:xfrm>
        </p:spPr>
        <p:txBody>
          <a:bodyPr vert="horz" wrap="square" lIns="91440" tIns="45720" rIns="91440" bIns="45720" anchor="t" anchorCtr="0"/>
          <a:lstStyle/>
          <a:p>
            <a:pPr marL="0" algn="l" eaLnBrk="1" hangingPunct="1">
              <a:lnSpc>
                <a:spcPts val="4265"/>
              </a:lnSpc>
              <a:buNone/>
            </a:pP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两极评价：是诗歌的全面复兴？还是诗歌的全民狂欢？（“为什么普遍写得这么差”）其他：“梨花体”、余秀华现象，等。</a:t>
            </a:r>
          </a:p>
          <a:p>
            <a:pPr marL="0" algn="l" eaLnBrk="1" hangingPunct="1">
              <a:lnSpc>
                <a:spcPts val="4265"/>
              </a:lnSpc>
              <a:buNone/>
            </a:pP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相关问题：诗歌如何处理重大题材（是契机和资源，还是被淹没、裹挟其中）；诗歌的社会化要求与个性化诉求，诗歌的公共性与私人性；</a:t>
            </a:r>
          </a:p>
          <a:p>
            <a:pPr marL="0" algn="l" eaLnBrk="1" hangingPunct="1">
              <a:lnSpc>
                <a:spcPts val="4265"/>
              </a:lnSpc>
              <a:buNone/>
            </a:pP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反思：“事件性”对于诗歌的可能损害。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2"/>
          <p:cNvSpPr>
            <a:spLocks noGrp="1"/>
          </p:cNvSpPr>
          <p:nvPr>
            <p:ph type="title"/>
          </p:nvPr>
        </p:nvSpPr>
        <p:spPr>
          <a:xfrm>
            <a:off x="428625" y="908050"/>
            <a:ext cx="8320088" cy="649288"/>
          </a:xfrm>
        </p:spPr>
        <p:txBody>
          <a:bodyPr vert="horz" wrap="square" lIns="91440" tIns="45720" rIns="91440" bIns="45720" anchor="ctr" anchorCtr="0"/>
          <a:lstStyle/>
          <a:p>
            <a:pPr algn="l" defTabSz="914400" eaLnBrk="1" hangingPunct="1">
              <a:buClrTx/>
              <a:buSzTx/>
              <a:buFontTx/>
              <a:buNone/>
              <a:defRPr/>
            </a:pP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底层写作</a:t>
            </a: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里的</a:t>
            </a: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打工诗歌</a:t>
            </a: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</a:p>
        </p:txBody>
      </p:sp>
      <p:sp>
        <p:nvSpPr>
          <p:cNvPr id="10242" name="Rectangle 3"/>
          <p:cNvSpPr>
            <a:spLocks noGrp="1"/>
          </p:cNvSpPr>
          <p:nvPr>
            <p:ph idx="1"/>
          </p:nvPr>
        </p:nvSpPr>
        <p:spPr>
          <a:xfrm>
            <a:off x="428625" y="1628775"/>
            <a:ext cx="8320088" cy="4752975"/>
          </a:xfrm>
        </p:spPr>
        <p:txBody>
          <a:bodyPr vert="horz" wrap="square" lIns="91440" tIns="45720" rIns="91440" bIns="45720" anchor="t" anchorCtr="0"/>
          <a:lstStyle/>
          <a:p>
            <a:pPr marL="0" algn="l" eaLnBrk="1" hangingPunct="1">
              <a:lnSpc>
                <a:spcPts val="4265"/>
              </a:lnSpc>
              <a:buNone/>
            </a:pP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社会历史进程中的新现象、新群体（进城务工人员，包括近年来的“快递小哥”）。</a:t>
            </a:r>
          </a:p>
          <a:p>
            <a:pPr marL="0" algn="l" eaLnBrk="1" hangingPunct="1">
              <a:lnSpc>
                <a:spcPts val="4265"/>
              </a:lnSpc>
              <a:buNone/>
            </a:pP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缘起：五四时期“劳工神圣”主张；1980年代传统现实主义观念与先锋文学的对垒；1990年代小说“新写实”；呼吁与倡导。</a:t>
            </a:r>
          </a:p>
          <a:p>
            <a:pPr marL="0" algn="l" eaLnBrk="1" hangingPunct="1">
              <a:lnSpc>
                <a:spcPts val="4265"/>
              </a:lnSpc>
              <a:buNone/>
            </a:pP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超越题材与身份。并不存在专事写诗的所谓“职业诗人”，应打破公众头脑里关于诗人身份、行为、功用的刻板印象。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标题 5"/>
          <p:cNvSpPr>
            <a:spLocks noGrp="1"/>
          </p:cNvSpPr>
          <p:nvPr>
            <p:ph type="title"/>
          </p:nvPr>
        </p:nvSpPr>
        <p:spPr>
          <a:xfrm>
            <a:off x="428625" y="981075"/>
            <a:ext cx="8229600" cy="647700"/>
          </a:xfrm>
        </p:spPr>
        <p:txBody>
          <a:bodyPr vert="horz" wrap="square" lIns="91440" tIns="45720" rIns="91440" bIns="45720" anchor="ctr" anchorCtr="0"/>
          <a:lstStyle/>
          <a:p>
            <a:pPr algn="l" defTabSz="914400" eaLnBrk="1" hangingPunct="1"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各种诗歌活动</a:t>
            </a:r>
          </a:p>
        </p:txBody>
      </p:sp>
      <p:sp>
        <p:nvSpPr>
          <p:cNvPr id="11266" name="内容占位符 6"/>
          <p:cNvSpPr>
            <a:spLocks noGrp="1"/>
          </p:cNvSpPr>
          <p:nvPr>
            <p:ph idx="1"/>
          </p:nvPr>
        </p:nvSpPr>
        <p:spPr>
          <a:xfrm>
            <a:off x="395288" y="1700213"/>
            <a:ext cx="8291512" cy="4824412"/>
          </a:xfrm>
        </p:spPr>
        <p:txBody>
          <a:bodyPr vert="horz" wrap="square" lIns="91440" tIns="45720" rIns="91440" bIns="45720" anchor="t" anchorCtr="0"/>
          <a:lstStyle/>
          <a:p>
            <a:pPr marL="0" algn="l" eaLnBrk="1" hangingPunct="1">
              <a:lnSpc>
                <a:spcPts val="4265"/>
              </a:lnSpc>
              <a:buNone/>
            </a:pP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诗朗诵、综艺节目、讲座、夏令营、征文比赛、评奖及颁奖、出版……令人眼花缭乱。</a:t>
            </a:r>
          </a:p>
          <a:p>
            <a:pPr marL="0" algn="l" eaLnBrk="1" hangingPunct="1">
              <a:lnSpc>
                <a:spcPts val="4265"/>
              </a:lnSpc>
              <a:buNone/>
            </a:pP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向度：诗歌之内的交流与诗歌之外的评价。</a:t>
            </a:r>
          </a:p>
          <a:p>
            <a:pPr marL="0" algn="l" eaLnBrk="1" hangingPunct="1">
              <a:lnSpc>
                <a:spcPts val="4265"/>
              </a:lnSpc>
              <a:buNone/>
            </a:pP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优点：促进诗歌的跨界、推广，及与公众的互动，扩大影响力。</a:t>
            </a:r>
          </a:p>
          <a:p>
            <a:pPr marL="0" algn="l" eaLnBrk="1" hangingPunct="1">
              <a:lnSpc>
                <a:spcPts val="4265"/>
              </a:lnSpc>
              <a:buNone/>
            </a:pP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缺点：喧嚣和外在形式盖住诗歌本身；浮躁心态与功利风气；“圈子化”；评价标准的混乱。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/>
          </p:cNvSpPr>
          <p:nvPr>
            <p:ph type="title"/>
          </p:nvPr>
        </p:nvSpPr>
        <p:spPr>
          <a:xfrm>
            <a:off x="395288" y="1000125"/>
            <a:ext cx="8334375" cy="700088"/>
          </a:xfrm>
        </p:spPr>
        <p:txBody>
          <a:bodyPr vert="horz" wrap="square" lIns="91440" tIns="45720" rIns="91440" bIns="45720" anchor="ctr" anchorCtr="0"/>
          <a:lstStyle/>
          <a:p>
            <a:pPr algn="l" defTabSz="914400" eaLnBrk="1" hangingPunct="1"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诗歌中的</a:t>
            </a: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城乡问题</a:t>
            </a: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</a:p>
        </p:txBody>
      </p:sp>
      <p:sp>
        <p:nvSpPr>
          <p:cNvPr id="15362" name="Rectangle 3"/>
          <p:cNvSpPr>
            <a:spLocks noGrp="1"/>
          </p:cNvSpPr>
          <p:nvPr>
            <p:ph idx="1"/>
          </p:nvPr>
        </p:nvSpPr>
        <p:spPr>
          <a:xfrm>
            <a:off x="395288" y="1844675"/>
            <a:ext cx="8334375" cy="4321175"/>
          </a:xfrm>
        </p:spPr>
        <p:txBody>
          <a:bodyPr vert="horz" wrap="square" lIns="91440" tIns="45720" rIns="91440" bIns="45720" anchor="t" anchorCtr="0"/>
          <a:lstStyle/>
          <a:p>
            <a:pPr marL="0" algn="l" eaLnBrk="1" hangingPunct="1">
              <a:lnSpc>
                <a:spcPts val="4265"/>
              </a:lnSpc>
              <a:buNone/>
            </a:pP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随着社会结构发生变化，社会分工的不断调整，出现了“新城市”诗歌、“新乡土”诗歌。</a:t>
            </a:r>
          </a:p>
          <a:p>
            <a:pPr marL="0" algn="l" eaLnBrk="1" hangingPunct="1">
              <a:lnSpc>
                <a:spcPts val="4265"/>
              </a:lnSpc>
              <a:buNone/>
            </a:pP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诗歌主题、题材的新趋向：对城和乡的重新审视，“留守儿童”“空巢老人”等问题的刻写，通过回忆的方式抒发对乡土的眷念，以及快节奏的城市生活带来的失落感。</a:t>
            </a:r>
          </a:p>
          <a:p>
            <a:pPr marL="0" algn="l" eaLnBrk="1" hangingPunct="1">
              <a:lnSpc>
                <a:spcPts val="4265"/>
              </a:lnSpc>
              <a:buNone/>
            </a:pP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个体生活与社会感知：视野、情怀和表达。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标题 5"/>
          <p:cNvSpPr>
            <a:spLocks noGrp="1"/>
          </p:cNvSpPr>
          <p:nvPr>
            <p:ph type="title"/>
          </p:nvPr>
        </p:nvSpPr>
        <p:spPr>
          <a:xfrm>
            <a:off x="428625" y="981075"/>
            <a:ext cx="8229600" cy="647700"/>
          </a:xfrm>
        </p:spPr>
        <p:txBody>
          <a:bodyPr vert="horz" wrap="square" lIns="91440" tIns="45720" rIns="91440" bIns="45720" anchor="ctr" anchorCtr="0"/>
          <a:lstStyle/>
          <a:p>
            <a:pPr algn="l" defTabSz="914400" eaLnBrk="1" hangingPunct="1"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</a:t>
            </a: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代际</a:t>
            </a: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诗人的新格局</a:t>
            </a:r>
          </a:p>
        </p:txBody>
      </p:sp>
      <p:sp>
        <p:nvSpPr>
          <p:cNvPr id="17410" name="内容占位符 6"/>
          <p:cNvSpPr>
            <a:spLocks noGrp="1"/>
          </p:cNvSpPr>
          <p:nvPr>
            <p:ph idx="1"/>
          </p:nvPr>
        </p:nvSpPr>
        <p:spPr>
          <a:xfrm>
            <a:off x="395288" y="1700213"/>
            <a:ext cx="8353425" cy="4824412"/>
          </a:xfrm>
        </p:spPr>
        <p:txBody>
          <a:bodyPr vert="horz" wrap="square" lIns="91440" tIns="45720" rIns="91440" bIns="45720" anchor="t" anchorCtr="0"/>
          <a:lstStyle/>
          <a:p>
            <a:pPr marL="0" algn="l" eaLnBrk="1" hangingPunct="1">
              <a:lnSpc>
                <a:spcPts val="4265"/>
              </a:lnSpc>
              <a:buNone/>
            </a:pP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“60后”仍然活跃，“70后”寻求突破，“80后”趋于成熟，“90后”站稳脚跟，“00后”跃跃欲试… …数代诗人共同推动诗歌创作进展。</a:t>
            </a:r>
          </a:p>
          <a:p>
            <a:pPr marL="0" algn="l" eaLnBrk="1" hangingPunct="1">
              <a:lnSpc>
                <a:spcPts val="4265"/>
              </a:lnSpc>
              <a:buNone/>
            </a:pP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特征：“流动性”“未完成性”“延展性”</a:t>
            </a:r>
          </a:p>
          <a:p>
            <a:pPr marL="0" algn="l" eaLnBrk="1" hangingPunct="1">
              <a:lnSpc>
                <a:spcPts val="4265"/>
              </a:lnSpc>
              <a:buNone/>
            </a:pP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弊端：写作主题、思想观念的渐趋同质化，诗歌结构、诗体形式的过于技术化等。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标题 4"/>
          <p:cNvSpPr>
            <a:spLocks noGrp="1"/>
          </p:cNvSpPr>
          <p:nvPr>
            <p:ph type="title"/>
          </p:nvPr>
        </p:nvSpPr>
        <p:spPr>
          <a:xfrm>
            <a:off x="428625" y="908050"/>
            <a:ext cx="8320088" cy="649288"/>
          </a:xfrm>
        </p:spPr>
        <p:txBody>
          <a:bodyPr vert="horz" wrap="square" lIns="91440" tIns="45720" rIns="91440" bIns="45720" anchor="ctr" anchorCtr="0"/>
          <a:lstStyle/>
          <a:p>
            <a:pPr algn="l" defTabSz="914400" eaLnBrk="1" hangingPunct="1">
              <a:buClrTx/>
              <a:buSzTx/>
              <a:buFontTx/>
              <a:buNone/>
              <a:defRPr/>
            </a:pP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女性诗歌</a:t>
            </a: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的新景象</a:t>
            </a:r>
          </a:p>
        </p:txBody>
      </p:sp>
      <p:sp>
        <p:nvSpPr>
          <p:cNvPr id="19458" name="内容占位符 5"/>
          <p:cNvSpPr>
            <a:spLocks noGrp="1"/>
          </p:cNvSpPr>
          <p:nvPr>
            <p:ph idx="1"/>
          </p:nvPr>
        </p:nvSpPr>
        <p:spPr>
          <a:xfrm>
            <a:off x="428625" y="1628775"/>
            <a:ext cx="8320088" cy="4895850"/>
          </a:xfrm>
        </p:spPr>
        <p:txBody>
          <a:bodyPr vert="horz" wrap="square" lIns="91440" tIns="45720" rIns="91440" bIns="45720" anchor="t" anchorCtr="0"/>
          <a:lstStyle/>
          <a:p>
            <a:pPr marL="0" algn="l" eaLnBrk="1" hangingPunct="1">
              <a:lnSpc>
                <a:spcPts val="4265"/>
              </a:lnSpc>
              <a:buNone/>
            </a:pP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观念转变：“试图在每一组组诗或长诗之间形成一种张力，在词语与词语之间，在材料与主题之间寻找新的冲突”（翟永明）。</a:t>
            </a:r>
          </a:p>
          <a:p>
            <a:pPr marL="0" algn="l" eaLnBrk="1" hangingPunct="1">
              <a:lnSpc>
                <a:spcPts val="4265"/>
              </a:lnSpc>
              <a:buNone/>
            </a:pP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主题向度：1，超越性别之上人类共性问题的观照；2，基于人性深度的探索与开掘。</a:t>
            </a:r>
          </a:p>
          <a:p>
            <a:pPr marL="0" algn="l" eaLnBrk="1" hangingPunct="1">
              <a:lnSpc>
                <a:spcPts val="4265"/>
              </a:lnSpc>
              <a:buNone/>
            </a:pP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书写方式：抑制一般意义的抒情，摒弃情感的张扬与恣意抒写，展开柔和细密的叙说。</a:t>
            </a:r>
          </a:p>
          <a:p>
            <a:pPr marL="0" indent="0">
              <a:buNone/>
            </a:pPr>
            <a:endParaRPr lang="zh-CN" alt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标题 4"/>
          <p:cNvSpPr>
            <a:spLocks noGrp="1"/>
          </p:cNvSpPr>
          <p:nvPr>
            <p:ph type="title"/>
          </p:nvPr>
        </p:nvSpPr>
        <p:spPr>
          <a:xfrm>
            <a:off x="428625" y="1000125"/>
            <a:ext cx="8320088" cy="700088"/>
          </a:xfrm>
        </p:spPr>
        <p:txBody>
          <a:bodyPr vert="horz" wrap="square" lIns="91440" tIns="45720" rIns="91440" bIns="45720" anchor="ctr" anchorCtr="0"/>
          <a:lstStyle/>
          <a:p>
            <a:pPr algn="l" defTabSz="914400" eaLnBrk="1" hangingPunct="1"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</a:p>
        </p:txBody>
      </p:sp>
      <p:sp>
        <p:nvSpPr>
          <p:cNvPr id="20482" name="内容占位符 5"/>
          <p:cNvSpPr>
            <a:spLocks noGrp="1"/>
          </p:cNvSpPr>
          <p:nvPr>
            <p:ph idx="1"/>
          </p:nvPr>
        </p:nvSpPr>
        <p:spPr>
          <a:xfrm>
            <a:off x="428625" y="1844675"/>
            <a:ext cx="8320088" cy="4538663"/>
          </a:xfrm>
        </p:spPr>
        <p:txBody>
          <a:bodyPr vert="horz" wrap="square" lIns="91440" tIns="45720" rIns="91440" bIns="45720" anchor="t" anchorCtr="0"/>
          <a:lstStyle/>
          <a:p>
            <a:pPr marL="0" algn="l" eaLnBrk="1" hangingPunct="1">
              <a:lnSpc>
                <a:spcPts val="4265"/>
              </a:lnSpc>
              <a:buNone/>
            </a:pP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21世纪是互联网、电子信息技术等蓬勃发展的时代，各种新媒体、新技术的引入，深刻改变了诗歌创作与传播接受的形态。以往的纸媒逐渐被电子媒介所替代，诗歌创作出现即时性、无难度、无主体性等特点和疑难。新媒体、新技术既给诗歌创作带来了便利，同时也暴露出身份模糊、主体缺失等问题，导致了诗歌的评价和接受方面的难题，由此出现了评价标准的混乱乃至缺失。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砖雕艺术">
  <a:themeElements>
    <a:clrScheme name="砖雕艺术 1">
      <a:dk1>
        <a:srgbClr val="080808"/>
      </a:dk1>
      <a:lt1>
        <a:srgbClr val="FFFFFF"/>
      </a:lt1>
      <a:dk2>
        <a:srgbClr val="0039AC"/>
      </a:dk2>
      <a:lt2>
        <a:srgbClr val="C0C0C0"/>
      </a:lt2>
      <a:accent1>
        <a:srgbClr val="FFFF99"/>
      </a:accent1>
      <a:accent2>
        <a:srgbClr val="FFCC66"/>
      </a:accent2>
      <a:accent3>
        <a:srgbClr val="FFFFFF"/>
      </a:accent3>
      <a:accent4>
        <a:srgbClr val="060606"/>
      </a:accent4>
      <a:accent5>
        <a:srgbClr val="FFFFCA"/>
      </a:accent5>
      <a:accent6>
        <a:srgbClr val="E7B95C"/>
      </a:accent6>
      <a:hlink>
        <a:srgbClr val="0066FF"/>
      </a:hlink>
      <a:folHlink>
        <a:srgbClr val="CC3300"/>
      </a:folHlink>
    </a:clrScheme>
    <a:fontScheme name="砖雕艺术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砖雕艺术 1">
        <a:dk1>
          <a:srgbClr val="080808"/>
        </a:dk1>
        <a:lt1>
          <a:srgbClr val="FFFFFF"/>
        </a:lt1>
        <a:dk2>
          <a:srgbClr val="0039AC"/>
        </a:dk2>
        <a:lt2>
          <a:srgbClr val="C0C0C0"/>
        </a:lt2>
        <a:accent1>
          <a:srgbClr val="FFFF99"/>
        </a:accent1>
        <a:accent2>
          <a:srgbClr val="FFCC66"/>
        </a:accent2>
        <a:accent3>
          <a:srgbClr val="FFFFFF"/>
        </a:accent3>
        <a:accent4>
          <a:srgbClr val="060606"/>
        </a:accent4>
        <a:accent5>
          <a:srgbClr val="FFFFCA"/>
        </a:accent5>
        <a:accent6>
          <a:srgbClr val="E7B95C"/>
        </a:accent6>
        <a:hlink>
          <a:srgbClr val="0066FF"/>
        </a:hlink>
        <a:folHlink>
          <a:srgbClr val="CC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2">
        <a:dk1>
          <a:srgbClr val="333399"/>
        </a:dk1>
        <a:lt1>
          <a:srgbClr val="ADD3AF"/>
        </a:lt1>
        <a:dk2>
          <a:srgbClr val="D65700"/>
        </a:dk2>
        <a:lt2>
          <a:srgbClr val="B2B2B2"/>
        </a:lt2>
        <a:accent1>
          <a:srgbClr val="B8E9EE"/>
        </a:accent1>
        <a:accent2>
          <a:srgbClr val="FFCC00"/>
        </a:accent2>
        <a:accent3>
          <a:srgbClr val="D3E6D4"/>
        </a:accent3>
        <a:accent4>
          <a:srgbClr val="2A2A82"/>
        </a:accent4>
        <a:accent5>
          <a:srgbClr val="D8F2F5"/>
        </a:accent5>
        <a:accent6>
          <a:srgbClr val="E7B900"/>
        </a:accent6>
        <a:hlink>
          <a:srgbClr val="008080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3">
        <a:dk1>
          <a:srgbClr val="003BB2"/>
        </a:dk1>
        <a:lt1>
          <a:srgbClr val="CCFFCC"/>
        </a:lt1>
        <a:dk2>
          <a:srgbClr val="003366"/>
        </a:dk2>
        <a:lt2>
          <a:srgbClr val="C0C0C0"/>
        </a:lt2>
        <a:accent1>
          <a:srgbClr val="FFFFFF"/>
        </a:accent1>
        <a:accent2>
          <a:srgbClr val="009900"/>
        </a:accent2>
        <a:accent3>
          <a:srgbClr val="E2FFE2"/>
        </a:accent3>
        <a:accent4>
          <a:srgbClr val="003197"/>
        </a:accent4>
        <a:accent5>
          <a:srgbClr val="FFFFFF"/>
        </a:accent5>
        <a:accent6>
          <a:srgbClr val="008A00"/>
        </a:accent6>
        <a:hlink>
          <a:srgbClr val="333399"/>
        </a:hlink>
        <a:folHlink>
          <a:srgbClr val="E45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4">
        <a:dk1>
          <a:srgbClr val="0000CC"/>
        </a:dk1>
        <a:lt1>
          <a:srgbClr val="CCECFF"/>
        </a:lt1>
        <a:dk2>
          <a:srgbClr val="006666"/>
        </a:dk2>
        <a:lt2>
          <a:srgbClr val="C0C0C0"/>
        </a:lt2>
        <a:accent1>
          <a:srgbClr val="FFFF99"/>
        </a:accent1>
        <a:accent2>
          <a:srgbClr val="FFCCFF"/>
        </a:accent2>
        <a:accent3>
          <a:srgbClr val="E2F4FF"/>
        </a:accent3>
        <a:accent4>
          <a:srgbClr val="0000AE"/>
        </a:accent4>
        <a:accent5>
          <a:srgbClr val="FFFFCA"/>
        </a:accent5>
        <a:accent6>
          <a:srgbClr val="E7B9E7"/>
        </a:accent6>
        <a:hlink>
          <a:srgbClr val="CC33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5">
        <a:dk1>
          <a:srgbClr val="000000"/>
        </a:dk1>
        <a:lt1>
          <a:srgbClr val="FFFFCC"/>
        </a:lt1>
        <a:dk2>
          <a:srgbClr val="5A5A86"/>
        </a:dk2>
        <a:lt2>
          <a:srgbClr val="C0C0C0"/>
        </a:lt2>
        <a:accent1>
          <a:srgbClr val="D5E9F7"/>
        </a:accent1>
        <a:accent2>
          <a:srgbClr val="FFCC00"/>
        </a:accent2>
        <a:accent3>
          <a:srgbClr val="FFFFE2"/>
        </a:accent3>
        <a:accent4>
          <a:srgbClr val="000000"/>
        </a:accent4>
        <a:accent5>
          <a:srgbClr val="E7F2FA"/>
        </a:accent5>
        <a:accent6>
          <a:srgbClr val="E7B900"/>
        </a:accent6>
        <a:hlink>
          <a:srgbClr val="CC3300"/>
        </a:hlink>
        <a:folHlink>
          <a:srgbClr val="007D7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6">
        <a:dk1>
          <a:srgbClr val="006666"/>
        </a:dk1>
        <a:lt1>
          <a:srgbClr val="FFECD9"/>
        </a:lt1>
        <a:dk2>
          <a:srgbClr val="000099"/>
        </a:dk2>
        <a:lt2>
          <a:srgbClr val="B2B2B2"/>
        </a:lt2>
        <a:accent1>
          <a:srgbClr val="EAEAEA"/>
        </a:accent1>
        <a:accent2>
          <a:srgbClr val="FF6600"/>
        </a:accent2>
        <a:accent3>
          <a:srgbClr val="FFF4E9"/>
        </a:accent3>
        <a:accent4>
          <a:srgbClr val="005656"/>
        </a:accent4>
        <a:accent5>
          <a:srgbClr val="F3F3F3"/>
        </a:accent5>
        <a:accent6>
          <a:srgbClr val="E75C00"/>
        </a:accent6>
        <a:hlink>
          <a:srgbClr val="0066FF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7">
        <a:dk1>
          <a:srgbClr val="585884"/>
        </a:dk1>
        <a:lt1>
          <a:srgbClr val="DDDDDD"/>
        </a:lt1>
        <a:dk2>
          <a:srgbClr val="000000"/>
        </a:dk2>
        <a:lt2>
          <a:srgbClr val="969696"/>
        </a:lt2>
        <a:accent1>
          <a:srgbClr val="FFFFCC"/>
        </a:accent1>
        <a:accent2>
          <a:srgbClr val="99CC00"/>
        </a:accent2>
        <a:accent3>
          <a:srgbClr val="EBEBEB"/>
        </a:accent3>
        <a:accent4>
          <a:srgbClr val="4A4A70"/>
        </a:accent4>
        <a:accent5>
          <a:srgbClr val="FFFFE2"/>
        </a:accent5>
        <a:accent6>
          <a:srgbClr val="8AB900"/>
        </a:accent6>
        <a:hlink>
          <a:srgbClr val="FF3300"/>
        </a:hlink>
        <a:folHlink>
          <a:srgbClr val="6E3B8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8">
        <a:dk1>
          <a:srgbClr val="333399"/>
        </a:dk1>
        <a:lt1>
          <a:srgbClr val="FFD9D9"/>
        </a:lt1>
        <a:dk2>
          <a:srgbClr val="00716E"/>
        </a:dk2>
        <a:lt2>
          <a:srgbClr val="C0C0C0"/>
        </a:lt2>
        <a:accent1>
          <a:srgbClr val="AED2BA"/>
        </a:accent1>
        <a:accent2>
          <a:srgbClr val="FF9933"/>
        </a:accent2>
        <a:accent3>
          <a:srgbClr val="FFE9E9"/>
        </a:accent3>
        <a:accent4>
          <a:srgbClr val="2A2A82"/>
        </a:accent4>
        <a:accent5>
          <a:srgbClr val="D3E5D9"/>
        </a:accent5>
        <a:accent6>
          <a:srgbClr val="E78A2D"/>
        </a:accent6>
        <a:hlink>
          <a:srgbClr val="CC3300"/>
        </a:hlink>
        <a:folHlink>
          <a:srgbClr val="0066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5560</Words>
  <Application>Microsoft Office PowerPoint</Application>
  <PresentationFormat>全屏显示(4:3)</PresentationFormat>
  <Paragraphs>317</Paragraphs>
  <Slides>72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72</vt:i4>
      </vt:variant>
    </vt:vector>
  </HeadingPairs>
  <TitlesOfParts>
    <vt:vector size="89" baseType="lpstr">
      <vt:lpstr>等线</vt:lpstr>
      <vt:lpstr>黑体</vt:lpstr>
      <vt:lpstr>楷体</vt:lpstr>
      <vt:lpstr>隶书</vt:lpstr>
      <vt:lpstr>隶书体</vt:lpstr>
      <vt:lpstr>苹方-简</vt:lpstr>
      <vt:lpstr>思源黑体</vt:lpstr>
      <vt:lpstr>思源黑体 CN Bold</vt:lpstr>
      <vt:lpstr>思源宋体</vt:lpstr>
      <vt:lpstr>思源宋体 CN Heavy</vt:lpstr>
      <vt:lpstr>宋体</vt:lpstr>
      <vt:lpstr>Microsoft YaHei</vt:lpstr>
      <vt:lpstr>Arial</vt:lpstr>
      <vt:lpstr>Wingdings</vt:lpstr>
      <vt:lpstr>Wingdings 2</vt:lpstr>
      <vt:lpstr>砖雕艺术</vt:lpstr>
      <vt:lpstr>WPS</vt:lpstr>
      <vt:lpstr>第六章   2000年以来的文学 </vt:lpstr>
      <vt:lpstr>第一节 2000年以来的文学走向</vt:lpstr>
      <vt:lpstr>PowerPoint 演示文稿</vt:lpstr>
      <vt:lpstr>PowerPoint 演示文稿</vt:lpstr>
      <vt:lpstr>几个基本特征</vt:lpstr>
      <vt:lpstr>第二节 精英写作</vt:lpstr>
      <vt:lpstr>概论</vt:lpstr>
      <vt:lpstr>传统型写作</vt:lpstr>
      <vt:lpstr>代表作家和作品</vt:lpstr>
      <vt:lpstr>第三节 莫言</vt:lpstr>
      <vt:lpstr>诺贝尔文学奖颁奖词</vt:lpstr>
      <vt:lpstr>PowerPoint 演示文稿</vt:lpstr>
      <vt:lpstr>PowerPoint 演示文稿</vt:lpstr>
      <vt:lpstr>PowerPoint 演示文稿</vt:lpstr>
      <vt:lpstr>PowerPoint 演示文稿</vt:lpstr>
      <vt:lpstr>第四节   通俗小说与 底层写作</vt:lpstr>
      <vt:lpstr>通俗小说发展背景</vt:lpstr>
      <vt:lpstr>历史小说</vt:lpstr>
      <vt:lpstr>官场小说</vt:lpstr>
      <vt:lpstr>军旅小说</vt:lpstr>
      <vt:lpstr>生态小说</vt:lpstr>
      <vt:lpstr>底层写作</vt:lpstr>
      <vt:lpstr>80后小说</vt:lpstr>
      <vt:lpstr>科幻小说</vt:lpstr>
      <vt:lpstr>科幻小说</vt:lpstr>
      <vt:lpstr>网络文学定义</vt:lpstr>
      <vt:lpstr>网络文学发展</vt:lpstr>
      <vt:lpstr>网络同人小说</vt:lpstr>
      <vt:lpstr>网络玄幻小说</vt:lpstr>
      <vt:lpstr>网络穿越小说</vt:lpstr>
      <vt:lpstr>网络盗墓小说</vt:lpstr>
      <vt:lpstr>网络都市言情小说</vt:lpstr>
      <vt:lpstr>第五节 2000年以来的戏剧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第六节 2000年以来的诗歌</vt:lpstr>
      <vt:lpstr>背景</vt:lpstr>
      <vt:lpstr>网络诗歌</vt:lpstr>
      <vt:lpstr>PowerPoint 演示文稿</vt:lpstr>
      <vt:lpstr>事件诗</vt:lpstr>
      <vt:lpstr>“底层写作”里的“打工诗歌”</vt:lpstr>
      <vt:lpstr>各种诗歌活动</vt:lpstr>
      <vt:lpstr>诗歌中的“城乡问题”</vt:lpstr>
      <vt:lpstr>不同“代际”诗人的新格局</vt:lpstr>
      <vt:lpstr>“女性诗歌”的新景象</vt:lpstr>
      <vt:lpstr>总结</vt:lpstr>
      <vt:lpstr>第七节 2000年以来的散文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LiYC</dc:creator>
  <cp:lastModifiedBy>WIN10</cp:lastModifiedBy>
  <cp:revision>96</cp:revision>
  <dcterms:created xsi:type="dcterms:W3CDTF">2025-09-24T05:41:51Z</dcterms:created>
  <dcterms:modified xsi:type="dcterms:W3CDTF">2026-06-14T13:14:32Z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ICV">
    <vt:lpwstr>DFCABA1B22DB720648B8D26841F9FB4F_43</vt:lpwstr>
  </property>
  <property fmtid="{D5CDD505-2E9C-101B-9397-08002B2CF9AE}" pid="4" name="KSOProductBuildVer">
    <vt:lpwstr>2052-12.1.21861.21861</vt:lpwstr>
  </property>
</Properties>
</file>