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5"/>
  </p:notesMasterIdLst>
  <p:sldIdLst>
    <p:sldId id="477" r:id="rId4"/>
    <p:sldId id="266" r:id="rId5"/>
    <p:sldId id="478" r:id="rId6"/>
    <p:sldId id="314" r:id="rId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1674" y="96"/>
      </p:cViewPr>
      <p:guideLst>
        <p:guide orient="horz" pos="2136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4FCE45-8A7D-4E7A-9414-1CBE249AABA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2026/6/14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617543-492D-4150-B190-9EABA92A8E4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tags" Target="../tags/tag35.xml"/><Relationship Id="rId9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0CA96-EE16-464F-955F-5B81C6C4D01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404000"/>
            <a:ext cx="40068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404000"/>
            <a:ext cx="40068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397600"/>
            <a:ext cx="73494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tags" Target="../tags/tag1.xml"/><Relationship Id="rId14" Type="http://schemas.openxmlformats.org/officeDocument/2006/relationships/tags" Target="../tags/tag2.xml"/><Relationship Id="rId15" Type="http://schemas.openxmlformats.org/officeDocument/2006/relationships/tags" Target="../tags/tag3.xml"/><Relationship Id="rId16" Type="http://schemas.openxmlformats.org/officeDocument/2006/relationships/tags" Target="../tags/tag4.xml"/><Relationship Id="rId17" Type="http://schemas.openxmlformats.org/officeDocument/2006/relationships/tags" Target="../tags/tag5.xml"/><Relationship Id="rId18" Type="http://schemas.openxmlformats.org/officeDocument/2006/relationships/tags" Target="../tags/tag6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anose="05020102010507070707" pitchFamily="18" charset="2"/>
        <a:buChar char="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ts val="7800"/>
              </a:lnSpc>
            </a:pPr>
            <a:r>
              <a:rPr lang="zh-CN" altLang="en-US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第一节 </a:t>
            </a:r>
            <a:r>
              <a:rPr lang="en-US" altLang="zh-CN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2000</a:t>
            </a:r>
            <a:r>
              <a:rPr lang="zh-CN" altLang="en-US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年以来的文学走向</a:t>
            </a:r>
          </a:p>
        </p:txBody>
      </p:sp>
      <p:sp>
        <p:nvSpPr>
          <p:cNvPr id="6147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endParaRPr lang="zh-CN" altLang="zh-CN" smtClean="0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04800" y="344488"/>
            <a:ext cx="7734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第六章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年以来的文学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zh-CN" dirty="0"/>
          </a:p>
        </p:txBody>
      </p:sp>
      <p:sp>
        <p:nvSpPr>
          <p:cNvPr id="2150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lv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新时代文学牢固树立以人民为中心的创作导向，坚定文化自信，秉持开放包容，坚持守正创新，立足于新的历史阶段，扎根于新的时代语境与中国经验，形成新的审美趋向和文学思潮。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685800"/>
            <a:ext cx="8153400" cy="4953000"/>
          </a:xfrm>
        </p:spPr>
        <p:txBody>
          <a:bodyPr/>
          <a:lstStyle/>
          <a:p>
            <a:pPr marL="0" indent="0" eaLnBrk="1" hangingPunct="1">
              <a:lnSpc>
                <a:spcPts val="4265"/>
              </a:lnSpc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、现实主义和乡土文学题材的创作焕发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生机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4265"/>
              </a:lnSpc>
              <a:buNone/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杨志军的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雪山大地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、乔叶的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宝水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、关仁山的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白洋淀上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、王松的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热雪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、欧阳黔森的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莫道君行早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、付秀莹的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野望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4265"/>
              </a:lnSpc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、网络文学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异军突起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甄嬛传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芈月传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庆余年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》《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三生三世十里桃花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4265"/>
              </a:lnSpc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、科幻文学日渐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壮大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4265"/>
              </a:lnSpc>
              <a:buNone/>
            </a:pPr>
            <a:r>
              <a:rPr sz="2100">
                <a:latin typeface="微软雅黑"/>
              </a:rPr>
              <a:t>如刘慈欣、陈楸帆、郝景芳、</a:t>
            </a:r>
            <a:r>
              <a:rPr sz="2100">
                <a:solidFill>
                  <a:srgbClr val="CC0000"/>
                </a:solidFill>
                <a:latin typeface="微软雅黑"/>
              </a:rPr>
              <a:t>海漄</a:t>
            </a:r>
            <a:r>
              <a:rPr sz="2100">
                <a:latin typeface="微软雅黑"/>
              </a:rPr>
              <a:t>等人奉献了一批佳作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几个基本特征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87475"/>
            <a:ext cx="8540750" cy="4498975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defRPr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在创作上，更坚持以人民为中心的创作导向，追求“为人民”的价值取向。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defRPr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在价值观上，充分彰显文化自信，强调中国价值、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中国审美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、中国精神，在创作资源、叙事方式上更注重对中华优秀的传统文化资源的转化和利用。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defRPr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在媒介传播上，新时代文学主动拥抱新媒介、新技术，不断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侵入社会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跨界破圈，积极融入现代传播格局。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eaLnBrk="1" hangingPunct="1">
              <a:buNone/>
              <a:defRPr/>
            </a:pPr>
            <a:r>
              <a:rPr sz="1700">
                <a:latin typeface="微软雅黑"/>
              </a:rPr>
              <a:t>一方面，文学与影视不断加深融合，文学的影视转化成功的案例不断增多，文学作为其他艺术的母本的价值作用更加凸显。比如，梁晓声的《人世间》、陈彦的《装台》、金宇澄的艺工《繁花》等作品被改编为影视剧后，获得了更多的关注，反过来也</a:t>
            </a:r>
            <a:r>
              <a:rPr sz="1700">
                <a:solidFill>
                  <a:srgbClr val="CC0000"/>
                </a:solidFill>
                <a:latin typeface="微软雅黑"/>
              </a:rPr>
              <a:t>带动了</a:t>
            </a:r>
            <a:r>
              <a:rPr sz="1700">
                <a:latin typeface="微软雅黑"/>
              </a:rPr>
              <a:t>更多的文学阅读。另一方面，积极尝试新的传播媒介，比如《人民文学》《收获》等传统期刊均与“东方甄选”进行合作直播，取得了良好文学的传播效果，收获了更多的读者。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5560</Words>
  <Application>Microsoft Office PowerPoint</Application>
  <PresentationFormat>全屏显示(4:3)</PresentationFormat>
  <Paragraphs>317</Paragraphs>
  <Slides>72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等线</vt:lpstr>
      <vt:lpstr>黑体</vt:lpstr>
      <vt:lpstr>楷体</vt:lpstr>
      <vt:lpstr>隶书</vt:lpstr>
      <vt:lpstr>隶书体</vt:lpstr>
      <vt:lpstr>苹方-简</vt:lpstr>
      <vt:lpstr>思源黑体</vt:lpstr>
      <vt:lpstr>思源黑体 CN Bold</vt:lpstr>
      <vt:lpstr>思源宋体</vt:lpstr>
      <vt:lpstr>思源宋体 CN Heavy</vt:lpstr>
      <vt:lpstr>宋体</vt:lpstr>
      <vt:lpstr>Microsoft YaHei</vt:lpstr>
      <vt:lpstr>Arial</vt:lpstr>
      <vt:lpstr>Wingdings</vt:lpstr>
      <vt:lpstr>Wingdings 2</vt:lpstr>
      <vt:lpstr>砖雕艺术</vt:lpstr>
      <vt:lpstr>WPS</vt:lpstr>
      <vt:lpstr>第六章   2000年以来的文学 </vt:lpstr>
      <vt:lpstr>第一节 2000年以来的文学走向</vt:lpstr>
      <vt:lpstr>PowerPoint 演示文稿</vt:lpstr>
      <vt:lpstr>PowerPoint 演示文稿</vt:lpstr>
      <vt:lpstr>几个基本特征</vt:lpstr>
      <vt:lpstr>第二节 精英写作</vt:lpstr>
      <vt:lpstr>概论</vt:lpstr>
      <vt:lpstr>传统型写作</vt:lpstr>
      <vt:lpstr>代表作家和作品</vt:lpstr>
      <vt:lpstr>第三节 莫言</vt:lpstr>
      <vt:lpstr>诺贝尔文学奖颁奖词</vt:lpstr>
      <vt:lpstr>PowerPoint 演示文稿</vt:lpstr>
      <vt:lpstr>PowerPoint 演示文稿</vt:lpstr>
      <vt:lpstr>PowerPoint 演示文稿</vt:lpstr>
      <vt:lpstr>PowerPoint 演示文稿</vt:lpstr>
      <vt:lpstr>第四节   通俗小说与 底层写作</vt:lpstr>
      <vt:lpstr>通俗小说发展背景</vt:lpstr>
      <vt:lpstr>历史小说</vt:lpstr>
      <vt:lpstr>官场小说</vt:lpstr>
      <vt:lpstr>军旅小说</vt:lpstr>
      <vt:lpstr>生态小说</vt:lpstr>
      <vt:lpstr>底层写作</vt:lpstr>
      <vt:lpstr>80后小说</vt:lpstr>
      <vt:lpstr>科幻小说</vt:lpstr>
      <vt:lpstr>科幻小说</vt:lpstr>
      <vt:lpstr>网络文学定义</vt:lpstr>
      <vt:lpstr>网络文学发展</vt:lpstr>
      <vt:lpstr>网络同人小说</vt:lpstr>
      <vt:lpstr>网络玄幻小说</vt:lpstr>
      <vt:lpstr>网络穿越小说</vt:lpstr>
      <vt:lpstr>网络盗墓小说</vt:lpstr>
      <vt:lpstr>网络都市言情小说</vt:lpstr>
      <vt:lpstr>第五节 2000年以来的戏剧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第六节 2000年以来的诗歌</vt:lpstr>
      <vt:lpstr>背景</vt:lpstr>
      <vt:lpstr>网络诗歌</vt:lpstr>
      <vt:lpstr>PowerPoint 演示文稿</vt:lpstr>
      <vt:lpstr>事件诗</vt:lpstr>
      <vt:lpstr>“底层写作”里的“打工诗歌”</vt:lpstr>
      <vt:lpstr>各种诗歌活动</vt:lpstr>
      <vt:lpstr>诗歌中的“城乡问题”</vt:lpstr>
      <vt:lpstr>不同“代际”诗人的新格局</vt:lpstr>
      <vt:lpstr>“女性诗歌”的新景象</vt:lpstr>
      <vt:lpstr>总结</vt:lpstr>
      <vt:lpstr>第七节 2000年以来的散文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LiYC</dc:creator>
  <cp:lastModifiedBy>WIN10</cp:lastModifiedBy>
  <cp:revision>96</cp:revision>
  <dcterms:created xsi:type="dcterms:W3CDTF">2025-09-24T05:41:51Z</dcterms:created>
  <dcterms:modified xsi:type="dcterms:W3CDTF">2026-06-14T13:14:32Z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DFCABA1B22DB720648B8D26841F9FB4F_43</vt:lpwstr>
  </property>
  <property fmtid="{D5CDD505-2E9C-101B-9397-08002B2CF9AE}" pid="4" name="KSOProductBuildVer">
    <vt:lpwstr>2052-12.1.21861.21861</vt:lpwstr>
  </property>
</Properties>
</file>