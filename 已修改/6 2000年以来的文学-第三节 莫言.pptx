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5"/>
  </p:notesMasterIdLst>
  <p:sldIdLst>
    <p:sldId id="482" r:id="rId12"/>
    <p:sldId id="483" r:id="rId13"/>
    <p:sldId id="317" r:id="rId14"/>
    <p:sldId id="335" r:id="rId15"/>
    <p:sldId id="336" r:id="rId16"/>
    <p:sldId id="337" r:id="rId17"/>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36" userDrawn="1">
          <p15:clr>
            <a:srgbClr val="A4A3A4"/>
          </p15:clr>
        </p15:guide>
        <p15:guide id="2" pos="2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9" d="100"/>
          <a:sy n="109" d="100"/>
        </p:scale>
        <p:origin x="1674" y="96"/>
      </p:cViewPr>
      <p:guideLst>
        <p:guide orient="horz" pos="2136"/>
        <p:guide pos="285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A04FCE45-8A7D-4E7A-9414-1CBE249AABAC}" type="datetimeFigureOut">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2026/6/14</a:t>
            </a:fld>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a:defRPr sz="1200"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3C617543-492D-4150-B190-9EABA92A8E4A}" type="slidenum">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a:solidFill>
              <a:srgbClr val="000000">
                <a:alpha val="100000"/>
              </a:srgbClr>
            </a:solidFill>
            <a:miter lim="800000"/>
          </a:ln>
        </p:spPr>
      </p:sp>
      <p:sp>
        <p:nvSpPr>
          <p:cNvPr id="29699" name="备注占位符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97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zh-CN" altLang="en-US" sz="1200" dirty="0"/>
              <a:t>15</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tags" Target="../tags/tag9.xml"/><Relationship Id="rId4" Type="http://schemas.openxmlformats.org/officeDocument/2006/relationships/tags" Target="../tags/tag10.xml"/><Relationship Id="rId5" Type="http://schemas.openxmlformats.org/officeDocument/2006/relationships/tags" Target="../tags/tag11.xml"/><Relationship Id="rId6"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tags" Target="../tags/tag18.xml"/><Relationship Id="rId3" Type="http://schemas.openxmlformats.org/officeDocument/2006/relationships/tags" Target="../tags/tag19.xml"/><Relationship Id="rId4" Type="http://schemas.openxmlformats.org/officeDocument/2006/relationships/tags" Target="../tags/tag20.xml"/><Relationship Id="rId5" Type="http://schemas.openxmlformats.org/officeDocument/2006/relationships/tags" Target="../tags/tag21.xml"/><Relationship Id="rId6"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tags" Target="../tags/tag24.xml"/><Relationship Id="rId4" Type="http://schemas.openxmlformats.org/officeDocument/2006/relationships/tags" Target="../tags/tag25.xml"/><Relationship Id="rId5" Type="http://schemas.openxmlformats.org/officeDocument/2006/relationships/tags" Target="../tags/tag26.xml"/><Relationship Id="rId6" Type="http://schemas.openxmlformats.org/officeDocument/2006/relationships/tags" Target="../tags/tag27.xml"/><Relationship Id="rId7"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tags" Target="../tags/tag30.xml"/><Relationship Id="rId4" Type="http://schemas.openxmlformats.org/officeDocument/2006/relationships/tags" Target="../tags/tag31.xml"/><Relationship Id="rId5" Type="http://schemas.openxmlformats.org/officeDocument/2006/relationships/tags" Target="../tags/tag32.xml"/><Relationship Id="rId6" Type="http://schemas.openxmlformats.org/officeDocument/2006/relationships/tags" Target="../tags/tag33.xml"/><Relationship Id="rId7" Type="http://schemas.openxmlformats.org/officeDocument/2006/relationships/tags" Target="../tags/tag34.xml"/><Relationship Id="rId8" Type="http://schemas.openxmlformats.org/officeDocument/2006/relationships/tags" Target="../tags/tag35.xml"/><Relationship Id="rId9"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tags" Target="../tags/tag41.xml"/><Relationship Id="rId3" Type="http://schemas.openxmlformats.org/officeDocument/2006/relationships/tags" Target="../tags/tag42.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tags" Target="../tags/tag46.xml"/><Relationship Id="rId5" Type="http://schemas.openxmlformats.org/officeDocument/2006/relationships/tags" Target="../tags/tag47.xml"/><Relationship Id="rId6" Type="http://schemas.openxmlformats.org/officeDocument/2006/relationships/tags" Target="../tags/tag48.xml"/><Relationship Id="rId7"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tags" Target="../tags/tag50.xml"/><Relationship Id="rId3" Type="http://schemas.openxmlformats.org/officeDocument/2006/relationships/tags" Target="../tags/tag51.xml"/><Relationship Id="rId4" Type="http://schemas.openxmlformats.org/officeDocument/2006/relationships/tags" Target="../tags/tag52.xml"/><Relationship Id="rId5" Type="http://schemas.openxmlformats.org/officeDocument/2006/relationships/tags" Target="../tags/tag53.xml"/><Relationship Id="rId6"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tags" Target="../tags/tag56.xml"/><Relationship Id="rId4" Type="http://schemas.openxmlformats.org/officeDocument/2006/relationships/tags" Target="../tags/tag57.xml"/><Relationship Id="rId5"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tags" Target="../tags/tag59.xml"/><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170"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7171" name="Rectangle 3"/>
          <p:cNvSpPr>
            <a:spLocks noGrp="1" noRot="1" noChangeArrowheads="1"/>
          </p:cNvSpPr>
          <p:nvPr>
            <p:ph type="subTitle" idx="1"/>
          </p:nvPr>
        </p:nvSpPr>
        <p:spPr>
          <a:xfrm>
            <a:off x="1371600" y="3886200"/>
            <a:ext cx="6400800" cy="1752600"/>
          </a:xfrm>
        </p:spPr>
        <p:txBody>
          <a:bodyPr/>
          <a:lstStyle>
            <a:lvl1pPr marL="0" indent="0" algn="ctr">
              <a:buFont typeface="Wingdings 2" panose="05020102010507070707" pitchFamily="18" charset="2"/>
              <a:buNone/>
              <a:defRPr/>
            </a:lvl1pPr>
          </a:lstStyle>
          <a:p>
            <a:pPr lvl="0"/>
            <a:r>
              <a:rPr lang="zh-CN" altLang="en-US" noProof="0"/>
              <a:t>单击此处编辑母版副标题样式</a:t>
            </a:r>
          </a:p>
        </p:txBody>
      </p:sp>
      <p:sp>
        <p:nvSpPr>
          <p:cNvPr id="7" name="Rectangle 4"/>
          <p:cNvSpPr>
            <a:spLocks noGrp="1" noChangeArrowheads="1"/>
          </p:cNvSpPr>
          <p:nvPr>
            <p:ph type="dt" sz="half" idx="2"/>
          </p:nvPr>
        </p:nvSpPr>
        <p:spPr bwMode="auto">
          <a:xfrm>
            <a:off x="301625" y="6245225"/>
            <a:ext cx="2289175" cy="47625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9" name="Rectangle 6"/>
          <p:cNvSpPr>
            <a:spLocks noGrp="1" noChangeArrowheads="1"/>
          </p:cNvSpPr>
          <p:nvPr>
            <p:ph type="sldNum" sz="quarter" idx="4"/>
          </p:nvPr>
        </p:nvSpPr>
        <p:spPr bwMode="auto">
          <a:xfrm>
            <a:off x="6553200" y="6245225"/>
            <a:ext cx="2289175" cy="476250"/>
          </a:xfrm>
          <a:prstGeom prst="rect">
            <a:avLst/>
          </a:prstGeom>
        </p:spPr>
        <p:txBody>
          <a:bodyPr vert="horz" wrap="square" lIns="91440" tIns="45720" rIns="91440" bIns="45720" numCol="1" anchor="t" anchorCtr="0" compatLnSpc="1"/>
          <a:lstStyle>
            <a:lvl1pPr>
              <a:defRPr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9C60CA96-EE16-464F-955F-5B81C6C4D015}"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600200"/>
            <a:ext cx="4194175"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0"/>
            <a:ext cx="4194175"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228600"/>
            <a:ext cx="2135187" cy="5870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228600"/>
            <a:ext cx="6253163" cy="5870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899100" y="914400"/>
            <a:ext cx="7349400" cy="2570400"/>
          </a:xfrm>
        </p:spPr>
        <p:txBody>
          <a:bodyPr lIns="90000" tIns="46800" rIns="90000" bIns="46800" anchor="b" anchorCtr="0">
            <a:normAutofit/>
          </a:bodyPr>
          <a:lstStyle>
            <a:lvl1pPr algn="ctr">
              <a:defRPr sz="45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899100" y="3560400"/>
            <a:ext cx="7349400" cy="1472400"/>
          </a:xfrm>
        </p:spPr>
        <p:txBody>
          <a:bodyPr lIns="90000" tIns="46800" rIns="90000" bIns="46800">
            <a:normAutofit/>
          </a:bodyPr>
          <a:lstStyle>
            <a:lvl1pPr marL="0" indent="0" algn="ctr">
              <a:lnSpc>
                <a:spcPct val="110000"/>
              </a:lnSpc>
              <a:buNone/>
              <a:defRPr sz="1800" spc="2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2026/6/14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456300" y="1490400"/>
            <a:ext cx="8226900" cy="47592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493100" y="3848400"/>
            <a:ext cx="5826600" cy="766800"/>
          </a:xfrm>
        </p:spPr>
        <p:txBody>
          <a:bodyPr lIns="90000" tIns="46800" rIns="90000" bIns="46800" anchor="b" anchorCtr="0">
            <a:normAutofit/>
          </a:bodyPr>
          <a:lstStyle>
            <a:lvl1pPr>
              <a:defRPr sz="33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493100" y="4615200"/>
            <a:ext cx="5826600" cy="867600"/>
          </a:xfrm>
        </p:spPr>
        <p:txBody>
          <a:bodyPr lIns="90000" tIns="46800" rIns="90000" bIns="46800">
            <a:normAutofit/>
          </a:bodyPr>
          <a:lstStyle>
            <a:lvl1pPr marL="0" indent="0">
              <a:buNone/>
              <a:defRPr sz="1350">
                <a:solidFill>
                  <a:schemeClr val="tx1">
                    <a:lumMod val="65000"/>
                    <a:lumOff val="3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456300" y="1501200"/>
            <a:ext cx="3882600" cy="4748400"/>
          </a:xfrm>
        </p:spPr>
        <p:txBody>
          <a:bodyPr vert="horz" lIns="90000" tIns="46800" rIns="90000" bIns="4680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2026/6/14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456300" y="1404000"/>
            <a:ext cx="4006800" cy="414000"/>
          </a:xfrm>
        </p:spPr>
        <p:txBody>
          <a:bodyPr lIns="101600" tIns="38100" rIns="76200" bIns="3810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456300" y="1854000"/>
            <a:ext cx="40068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4676813" y="1404000"/>
            <a:ext cx="4006800" cy="414000"/>
          </a:xfrm>
        </p:spPr>
        <p:txBody>
          <a:bodyPr vert="horz" lIns="101600" tIns="38100" rIns="76200" bIns="38100" rtlCol="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4676813" y="1854000"/>
            <a:ext cx="4006800" cy="4395600"/>
          </a:xfrm>
        </p:spPr>
        <p:txBody>
          <a:bodyPr vert="horz" lIns="101600" tIns="0" rIns="82550" bIns="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2026/6/14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2026/6/14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2026/6/14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456300" y="1555200"/>
            <a:ext cx="3924808" cy="4608000"/>
          </a:xfrm>
        </p:spPr>
        <p:txBody>
          <a:bodyPr vert="horz" lIns="90000" tIns="46800" rIns="90000" bIns="46800" rtlCol="0">
            <a:normAutofit/>
          </a:bodyPr>
          <a:lstStyle>
            <a:lvl1pPr>
              <a:buNone/>
              <a:defRPr sz="1200"/>
            </a:lvl1pPr>
          </a:lstStyle>
          <a:p>
            <a:pPr lvl="0"/>
            <a:endParaRPr lang="zh-CN" altLang="en-US"/>
          </a:p>
        </p:txBody>
      </p:sp>
      <p:sp>
        <p:nvSpPr>
          <p:cNvPr id="4" name="文本占位符 3"/>
          <p:cNvSpPr>
            <a:spLocks noGrp="1"/>
          </p:cNvSpPr>
          <p:nvPr>
            <p:ph type="body" sz="half" idx="2"/>
            <p:custDataLst>
              <p:tags r:id="rId2"/>
            </p:custDataLst>
          </p:nvPr>
        </p:nvSpPr>
        <p:spPr>
          <a:xfrm>
            <a:off x="4762800" y="1555200"/>
            <a:ext cx="3920400" cy="4608000"/>
          </a:xfrm>
        </p:spPr>
        <p:txBody>
          <a:bodyPr vert="horz" lIns="90000" tIns="46800" rIns="90000" bIns="46800" rtlCol="0">
            <a:normAutofit/>
          </a:bodyPr>
          <a:lstStyle>
            <a:lvl1pPr>
              <a:buNone/>
              <a:defRPr sz="12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2026/6/14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7676100" y="914400"/>
            <a:ext cx="783000" cy="5029200"/>
          </a:xfrm>
        </p:spPr>
        <p:txBody>
          <a:bodyPr vert="eaVert" lIns="90000" tIns="46800" rIns="90000" bIns="46800" rtlCol="0" anchor="ctr" anchorCtr="0">
            <a:normAutofit/>
          </a:bodyPr>
          <a:lstStyle>
            <a:lvl1pPr>
              <a:buNone/>
              <a:defRPr sz="21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685800" y="914400"/>
            <a:ext cx="6876900" cy="5029200"/>
          </a:xfrm>
        </p:spPr>
        <p:txBody>
          <a:bodyPr vert="eaVert" lIns="46800" tIns="46800" rIns="46800" bIns="46800"/>
          <a:lstStyle>
            <a:lvl1pPr marL="171450" indent="-171450">
              <a:spcAft>
                <a:spcPts val="1000"/>
              </a:spcAft>
              <a:defRPr spc="300"/>
            </a:lvl1pPr>
            <a:lvl2pPr marL="514350" indent="-171450">
              <a:defRPr spc="300"/>
            </a:lvl2pPr>
            <a:lvl3pPr marL="857250" indent="-171450">
              <a:defRPr spc="300"/>
            </a:lvl3pPr>
            <a:lvl4pPr marL="1200150" indent="-171450">
              <a:defRPr spc="300"/>
            </a:lvl4pPr>
            <a:lvl5pPr marL="1543050" indent="-17145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2026/6/14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456300" y="774000"/>
            <a:ext cx="82296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2026/6/14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2397600"/>
            <a:ext cx="7349400" cy="1105200"/>
          </a:xfrm>
        </p:spPr>
        <p:txBody>
          <a:bodyPr vert="horz" lIns="90000" tIns="46800" rIns="90000" bIns="46800" rtlCol="0" anchor="t" anchorCtr="0">
            <a:normAutofit/>
          </a:bodyPr>
          <a:lstStyle>
            <a:lvl1pPr algn="ctr">
              <a:defRPr sz="45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899100" y="3560400"/>
            <a:ext cx="7349400" cy="504000"/>
          </a:xfrm>
        </p:spPr>
        <p:txBody>
          <a:bodyPr lIns="90000" tIns="46800" rIns="90000" bIns="46800">
            <a:normAutofit/>
          </a:bodyPr>
          <a:lstStyle>
            <a:lvl1pPr algn="ctr">
              <a:lnSpc>
                <a:spcPct val="110000"/>
              </a:lnSpc>
              <a:buNone/>
              <a:defRPr sz="18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tags" Target="../tags/tag1.xml"/><Relationship Id="rId14" Type="http://schemas.openxmlformats.org/officeDocument/2006/relationships/tags" Target="../tags/tag2.xml"/><Relationship Id="rId15" Type="http://schemas.openxmlformats.org/officeDocument/2006/relationships/tags" Target="../tags/tag3.xml"/><Relationship Id="rId16" Type="http://schemas.openxmlformats.org/officeDocument/2006/relationships/tags" Target="../tags/tag4.xml"/><Relationship Id="rId17" Type="http://schemas.openxmlformats.org/officeDocument/2006/relationships/tags" Target="../tags/tag5.xml"/><Relationship Id="rId18" Type="http://schemas.openxmlformats.org/officeDocument/2006/relationships/tags" Target="../tags/tag6.xml"/><Relationship Id="rId1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2286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1027" name="Rectangle 3"/>
          <p:cNvSpPr>
            <a:spLocks noGrp="1" noRot="1"/>
          </p:cNvSpPr>
          <p:nvPr>
            <p:ph type="body" idx="1"/>
          </p:nvPr>
        </p:nvSpPr>
        <p:spPr>
          <a:xfrm>
            <a:off x="301625" y="1600200"/>
            <a:ext cx="8540750" cy="44989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148"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14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150"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defRPr/>
            </a:pPr>
            <a:fld id="{593484FC-C2DE-46E7-950B-0D0627C7069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9"/>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459000" y="6314400"/>
            <a:ext cx="2025000" cy="316800"/>
          </a:xfrm>
          <a:prstGeom prst="rect">
            <a:avLst/>
          </a:prstGeom>
        </p:spPr>
        <p:txBody>
          <a:bodyPr vert="horz" lIns="91440" tIns="45720" rIns="91440" bIns="45720" rtlCol="0" anchor="ctr">
            <a:normAutofit/>
          </a:bodyPr>
          <a:lstStyle>
            <a:lvl1pPr algn="l">
              <a:defRPr sz="750" baseline="0">
                <a:solidFill>
                  <a:schemeClr val="tx1">
                    <a:tint val="75000"/>
                  </a:schemeClr>
                </a:solidFill>
              </a:defRPr>
            </a:lvl1pPr>
          </a:lstStyle>
          <a:p>
            <a:fld id="{760FBDFE-C587-4B4C-A407-44438C67B59E}" type="datetimeFigureOut">
              <a:rPr lang="zh-CN" altLang="en-US" smtClean="0"/>
              <a:t>2026/6/14</a:t>
            </a:fld>
            <a:endParaRPr lang="zh-CN" altLang="en-US"/>
          </a:p>
        </p:txBody>
      </p:sp>
      <p:sp>
        <p:nvSpPr>
          <p:cNvPr id="5" name="页脚占位符 4"/>
          <p:cNvSpPr>
            <a:spLocks noGrp="1"/>
          </p:cNvSpPr>
          <p:nvPr>
            <p:ph type="ftr" sz="quarter" idx="3"/>
            <p:custDataLst>
              <p:tags r:id="rId17"/>
            </p:custDataLst>
          </p:nvPr>
        </p:nvSpPr>
        <p:spPr>
          <a:xfrm>
            <a:off x="3087000" y="6314400"/>
            <a:ext cx="2970000" cy="316800"/>
          </a:xfrm>
          <a:prstGeom prst="rect">
            <a:avLst/>
          </a:prstGeom>
        </p:spPr>
        <p:txBody>
          <a:bodyPr vert="horz" lIns="91440" tIns="45720" rIns="91440" bIns="45720" rtlCol="0" anchor="ctr">
            <a:normAutofit/>
          </a:bodyPr>
          <a:lstStyle>
            <a:lvl1pPr algn="ctr">
              <a:defRPr sz="75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6658200" y="6314400"/>
            <a:ext cx="2025000" cy="316800"/>
          </a:xfrm>
          <a:prstGeom prst="rect">
            <a:avLst/>
          </a:prstGeom>
        </p:spPr>
        <p:txBody>
          <a:bodyPr vert="horz" lIns="91440" tIns="45720" rIns="91440" bIns="45720" rtlCol="0" anchor="ctr">
            <a:normAutofit/>
          </a:bodyPr>
          <a:lstStyle>
            <a:lvl1pPr algn="r">
              <a:defRPr sz="75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fontAlgn="auto" latinLnBrk="0" hangingPunct="1">
        <a:lnSpc>
          <a:spcPct val="100000"/>
        </a:lnSpc>
        <a:spcBef>
          <a:spcPct val="0"/>
        </a:spcBef>
        <a:buNone/>
        <a:defRPr sz="2700" b="0" u="none" strike="noStrike" kern="1200" cap="none" spc="300" normalizeH="0" baseline="0">
          <a:solidFill>
            <a:schemeClr val="tx1">
              <a:lumMod val="85000"/>
              <a:lumOff val="15000"/>
            </a:schemeClr>
          </a:solidFill>
          <a:uFillTx/>
          <a:latin typeface="+mj-ea"/>
          <a:ea typeface="+mj-ea"/>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90204" pitchFamily="34" charset="0"/>
        <a:buChar char="●"/>
        <a:defRPr sz="1350" u="none" strike="noStrike" kern="1200" cap="none" spc="150" normalizeH="0" baseline="0">
          <a:solidFill>
            <a:schemeClr val="tx1">
              <a:lumMod val="65000"/>
              <a:lumOff val="35000"/>
            </a:schemeClr>
          </a:solidFill>
          <a:uFillTx/>
          <a:latin typeface="+mn-lt"/>
          <a:ea typeface="+mn-ea"/>
          <a:cs typeface="+mn-cs"/>
        </a:defRPr>
      </a:lvl1pPr>
      <a:lvl2pPr marL="514350" indent="-171450" algn="l" defTabSz="685800" rtl="0" eaLnBrk="1" fontAlgn="auto" latinLnBrk="0" hangingPunct="1">
        <a:lnSpc>
          <a:spcPct val="120000"/>
        </a:lnSpc>
        <a:spcBef>
          <a:spcPts val="0"/>
        </a:spcBef>
        <a:spcAft>
          <a:spcPts val="600"/>
        </a:spcAft>
        <a:buFont typeface="Arial" panose="020B0604020202090204" pitchFamily="34" charset="0"/>
        <a:buChar char="●"/>
        <a:tabLst>
          <a:tab pos="1207135" algn="l"/>
          <a:tab pos="1207135" algn="l"/>
          <a:tab pos="1207135" algn="l"/>
          <a:tab pos="1207135" algn="l"/>
        </a:tabLst>
        <a:defRPr sz="1200" u="none" strike="noStrike" kern="1200" cap="none" spc="150" normalizeH="0" baseline="0">
          <a:solidFill>
            <a:schemeClr val="tx1">
              <a:lumMod val="65000"/>
              <a:lumOff val="35000"/>
            </a:schemeClr>
          </a:solidFill>
          <a:uFillTx/>
          <a:latin typeface="+mn-lt"/>
          <a:ea typeface="+mn-ea"/>
          <a:cs typeface="+mn-cs"/>
        </a:defRPr>
      </a:lvl2pPr>
      <a:lvl3pPr marL="857250" indent="-171450" algn="l" defTabSz="685800" rtl="0" eaLnBrk="1" fontAlgn="auto" latinLnBrk="0" hangingPunct="1">
        <a:lnSpc>
          <a:spcPct val="120000"/>
        </a:lnSpc>
        <a:spcBef>
          <a:spcPts val="0"/>
        </a:spcBef>
        <a:spcAft>
          <a:spcPts val="600"/>
        </a:spcAft>
        <a:buFont typeface="Arial" panose="020B0604020202090204" pitchFamily="34" charset="0"/>
        <a:buChar char="●"/>
        <a:defRPr sz="1200" u="none" strike="noStrike" kern="1200" cap="none" spc="150" normalizeH="0" baseline="0">
          <a:solidFill>
            <a:schemeClr val="tx1">
              <a:lumMod val="65000"/>
              <a:lumOff val="35000"/>
            </a:schemeClr>
          </a:solidFill>
          <a:uFillTx/>
          <a:latin typeface="+mn-lt"/>
          <a:ea typeface="+mn-ea"/>
          <a:cs typeface="+mn-cs"/>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chemeClr val="tx1">
              <a:lumMod val="65000"/>
              <a:lumOff val="35000"/>
            </a:schemeClr>
          </a:solidFill>
          <a:uFillTx/>
          <a:latin typeface="+mn-lt"/>
          <a:ea typeface="+mn-ea"/>
          <a:cs typeface="+mn-cs"/>
        </a:defRPr>
      </a:lvl4pPr>
      <a:lvl5pPr marL="1543050" indent="-171450" algn="l" defTabSz="685800" rtl="0" eaLnBrk="1" fontAlgn="auto" latinLnBrk="0" hangingPunct="1">
        <a:lnSpc>
          <a:spcPct val="120000"/>
        </a:lnSpc>
        <a:spcBef>
          <a:spcPts val="0"/>
        </a:spcBef>
        <a:spcAft>
          <a:spcPts val="300"/>
        </a:spcAft>
        <a:buFont typeface="Arial" panose="020B0604020202090204" pitchFamily="34" charset="0"/>
        <a:buChar char="•"/>
        <a:defRPr sz="1050" u="none" strike="noStrike" kern="1200" cap="none" spc="150" normalizeH="0" baseline="0">
          <a:solidFill>
            <a:schemeClr val="tx1">
              <a:lumMod val="65000"/>
              <a:lumOff val="35000"/>
            </a:schemeClr>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jpeg"/></Relationships>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ctrTitle"/>
          </p:nvPr>
        </p:nvSpPr>
        <p:spPr/>
        <p:txBody>
          <a:bodyPr/>
          <a:lstStyle/>
          <a:p>
            <a:pPr>
              <a:lnSpc>
                <a:spcPts val="7800"/>
              </a:lnSpc>
            </a:pPr>
            <a:r>
              <a:rPr lang="zh-CN" altLang="en-US" sz="4000" b="1" dirty="0" smtClean="0">
                <a:solidFill>
                  <a:schemeClr val="tx1"/>
                </a:solidFill>
                <a:latin typeface="隶书体" pitchFamily="49" charset="-122"/>
                <a:ea typeface="隶书体" pitchFamily="49" charset="-122"/>
              </a:rPr>
              <a:t>第三节 莫言</a:t>
            </a:r>
          </a:p>
        </p:txBody>
      </p:sp>
      <p:sp>
        <p:nvSpPr>
          <p:cNvPr id="6147" name="Rectangle 3"/>
          <p:cNvSpPr>
            <a:spLocks noGrp="1" noRot="1" noChangeArrowheads="1"/>
          </p:cNvSpPr>
          <p:nvPr>
            <p:ph type="subTitle" idx="1"/>
          </p:nvPr>
        </p:nvSpPr>
        <p:spPr>
          <a:xfrm>
            <a:off x="1371600" y="4038600"/>
            <a:ext cx="6400800" cy="1600200"/>
          </a:xfrm>
        </p:spPr>
        <p:txBody>
          <a:bodyPr/>
          <a:lstStyle/>
          <a:p>
            <a:pPr eaLnBrk="1" hangingPunct="1">
              <a:buFont typeface="Wingdings 2" panose="05020102010507070707" pitchFamily="18" charset="2"/>
              <a:buNone/>
            </a:pPr>
            <a:endParaRPr lang="zh-CN" altLang="zh-CN" smtClean="0"/>
          </a:p>
        </p:txBody>
      </p:sp>
      <p:sp>
        <p:nvSpPr>
          <p:cNvPr id="6148" name="Rectangle 4"/>
          <p:cNvSpPr>
            <a:spLocks noChangeArrowheads="1"/>
          </p:cNvSpPr>
          <p:nvPr/>
        </p:nvSpPr>
        <p:spPr bwMode="auto">
          <a:xfrm>
            <a:off x="304800" y="344488"/>
            <a:ext cx="7734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90204" pitchFamily="34" charset="0"/>
                <a:ea typeface="宋体"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90204" pitchFamily="34" charset="0"/>
                <a:ea typeface="宋体"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90204" pitchFamily="34" charset="0"/>
                <a:ea typeface="宋体"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90204" pitchFamily="34" charset="0"/>
                <a:ea typeface="宋体"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90204" pitchFamily="34" charset="0"/>
                <a:ea typeface="宋体" pitchFamily="2" charset="-122"/>
              </a:defRPr>
            </a:lvl9pPr>
          </a:lstStyle>
          <a:p>
            <a:pPr eaLnBrk="1" hangingPunct="1">
              <a:spcBef>
                <a:spcPct val="0"/>
              </a:spcBef>
              <a:buClrTx/>
              <a:buSzTx/>
              <a:buFontTx/>
              <a:buNone/>
            </a:pPr>
            <a:r>
              <a:rPr lang="zh-CN" altLang="en-US" sz="3600" b="1" dirty="0" smtClean="0">
                <a:latin typeface="微软雅黑" panose="020B0503020204020204" pitchFamily="34" charset="-122"/>
                <a:ea typeface="微软雅黑" panose="020B0503020204020204" pitchFamily="34" charset="-122"/>
              </a:rPr>
              <a:t>第六章 </a:t>
            </a:r>
            <a:r>
              <a:rPr lang="en-US" altLang="zh-CN" sz="3600" b="1" dirty="0">
                <a:latin typeface="微软雅黑" panose="020B0503020204020204" pitchFamily="34" charset="-122"/>
                <a:ea typeface="微软雅黑" panose="020B0503020204020204" pitchFamily="34" charset="-122"/>
              </a:rPr>
              <a:t>2000</a:t>
            </a:r>
            <a:r>
              <a:rPr lang="zh-CN" altLang="en-US" sz="3600" b="1" dirty="0">
                <a:latin typeface="微软雅黑" panose="020B0503020204020204" pitchFamily="34" charset="-122"/>
                <a:ea typeface="微软雅黑" panose="020B0503020204020204" pitchFamily="34" charset="-122"/>
              </a:rPr>
              <a:t>年以来的文学</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Rot="1"/>
          </p:cNvSpPr>
          <p:nvPr>
            <p:ph idx="1"/>
          </p:nvPr>
        </p:nvSpPr>
        <p:spPr>
          <a:xfrm>
            <a:off x="304800" y="1447800"/>
            <a:ext cx="8537575" cy="4651375"/>
          </a:xfrm>
        </p:spPr>
        <p:txBody>
          <a:bodyPr vert="horz" wrap="square" lIns="91440" tIns="45720" rIns="91440" bIns="45720" anchor="t" anchorCtr="0"/>
          <a:lstStyle/>
          <a:p>
            <a:pPr marL="0" algn="l" defTabSz="914400" eaLnBrk="1" hangingPunct="1">
              <a:lnSpc>
                <a:spcPct val="150000"/>
              </a:lnSpc>
              <a:buClrTx/>
              <a:buSzTx/>
              <a:buFontTx/>
              <a:buNone/>
              <a:defRPr/>
            </a:pPr>
            <a:r>
              <a:rPr sz="2000">
                <a:latin typeface="微软雅黑"/>
              </a:rPr>
              <a:t>他“生动地向我们展示了一个被人遗忘的农民世界，虽然无情但又充满了愉悦的</a:t>
            </a:r>
            <a:r>
              <a:rPr sz="2000">
                <a:solidFill>
                  <a:srgbClr val="CC0000"/>
                </a:solidFill>
                <a:latin typeface="微软雅黑"/>
              </a:rPr>
              <a:t>无私”；“中国20世纪的疾苦</a:t>
            </a:r>
            <a:r>
              <a:rPr sz="2000">
                <a:latin typeface="微软雅黑"/>
              </a:rPr>
              <a:t>从来都没有被如此直白地描写：英雄、情侣、虐待者、匪徒——特别是2000年以后，莫言创作的艺术追求更趋于自觉。从题材到语言，特别是坚强的、不屈不挠的母亲们。”</a:t>
            </a:r>
          </a:p>
        </p:txBody>
      </p:sp>
      <p:sp>
        <p:nvSpPr>
          <p:cNvPr id="3" name="Rectangle 2"/>
          <p:cNvSpPr>
            <a:spLocks noGrp="1" noRot="1" noChangeArrowheads="1"/>
          </p:cNvSpPr>
          <p:nvPr>
            <p:ph type="title"/>
          </p:nvPr>
        </p:nvSpPr>
        <p:spPr>
          <a:xfrm>
            <a:off x="301625" y="762000"/>
            <a:ext cx="8540750" cy="609600"/>
          </a:xfrm>
        </p:spPr>
        <p:txBody>
          <a:bodyPr/>
          <a:lstStyle/>
          <a:p>
            <a:pPr algn="l" eaLnBrk="1" hangingPunct="1"/>
            <a:r>
              <a:rPr lang="zh-CN" altLang="en-US" sz="2800" b="1" dirty="0" smtClean="0">
                <a:solidFill>
                  <a:schemeClr val="tx1"/>
                </a:solidFill>
                <a:latin typeface="微软雅黑" panose="020B0503020204020204" pitchFamily="34" charset="-122"/>
                <a:ea typeface="微软雅黑" panose="020B0503020204020204" pitchFamily="34" charset="-122"/>
              </a:rPr>
              <a:t>诺贝尔文学奖颁奖词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vert="horz" wrap="square" lIns="91440" tIns="45720" rIns="91440" bIns="45720" numCol="1" anchor="t" anchorCtr="0" compatLnSpc="1"/>
          <a:lstStyle/>
          <a:p>
            <a:pPr marL="0" marR="0" lvl="0" algn="l" defTabSz="914400" rtl="0" eaLnBrk="1" fontAlgn="base" latinLnBrk="0" hangingPunct="1">
              <a:lnSpc>
                <a:spcPct val="150000"/>
              </a:lnSpc>
              <a:spcBef>
                <a:spcPct val="20000"/>
              </a:spcBef>
              <a:buClrTx/>
              <a:buSzTx/>
              <a:buFontTx/>
              <a:buNone/>
              <a:defRPr/>
            </a:pPr>
            <a:r>
              <a:rPr kumimoji="0" lang="zh-CN" altLang="en-US" sz="2000" b="0" i="0" u="none" strike="noStrike" cap="none" spc="0" normalizeH="0" baseline="0" dirty="0">
                <a:solidFill>
                  <a:schemeClr val="tx1"/>
                </a:solidFill>
                <a:latin typeface="微软雅黑" charset="0"/>
                <a:ea typeface="微软雅黑" charset="0"/>
                <a:cs typeface="微软雅黑" charset="0"/>
              </a:rPr>
              <a:t>农村生活题材是莫言小说艺术的根本源泉，莫言的小说世界在某种意义上是作家通过各种叙述人回忆农村生活而建立的想象空间。</a:t>
            </a:r>
          </a:p>
          <a:p>
            <a:pPr marL="0" marR="0" lvl="0" algn="l" defTabSz="914400" rtl="0" eaLnBrk="1" fontAlgn="base" latinLnBrk="0" hangingPunct="1">
              <a:lnSpc>
                <a:spcPct val="150000"/>
              </a:lnSpc>
              <a:spcBef>
                <a:spcPct val="20000"/>
              </a:spcBef>
              <a:buClrTx/>
              <a:buSzTx/>
              <a:buFontTx/>
              <a:buNone/>
              <a:defRPr/>
            </a:pPr>
            <a:r>
              <a:rPr kumimoji="0" lang="zh-CN" altLang="en-US" sz="2000" b="0" i="0" u="none" strike="noStrike" cap="none" spc="0" normalizeH="0" baseline="0" dirty="0">
                <a:solidFill>
                  <a:schemeClr val="tx1"/>
                </a:solidFill>
                <a:latin typeface="微软雅黑" charset="0"/>
                <a:ea typeface="微软雅黑" charset="0"/>
                <a:cs typeface="微软雅黑" charset="0"/>
              </a:rPr>
              <a:t>魔幻现实主义给他带来的不应该仅仅是魔幻的形式，更应该激活他对故乡民间文学资源和文学传统的调用，发现真正属于自己的文学世界和语言风格。</a:t>
            </a:r>
          </a:p>
          <a:p>
            <a:pPr marL="0" marR="0" lvl="0" algn="l" defTabSz="914400" rtl="0" eaLnBrk="1" fontAlgn="base" latinLnBrk="0" hangingPunct="1">
              <a:lnSpc>
                <a:spcPct val="150000"/>
              </a:lnSpc>
              <a:spcBef>
                <a:spcPct val="20000"/>
              </a:spcBef>
              <a:buClrTx/>
              <a:buSzTx/>
              <a:buFontTx/>
              <a:buNone/>
              <a:defRPr/>
            </a:pPr>
            <a:r>
              <a:rPr kumimoji="0" lang="zh-CN" altLang="en-US" sz="2000" b="0" i="0" u="none" strike="noStrike" cap="none" spc="0" normalizeH="0" baseline="0" dirty="0">
                <a:solidFill>
                  <a:schemeClr val="tx1"/>
                </a:solidFill>
                <a:latin typeface="微软雅黑" charset="0"/>
                <a:ea typeface="微软雅黑" charset="0"/>
                <a:cs typeface="微软雅黑" charset="0"/>
              </a:rPr>
              <a:t>莫言一直坚持自觉、不断的艺术探索，实现了民族特色与现代艺术的高度融合。</a:t>
            </a:r>
          </a:p>
        </p:txBody>
      </p:sp>
      <p:sp>
        <p:nvSpPr>
          <p:cNvPr id="4" name="标题 3"/>
          <p:cNvSpPr>
            <a:spLocks noGrp="1"/>
          </p:cNvSpPr>
          <p:nvPr>
            <p:ph type="title"/>
          </p:nvPr>
        </p:nvSpPr>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188913" y="609600"/>
            <a:ext cx="8766175" cy="5943600"/>
          </a:xfrm>
        </p:spPr>
        <p:txBody>
          <a:bodyPr vert="horz" wrap="square" lIns="91440" tIns="45720" rIns="91440" bIns="45720" anchor="t" anchorCtr="0"/>
          <a:lstStyle/>
          <a:p>
            <a:r>
              <a:rPr lang="zh-CN" altLang="en-US" sz="2800" dirty="0"/>
              <a:t>中篇</a:t>
            </a:r>
            <a:r>
              <a:rPr lang="en-US" altLang="zh-CN" sz="2800" dirty="0"/>
              <a:t>《</a:t>
            </a:r>
            <a:r>
              <a:rPr lang="zh-CN" altLang="en-US" sz="2800" dirty="0"/>
              <a:t>怀抱鲜花的女人</a:t>
            </a:r>
            <a:r>
              <a:rPr lang="en-US" altLang="zh-CN" sz="2800" dirty="0"/>
              <a:t>》</a:t>
            </a:r>
            <a:r>
              <a:rPr lang="zh-CN" altLang="en-US" sz="2800" dirty="0"/>
              <a:t>采取了通俗小说中艳情的路数，不乏荒诞、传奇的色彩，但它揭示的是人在欲望驱使下的追求和被这种欲望的占据与控制，人的理性和社会规范与人的自然、淳朴的本能和欲望之间的尖锐冲突。</a:t>
            </a:r>
            <a:endParaRPr lang="en-US" altLang="zh-CN" sz="2800" dirty="0"/>
          </a:p>
          <a:p>
            <a:endParaRPr lang="en-US" altLang="zh-CN" sz="2800" dirty="0"/>
          </a:p>
          <a:p>
            <a:r>
              <a:rPr lang="zh-CN" altLang="en-US" sz="2800" dirty="0"/>
              <a:t>莫言的长篇</a:t>
            </a:r>
            <a:r>
              <a:rPr lang="en-US" altLang="zh-CN" sz="2800" dirty="0"/>
              <a:t>《</a:t>
            </a:r>
            <a:r>
              <a:rPr lang="zh-CN" altLang="en-US" sz="2800" dirty="0"/>
              <a:t>丰乳肥臀</a:t>
            </a:r>
            <a:r>
              <a:rPr lang="en-US" altLang="zh-CN" sz="2800" dirty="0"/>
              <a:t>》</a:t>
            </a:r>
            <a:r>
              <a:rPr lang="zh-CN" altLang="en-US" sz="2800" dirty="0"/>
              <a:t>即是以不无夸张的笔墨塑造了一个母亲的形象，而其传达的意味却超越于任何具体的母亲的形象。这个母亲的形象超越了具体的存在，而抽象为生命力与母性的礼赞和对自然的敬意，强调了生命的创造之于人类和宇宙的价值和意义。</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1"/>
          </p:nvPr>
        </p:nvSpPr>
        <p:spPr>
          <a:xfrm>
            <a:off x="301625" y="838200"/>
            <a:ext cx="8540750" cy="4498975"/>
          </a:xfrm>
        </p:spPr>
        <p:txBody>
          <a:bodyPr vert="horz" wrap="square" lIns="91440" tIns="45720" rIns="91440" bIns="45720" anchor="t" anchorCtr="0"/>
          <a:lstStyle/>
          <a:p>
            <a:pPr marL="0" algn="l" defTabSz="914400" eaLnBrk="1" hangingPunct="1">
              <a:lnSpc>
                <a:spcPct val="150000"/>
              </a:lnSpc>
              <a:buClrTx/>
              <a:buSzTx/>
              <a:buFontTx/>
              <a:buNone/>
              <a:defRPr/>
            </a:pPr>
            <a:r>
              <a:rPr lang="zh-CN" altLang="en-US" sz="2000" dirty="0">
                <a:latin typeface="微软雅黑" charset="0"/>
                <a:ea typeface="微软雅黑" charset="0"/>
                <a:cs typeface="微软雅黑" charset="0"/>
              </a:rPr>
              <a:t>《生死疲劳》更多地着墨于农村生活时，其对人性深处的温暖、对土地的热爱、对生命的执着的表现，成为小说叙事的内在动力，人的苦难经验化为倾诉与歌哭，抒写生命的庄严、宁静、祥和与尊严。</a:t>
            </a:r>
          </a:p>
          <a:p>
            <a:pPr marL="0" algn="l" defTabSz="914400" eaLnBrk="1" hangingPunct="1">
              <a:lnSpc>
                <a:spcPct val="150000"/>
              </a:lnSpc>
              <a:buClrTx/>
              <a:buSzTx/>
              <a:buFontTx/>
              <a:buNone/>
              <a:defRPr/>
            </a:pPr>
            <a:endParaRPr lang="zh-CN" altLang="en-US" sz="2000" dirty="0">
              <a:latin typeface="微软雅黑" charset="0"/>
              <a:ea typeface="微软雅黑" charset="0"/>
              <a:cs typeface="微软雅黑" charset="0"/>
            </a:endParaRPr>
          </a:p>
          <a:p>
            <a:pPr marL="0" algn="l" defTabSz="914400" eaLnBrk="1" hangingPunct="1">
              <a:lnSpc>
                <a:spcPct val="150000"/>
              </a:lnSpc>
              <a:buClrTx/>
              <a:buSzTx/>
              <a:buFontTx/>
              <a:buNone/>
              <a:defRPr/>
            </a:pPr>
            <a:r>
              <a:rPr lang="zh-CN" altLang="en-US" sz="2000" dirty="0">
                <a:latin typeface="微软雅黑" charset="0"/>
                <a:ea typeface="微软雅黑" charset="0"/>
                <a:cs typeface="微软雅黑" charset="0"/>
              </a:rPr>
              <a:t>《檀香刑》中，残酷的凌迟与檀香刑的描绘令一般人的心理难以承受，作家不啻是让他的人物在尖利的锋刃上展示各自的人生，令每一个人物成为一种灵魂的符号；猫腔则作为抑制不住的歌唱、一种欢乐的生活形态、一种超然于具体的悲欢之上的想象，让人性的展示有了一个舒展的空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p:cNvSpPr>
            <a:spLocks noGrp="1" noChangeArrowheads="1"/>
          </p:cNvSpPr>
          <p:nvPr>
            <p:ph idx="1"/>
          </p:nvPr>
        </p:nvSpPr>
        <p:spPr>
          <a:xfrm>
            <a:off x="150813" y="592138"/>
            <a:ext cx="8842375" cy="5673725"/>
          </a:xfrm>
        </p:spPr>
        <p:txBody>
          <a:bodyPr vert="horz" wrap="square" lIns="91440" tIns="45720" rIns="91440" bIns="45720" numCol="1" anchor="t" anchorCtr="0" compatLnSpc="1"/>
          <a:lstStyle/>
          <a:p>
            <a:pPr marL="0" marR="0" lvl="0" algn="l" defTabSz="914400" rtl="0" eaLnBrk="1" fontAlgn="base" latinLnBrk="0" hangingPunct="1">
              <a:lnSpc>
                <a:spcPct val="150000"/>
              </a:lnSpc>
              <a:spcBef>
                <a:spcPct val="20000"/>
              </a:spcBef>
              <a:buClrTx/>
              <a:buSzTx/>
              <a:buFontTx/>
              <a:buNone/>
              <a:defRPr/>
            </a:pPr>
            <a:r>
              <a:rPr kumimoji="0" lang="zh-CN" altLang="en-US" sz="2000" b="0" i="0" u="none" strike="noStrike" kern="1200" cap="none" spc="0" normalizeH="0" baseline="0" dirty="0">
                <a:solidFill>
                  <a:schemeClr val="tx1"/>
                </a:solidFill>
                <a:latin typeface="微软雅黑" charset="0"/>
                <a:ea typeface="微软雅黑" charset="0"/>
                <a:cs typeface="微软雅黑" charset="0"/>
              </a:rPr>
              <a:t>《蛙》围绕着生命过程中的种种矛盾，揭示了人心与人性的复杂微妙、身不由己的状态。</a:t>
            </a:r>
          </a:p>
          <a:p>
            <a:pPr marL="0" marR="0" lvl="0" indent="0" algn="l" defTabSz="914400" rtl="0" eaLnBrk="0" fontAlgn="base" latinLnBrk="0" hangingPunct="0">
              <a:lnSpc>
                <a:spcPct val="100000"/>
              </a:lnSpc>
              <a:spcBef>
                <a:spcPct val="20000"/>
              </a:spcBef>
              <a:spcAft>
                <a:spcPct val="0"/>
              </a:spcAft>
              <a:buClr>
                <a:schemeClr val="folHlink"/>
              </a:buClr>
              <a:buSzPct val="85000"/>
              <a:buFont typeface="Wingdings 2" panose="05020102010507070707" pitchFamily="18" charset="2"/>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 </a:t>
            </a:r>
          </a:p>
        </p:txBody>
      </p:sp>
      <p:pic>
        <p:nvPicPr>
          <p:cNvPr id="28675" name="图片 4"/>
          <p:cNvPicPr>
            <a:picLocks noChangeAspect="1"/>
          </p:cNvPicPr>
          <p:nvPr/>
        </p:nvPicPr>
        <p:blipFill>
          <a:blip r:embed="rId3"/>
          <a:stretch>
            <a:fillRect/>
          </a:stretch>
        </p:blipFill>
        <p:spPr>
          <a:xfrm>
            <a:off x="4865688" y="2063750"/>
            <a:ext cx="1851025" cy="2770188"/>
          </a:xfrm>
          <a:prstGeom prst="rect">
            <a:avLst/>
          </a:prstGeom>
          <a:noFill/>
          <a:ln w="9525">
            <a:noFill/>
          </a:ln>
        </p:spPr>
      </p:pic>
      <p:pic>
        <p:nvPicPr>
          <p:cNvPr id="28676" name="图片 10"/>
          <p:cNvPicPr>
            <a:picLocks noChangeAspect="1"/>
          </p:cNvPicPr>
          <p:nvPr/>
        </p:nvPicPr>
        <p:blipFill>
          <a:blip r:embed="rId4"/>
          <a:stretch>
            <a:fillRect/>
          </a:stretch>
        </p:blipFill>
        <p:spPr>
          <a:xfrm>
            <a:off x="381000" y="2070100"/>
            <a:ext cx="2286000" cy="2774950"/>
          </a:xfrm>
          <a:prstGeom prst="rect">
            <a:avLst/>
          </a:prstGeom>
          <a:noFill/>
          <a:ln w="9525">
            <a:noFill/>
          </a:ln>
        </p:spPr>
      </p:pic>
      <p:pic>
        <p:nvPicPr>
          <p:cNvPr id="28677" name="图片 12"/>
          <p:cNvPicPr>
            <a:picLocks noChangeAspect="1"/>
          </p:cNvPicPr>
          <p:nvPr/>
        </p:nvPicPr>
        <p:blipFill>
          <a:blip r:embed="rId5"/>
          <a:stretch>
            <a:fillRect/>
          </a:stretch>
        </p:blipFill>
        <p:spPr>
          <a:xfrm>
            <a:off x="6899275" y="2063750"/>
            <a:ext cx="1787525" cy="2781300"/>
          </a:xfrm>
          <a:prstGeom prst="rect">
            <a:avLst/>
          </a:prstGeom>
          <a:noFill/>
          <a:ln w="9525">
            <a:noFill/>
          </a:ln>
        </p:spPr>
      </p:pic>
      <p:sp>
        <p:nvSpPr>
          <p:cNvPr id="14" name="文本框 13"/>
          <p:cNvSpPr txBox="1"/>
          <p:nvPr/>
        </p:nvSpPr>
        <p:spPr>
          <a:xfrm>
            <a:off x="533400" y="5012055"/>
            <a:ext cx="8756015" cy="521970"/>
          </a:xfrm>
          <a:prstGeom prst="rect">
            <a:avLst/>
          </a:prstGeom>
          <a:noFill/>
        </p:spPr>
        <p:txBody>
          <a:bodyPr wrap="square">
            <a:spAutoFit/>
          </a:bodyPr>
          <a:lstStyle/>
          <a:p>
            <a:pPr marR="0" defTabSz="914400">
              <a:buClrTx/>
              <a:buSzTx/>
              <a:buFontTx/>
              <a:buNone/>
              <a:defRPr/>
            </a:pPr>
            <a:r>
              <a:rPr kumimoji="0" lang="zh-CN" altLang="en-US" kern="1200" cap="none" spc="0" normalizeH="0" baseline="0" noProof="0" dirty="0">
                <a:latin typeface="Arial" panose="020B0604020202090204" pitchFamily="34" charset="0"/>
                <a:ea typeface="宋体" pitchFamily="2" charset="-122"/>
                <a:cs typeface="+mn-cs"/>
              </a:rPr>
              <a:t>    </a:t>
            </a:r>
            <a:r>
              <a:rPr kumimoji="0" lang="zh-CN" altLang="en-US" sz="2800" kern="1200" cap="none" spc="0" normalizeH="0" baseline="0" noProof="0" dirty="0">
                <a:latin typeface="+mn-lt"/>
                <a:ea typeface="+mn-ea"/>
                <a:cs typeface="+mn-cs"/>
              </a:rPr>
              <a:t>莫言          </a:t>
            </a:r>
            <a:r>
              <a:rPr kumimoji="0" lang="en-US" altLang="zh-CN" sz="2800" kern="1200" cap="none" spc="0" normalizeH="0" baseline="0" noProof="0" dirty="0">
                <a:latin typeface="+mn-lt"/>
                <a:ea typeface="+mn-ea"/>
                <a:cs typeface="+mn-cs"/>
              </a:rPr>
              <a:t>《</a:t>
            </a:r>
            <a:r>
              <a:rPr kumimoji="0" lang="zh-CN" altLang="en-US" sz="2800" kern="1200" cap="none" spc="0" normalizeH="0" baseline="0" noProof="0" dirty="0">
                <a:latin typeface="+mn-lt"/>
                <a:ea typeface="+mn-ea"/>
                <a:cs typeface="+mn-cs"/>
              </a:rPr>
              <a:t>丰乳肥臀</a:t>
            </a:r>
            <a:r>
              <a:rPr kumimoji="0" lang="en-US" altLang="zh-CN" sz="2800" kern="1200" cap="none" spc="0" normalizeH="0" baseline="0" noProof="0" dirty="0">
                <a:latin typeface="+mn-lt"/>
                <a:ea typeface="+mn-ea"/>
                <a:cs typeface="+mn-cs"/>
              </a:rPr>
              <a:t>》      《</a:t>
            </a:r>
            <a:r>
              <a:rPr kumimoji="0" lang="zh-CN" altLang="en-US" sz="2800" kern="1200" cap="none" spc="0" normalizeH="0" baseline="0" noProof="0" dirty="0">
                <a:latin typeface="+mn-lt"/>
                <a:ea typeface="+mn-ea"/>
                <a:cs typeface="+mn-cs"/>
              </a:rPr>
              <a:t>蛙</a:t>
            </a:r>
            <a:r>
              <a:rPr kumimoji="0" lang="en-US" altLang="zh-CN" sz="2800" kern="1200" cap="none" spc="0" normalizeH="0" baseline="0" noProof="0" dirty="0">
                <a:latin typeface="+mn-lt"/>
                <a:ea typeface="+mn-ea"/>
                <a:cs typeface="+mn-cs"/>
              </a:rPr>
              <a:t>》    《</a:t>
            </a:r>
            <a:r>
              <a:rPr kumimoji="0" lang="zh-CN" altLang="en-US" sz="2800" kern="1200" cap="none" spc="0" normalizeH="0" baseline="0" noProof="0" dirty="0">
                <a:latin typeface="+mn-lt"/>
                <a:ea typeface="+mn-ea"/>
                <a:cs typeface="+mn-cs"/>
              </a:rPr>
              <a:t>生死疲劳</a:t>
            </a:r>
            <a:r>
              <a:rPr kumimoji="0" lang="en-US" altLang="zh-CN" sz="2800" kern="1200" cap="none" spc="0" normalizeH="0" baseline="0" noProof="0" dirty="0">
                <a:latin typeface="+mn-lt"/>
                <a:ea typeface="+mn-ea"/>
                <a:cs typeface="+mn-cs"/>
              </a:rPr>
              <a:t>》</a:t>
            </a:r>
            <a:r>
              <a:rPr kumimoji="0" lang="zh-CN" altLang="en-US" sz="2800" kern="1200" cap="none" spc="0" normalizeH="0" baseline="0" noProof="0" dirty="0">
                <a:latin typeface="+mn-lt"/>
                <a:ea typeface="+mn-ea"/>
                <a:cs typeface="+mn-cs"/>
              </a:rPr>
              <a:t> </a:t>
            </a:r>
            <a:endParaRPr kumimoji="0" lang="zh-CN" altLang="en-US" sz="3200" kern="1200" cap="none" spc="0" normalizeH="0" baseline="0" noProof="0" dirty="0">
              <a:latin typeface="+mn-lt"/>
              <a:ea typeface="+mn-ea"/>
              <a:cs typeface="+mn-cs"/>
            </a:endParaRPr>
          </a:p>
        </p:txBody>
      </p:sp>
      <p:pic>
        <p:nvPicPr>
          <p:cNvPr id="28679" name="图片 15"/>
          <p:cNvPicPr>
            <a:picLocks noChangeAspect="1"/>
          </p:cNvPicPr>
          <p:nvPr/>
        </p:nvPicPr>
        <p:blipFill>
          <a:blip r:embed="rId6"/>
          <a:srcRect l="7115" t="1201" r="8754"/>
          <a:stretch>
            <a:fillRect/>
          </a:stretch>
        </p:blipFill>
        <p:spPr>
          <a:xfrm>
            <a:off x="2851150" y="2074863"/>
            <a:ext cx="1752600" cy="2744787"/>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5560</Words>
  <Application>Microsoft Office PowerPoint</Application>
  <PresentationFormat>全屏显示(4:3)</PresentationFormat>
  <Paragraphs>317</Paragraphs>
  <Slides>72</Slides>
  <Notes>26</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72</vt:i4>
      </vt:variant>
    </vt:vector>
  </HeadingPairs>
  <TitlesOfParts>
    <vt:vector size="89" baseType="lpstr">
      <vt:lpstr>等线</vt:lpstr>
      <vt:lpstr>黑体</vt:lpstr>
      <vt:lpstr>楷体</vt:lpstr>
      <vt:lpstr>隶书</vt:lpstr>
      <vt:lpstr>隶书体</vt:lpstr>
      <vt:lpstr>苹方-简</vt:lpstr>
      <vt:lpstr>思源黑体</vt:lpstr>
      <vt:lpstr>思源黑体 CN Bold</vt:lpstr>
      <vt:lpstr>思源宋体</vt:lpstr>
      <vt:lpstr>思源宋体 CN Heavy</vt:lpstr>
      <vt:lpstr>宋体</vt:lpstr>
      <vt:lpstr>Microsoft YaHei</vt:lpstr>
      <vt:lpstr>Arial</vt:lpstr>
      <vt:lpstr>Wingdings</vt:lpstr>
      <vt:lpstr>Wingdings 2</vt:lpstr>
      <vt:lpstr>砖雕艺术</vt:lpstr>
      <vt:lpstr>WPS</vt:lpstr>
      <vt:lpstr>第六章   2000年以来的文学 </vt:lpstr>
      <vt:lpstr>第一节 2000年以来的文学走向</vt:lpstr>
      <vt:lpstr>PowerPoint 演示文稿</vt:lpstr>
      <vt:lpstr>PowerPoint 演示文稿</vt:lpstr>
      <vt:lpstr>几个基本特征</vt:lpstr>
      <vt:lpstr>第二节 精英写作</vt:lpstr>
      <vt:lpstr>概论</vt:lpstr>
      <vt:lpstr>传统型写作</vt:lpstr>
      <vt:lpstr>代表作家和作品</vt:lpstr>
      <vt:lpstr>第三节 莫言</vt:lpstr>
      <vt:lpstr>诺贝尔文学奖颁奖词</vt:lpstr>
      <vt:lpstr>PowerPoint 演示文稿</vt:lpstr>
      <vt:lpstr>PowerPoint 演示文稿</vt:lpstr>
      <vt:lpstr>PowerPoint 演示文稿</vt:lpstr>
      <vt:lpstr>PowerPoint 演示文稿</vt:lpstr>
      <vt:lpstr>第四节   通俗小说与 底层写作</vt:lpstr>
      <vt:lpstr>通俗小说发展背景</vt:lpstr>
      <vt:lpstr>历史小说</vt:lpstr>
      <vt:lpstr>官场小说</vt:lpstr>
      <vt:lpstr>军旅小说</vt:lpstr>
      <vt:lpstr>生态小说</vt:lpstr>
      <vt:lpstr>底层写作</vt:lpstr>
      <vt:lpstr>80后小说</vt:lpstr>
      <vt:lpstr>科幻小说</vt:lpstr>
      <vt:lpstr>科幻小说</vt:lpstr>
      <vt:lpstr>网络文学定义</vt:lpstr>
      <vt:lpstr>网络文学发展</vt:lpstr>
      <vt:lpstr>网络同人小说</vt:lpstr>
      <vt:lpstr>网络玄幻小说</vt:lpstr>
      <vt:lpstr>网络穿越小说</vt:lpstr>
      <vt:lpstr>网络盗墓小说</vt:lpstr>
      <vt:lpstr>网络都市言情小说</vt:lpstr>
      <vt:lpstr>第五节 2000年以来的戏剧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第六节 2000年以来的诗歌</vt:lpstr>
      <vt:lpstr>背景</vt:lpstr>
      <vt:lpstr>网络诗歌</vt:lpstr>
      <vt:lpstr>PowerPoint 演示文稿</vt:lpstr>
      <vt:lpstr>事件诗</vt:lpstr>
      <vt:lpstr>“底层写作”里的“打工诗歌”</vt:lpstr>
      <vt:lpstr>各种诗歌活动</vt:lpstr>
      <vt:lpstr>诗歌中的“城乡问题”</vt:lpstr>
      <vt:lpstr>不同“代际”诗人的新格局</vt:lpstr>
      <vt:lpstr>“女性诗歌”的新景象</vt:lpstr>
      <vt:lpstr>总结</vt:lpstr>
      <vt:lpstr>第七节 2000年以来的散文</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LiYC</dc:creator>
  <cp:lastModifiedBy>WIN10</cp:lastModifiedBy>
  <cp:revision>96</cp:revision>
  <dcterms:created xsi:type="dcterms:W3CDTF">2025-09-24T05:41:51Z</dcterms:created>
  <dcterms:modified xsi:type="dcterms:W3CDTF">2026-06-14T13:14:32Z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DFCABA1B22DB720648B8D26841F9FB4F_43</vt:lpwstr>
  </property>
  <property fmtid="{D5CDD505-2E9C-101B-9397-08002B2CF9AE}" pid="4" name="KSOProductBuildVer">
    <vt:lpwstr>2052-12.1.21861.21861</vt:lpwstr>
  </property>
</Properties>
</file>